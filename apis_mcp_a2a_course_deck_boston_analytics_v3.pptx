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Anchor the session on an architecture choice, not a technology contest. The session answer is: choose by the interaction boundary. APIs are best for deterministic service calls. MCP is best when an AI app needs a standard way to discover and use tools/resources/prompts. A2A is best when independent agents need to collaborate on stateful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expectations. Keep the first half simple, then progressively deepen into protocol details, decision criteria, and demo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executive summary and incorporates Valliappa Lakshmanan's recommended posture: prioritize proven REST/direct APIs for most automation tasks, view MCP as useful for context/tool provisioning, and reserve A2A for endpoints that are truly autonomous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teach in plain language. APIs are the foundation. MCP turns APIs/tools/data into a model-usable capability layer. A2A lets agents collaborate when a single agent/tool call is insufficient.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principle is useful throughout the demo. Ask participants: what is the least autonomous interface that achieves the user outcome with acceptable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repeated scenario lets participants compare behavior instead of comparing abstract technologies. Emphasize that the same data and business goal can be served by different integration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APIs when the caller knows what it wants and needs a stable, testable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APIs remain the baseline. OpenAPI is a description standard, not a runtime protocol. REST is an architectural style. GraphQL and gRPC solve different API design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clear that APIs are not one thing. REST, GraphQL, and gRPC have different semantics and trade-offs. This matters because MCP often wraps APIs or local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prepares the transition: APIs are foundational. MCP and A2A should not compensate for bad API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run a prebuilt local app against mocked endpoints. Show request logs and the final result. This establishes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MCP when an AI host needs discoverable tools, resources, or prompts without bespoke integrations per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official MCP docs frame it as a standard for AI applications connecting to external systems. Emphasize the difference between an API contract and a model-facing capability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technical architecture. The MCP host manages clients, one connection per server, and the servers expose context. The transport is not the core value—the capability discovery and standardized primitives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MCP, tool discovery is a teaching hook. Show the list of tools before invoking them. This makes runtime capability discovery tangible.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examples from IDEs, internal assistants, data analysis agents, or local workflow automation. Do not position MCP as a universal replacement for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key trust slide. OWASP frames prompt injection, insecure output handling, supply chain, and plugin/tool design as major LLM application risks. MCP adds model-facing tool and context surfaces, so defenses must be architectural, not just prompt-based.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MCP demo, open the local directory and show server configs. Show the discovery log, then a tool call log, then an output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A2A when agents built by different teams, vendors, or runtimes need to delegate, negotiate, and track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opacity. A2A is valuable when the remote capability is itself an agent, not just a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participant that A2A adds concepts for agent collaboration that APIs and MCP do not prioritize: agent cards, tasks, artifacts, and long-running interaction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A2A is designed for long-running work and collaboration. The live demo should show at least one status update or follow-up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examples: a travel agent delegating to flight/hotel agents; a customer service agent delegating to billing; a procurement agent dealing with suppliers.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A2A makes cross-agent collaboration possible, but the governance surface is larger: identity, delegation, artifact handling, task provenance, and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A2A demo, show a task ID, status updates, one specialist agent response, and a final artifact. This makes the protocol value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crisp comparison prevents confusing “tool use,” “API calls,” and “agent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core comparison. Let participants ask questions here. It should be a memorable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the comparison into participant decision-making. Let them classify example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leaders often ask about performance and ownership. This slide clarifies that agentic protocols tend to add runtime variability.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Descriptions are not documentation only; in AI systems, descriptions influence runtime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prepares operators. In agentic systems, observability must follow protocol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implications differ. A2A and MCP increase the need for explicit consent, logging, and policy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a practical differentiator. A protocol choice is also an operations and QA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synthesis. Modern agentic systems are layered. The trick is to place the right contract at the right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anti-patterns to keep the discussion grounded. Many failures come from using agent language for deterministic service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 makes the protocol choice concrete: catalogs, orders, payments, returns, personal data, consent, and accountability all collide.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 angle: UCP frames agentic commerce around interoperability across consumer surfaces, businesses, and payment providers. It explicitly supports APIs, A2A, and MCP. AP2 adds the payment authorization and accountability layer for agent-led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UCP was designed to work with existing retail infrastructure, supports REST API and MCP bindings, and is compatible with AP2, A2A, and MCP. AP2 exists because payment systems assume a human clicks buy, while autonomous agents raise questions of authorization, authenticity, and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Legal angle: the ICO report highlights agentic AI data protection risks and the need to think about accountability and redress. The A2A samples caution that remote agents and artifacts are untrusted input. Reuters coverage of Amazon and Perplexity shows the practical risk around agentic shopping, automated access, transparency, account data, and platform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update: the local directory can use mocked retail systems: catalog, inventory, orders, payments, returns policy, customer support notes, and legal/terms snippets. No live payments or real customer data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 local scenario to show why APIs, MCP, A2A, and hybrid designs each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use the demo to prove one protocol is best. Use it to prove that each protocol fits a different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folder structure lets participants inspect the demo locally. Keep the implementation out of the slides, but make the architecture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local demo, do not show implementation code. Show inputs, logs, and output. Ask audience: what changed if we add a new evidence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details: Start by showing tools/list. Then demonstrate a tool call. Avoid mutating tools unless the session explicitly wants to show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details: Show one specialist agent card and one task status update. If the live environment is limited, play a prerecorded log replay from the evidence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rubric as a facilitated discussion. Participants can challenge the scoring based on their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can be a 10–15 minute group exercise. Have teams classify scenarios and justify choices using the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repeatable architecture choice pattern the team can use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close-ready decision framework. Encourage participants to use it on the next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core message. The right protocol depends on boundary semantics and governance, not trendiness.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list: https://www.linkedin.com/pulse/choosing-between-apis-mcp-agent-to-agent-valliappa-lakshmanan-d55ye ; https://modelcontextprotocol.io/specification/2025-11-25 ; https://modelcontextprotocol.io/specification/2025-06-18/server/resources ; https://modelcontextprotocol.io/specification/2025-06-18/server/prompts ; https://a2a-protocol.org/latest/ ; https://developers.googleblog.com/en/a2a-a-new-era-of-agent-interoperability/ ; https://github.com/a2aproject/A2A/blob/main/docs/specification.md ; https://learn.microsoft.com/en-us/azure/architecture/best-practices/api-design ; https://graphql.org/learn/queries/ ; https://grpc.io/docs/what-is-grpc/introduction/ ; https://owasp.org/www-project-top-10-for-large-language-model-applications/ ; https://owasp.org/www-project-mcp-top-10/ ; https://developers.google.com/merchant/ucp ; https://developers.googleblog.com/under-the-hood-universal-commerce-protocol-ucp/ ; https://ap2-protocol.org/ ; https://www.skadden.com/-/media/files/publications/2026/03/uk-regulator-to-agentic-ai-developers/tech_futures_report_on_agentic_ai.pdf ; https://www.reuters.com/business/retail-consumer/perplexity-receives-legal-threat-amazon-over-agentic-ai-shopping-tool-2025-11-04/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4048" y="411480"/>
            <a:ext cx="164592" cy="6035040"/>
          </a:xfrm>
          <a:prstGeom prst="rect">
            <a:avLst/>
          </a:prstGeom>
          <a:solidFill>
            <a:srgbClr val="25A9C7"/>
          </a:solidFill>
          <a:ln w="12700">
            <a:solidFill>
              <a:srgbClr val="25A9C7"/>
            </a:solidFill>
            <a:prstDash val="solid"/>
          </a:ln>
        </p:spPr>
      </p:sp>
      <p:sp>
        <p:nvSpPr>
          <p:cNvPr id="3" name="Text 1"/>
          <p:cNvSpPr/>
          <p:nvPr/>
        </p:nvSpPr>
        <p:spPr>
          <a:xfrm>
            <a:off x="749808" y="640080"/>
            <a:ext cx="2743200" cy="274320"/>
          </a:xfrm>
          <a:prstGeom prst="rect">
            <a:avLst/>
          </a:prstGeom>
          <a:noFill/>
          <a:ln/>
        </p:spPr>
        <p:txBody>
          <a:bodyPr wrap="square" rtlCol="0" anchor="ctr"/>
          <a:lstStyle/>
          <a:p>
            <a:pPr indent="0" marL="0">
              <a:buNone/>
            </a:pPr>
            <a:r>
              <a:rPr lang="en-US" sz="1000" b="1" dirty="0">
                <a:solidFill>
                  <a:srgbClr val="25A9C7"/>
                </a:solidFill>
              </a:rPr>
              <a:t>COURSE SESSION</a:t>
            </a:r>
            <a:endParaRPr lang="en-US" sz="1000" dirty="0"/>
          </a:p>
        </p:txBody>
      </p:sp>
      <p:sp>
        <p:nvSpPr>
          <p:cNvPr id="4" name="Text 2"/>
          <p:cNvSpPr/>
          <p:nvPr/>
        </p:nvSpPr>
        <p:spPr>
          <a:xfrm>
            <a:off x="749808" y="1325880"/>
            <a:ext cx="8961120" cy="1554480"/>
          </a:xfrm>
          <a:prstGeom prst="rect">
            <a:avLst/>
          </a:prstGeom>
          <a:noFill/>
          <a:ln/>
        </p:spPr>
        <p:txBody>
          <a:bodyPr wrap="square" lIns="0" tIns="0" rIns="0" bIns="0" rtlCol="0" anchor="ctr">
            <a:normAutofit/>
          </a:bodyPr>
          <a:lstStyle/>
          <a:p>
            <a:pPr indent="0" marL="0">
              <a:buNone/>
            </a:pPr>
            <a:r>
              <a:rPr lang="en-US" sz="3400" b="1" dirty="0">
                <a:solidFill>
                  <a:srgbClr val="123452"/>
                </a:solidFill>
                <a:latin typeface="Aptos Display" pitchFamily="34" charset="0"/>
                <a:ea typeface="Aptos Display" pitchFamily="34" charset="-122"/>
                <a:cs typeface="Aptos Display" pitchFamily="34" charset="-120"/>
              </a:rPr>
              <a:t>Choosing between APIs, MCP, and</a:t>
            </a:r>
            <a:endParaRPr lang="en-US" sz="3400" dirty="0"/>
          </a:p>
          <a:p>
            <a:pPr indent="0" marL="0">
              <a:buNone/>
            </a:pPr>
            <a:r>
              <a:rPr lang="en-US" sz="3400" b="1" dirty="0">
                <a:solidFill>
                  <a:srgbClr val="123452"/>
                </a:solidFill>
                <a:latin typeface="Aptos Display" pitchFamily="34" charset="0"/>
                <a:ea typeface="Aptos Display" pitchFamily="34" charset="-122"/>
                <a:cs typeface="Aptos Display" pitchFamily="34" charset="-120"/>
              </a:rPr>
              <a:t>Agent-to-Agent architectures</a:t>
            </a:r>
            <a:endParaRPr lang="en-US" sz="3400" dirty="0"/>
          </a:p>
        </p:txBody>
      </p:sp>
      <p:sp>
        <p:nvSpPr>
          <p:cNvPr id="5" name="Text 3"/>
          <p:cNvSpPr/>
          <p:nvPr/>
        </p:nvSpPr>
        <p:spPr>
          <a:xfrm>
            <a:off x="786384" y="3246120"/>
            <a:ext cx="9875520" cy="502920"/>
          </a:xfrm>
          <a:prstGeom prst="rect">
            <a:avLst/>
          </a:prstGeom>
          <a:noFill/>
          <a:ln/>
        </p:spPr>
        <p:txBody>
          <a:bodyPr wrap="square" lIns="0" tIns="0" rIns="0" bIns="0" rtlCol="0" anchor="ctr">
            <a:normAutofit/>
          </a:bodyPr>
          <a:lstStyle/>
          <a:p>
            <a:pPr indent="0" marL="0">
              <a:buNone/>
            </a:pPr>
            <a:r>
              <a:rPr lang="en-US" sz="1800" dirty="0">
                <a:solidFill>
                  <a:srgbClr val="394B5D"/>
                </a:solidFill>
              </a:rPr>
              <a:t>A practical architecture decision framework with live-demo storyline and deep protocol comparison</a:t>
            </a:r>
            <a:endParaRPr lang="en-US" sz="1800" dirty="0"/>
          </a:p>
        </p:txBody>
      </p:sp>
      <p:sp>
        <p:nvSpPr>
          <p:cNvPr id="6" name="Shape 4"/>
          <p:cNvSpPr/>
          <p:nvPr/>
        </p:nvSpPr>
        <p:spPr>
          <a:xfrm>
            <a:off x="786384" y="4709160"/>
            <a:ext cx="2926080" cy="658368"/>
          </a:xfrm>
          <a:prstGeom prst="roundRect">
            <a:avLst>
              <a:gd name="adj" fmla="val 11111"/>
            </a:avLst>
          </a:prstGeom>
          <a:solidFill>
            <a:srgbClr val="0A9B9B">
              <a:alpha val="90000"/>
            </a:srgbClr>
          </a:solidFill>
          <a:ln w="15240">
            <a:solidFill>
              <a:srgbClr val="0A9B9B"/>
            </a:solidFill>
            <a:prstDash val="solid"/>
          </a:ln>
        </p:spPr>
      </p:sp>
      <p:sp>
        <p:nvSpPr>
          <p:cNvPr id="7" name="Text 5"/>
          <p:cNvSpPr/>
          <p:nvPr/>
        </p:nvSpPr>
        <p:spPr>
          <a:xfrm>
            <a:off x="923544" y="4828032"/>
            <a:ext cx="640080" cy="182880"/>
          </a:xfrm>
          <a:prstGeom prst="rect">
            <a:avLst/>
          </a:prstGeom>
          <a:noFill/>
          <a:ln/>
        </p:spPr>
        <p:txBody>
          <a:bodyPr wrap="square" lIns="0" tIns="0" rIns="0" bIns="0" rtlCol="0" anchor="ctr"/>
          <a:lstStyle/>
          <a:p>
            <a:pPr indent="0" marL="0">
              <a:buNone/>
            </a:pPr>
            <a:r>
              <a:rPr lang="en-US" sz="1300" b="1" dirty="0">
                <a:solidFill>
                  <a:srgbClr val="123452"/>
                </a:solidFill>
              </a:rPr>
              <a:t>API</a:t>
            </a:r>
            <a:endParaRPr lang="en-US" sz="1300" dirty="0"/>
          </a:p>
        </p:txBody>
      </p:sp>
      <p:sp>
        <p:nvSpPr>
          <p:cNvPr id="8" name="Text 6"/>
          <p:cNvSpPr/>
          <p:nvPr/>
        </p:nvSpPr>
        <p:spPr>
          <a:xfrm>
            <a:off x="1609344" y="4800600"/>
            <a:ext cx="1920240" cy="228600"/>
          </a:xfrm>
          <a:prstGeom prst="rect">
            <a:avLst/>
          </a:prstGeom>
          <a:noFill/>
          <a:ln/>
        </p:spPr>
        <p:txBody>
          <a:bodyPr wrap="square" lIns="0" tIns="0" rIns="0" bIns="0" rtlCol="0" anchor="ctr">
            <a:normAutofit/>
          </a:bodyPr>
          <a:lstStyle/>
          <a:p>
            <a:pPr indent="0" marL="0">
              <a:buNone/>
            </a:pPr>
            <a:r>
              <a:rPr lang="en-US" sz="1000" dirty="0">
                <a:solidFill>
                  <a:srgbClr val="123452"/>
                </a:solidFill>
              </a:rPr>
              <a:t>Explicit service contract</a:t>
            </a:r>
            <a:endParaRPr lang="en-US" sz="1000" dirty="0"/>
          </a:p>
        </p:txBody>
      </p:sp>
      <p:sp>
        <p:nvSpPr>
          <p:cNvPr id="9" name="Shape 7"/>
          <p:cNvSpPr/>
          <p:nvPr/>
        </p:nvSpPr>
        <p:spPr>
          <a:xfrm>
            <a:off x="4261104" y="4709160"/>
            <a:ext cx="2926080" cy="658368"/>
          </a:xfrm>
          <a:prstGeom prst="roundRect">
            <a:avLst>
              <a:gd name="adj" fmla="val 11111"/>
            </a:avLst>
          </a:prstGeom>
          <a:solidFill>
            <a:srgbClr val="25A9C7">
              <a:alpha val="90000"/>
            </a:srgbClr>
          </a:solidFill>
          <a:ln w="15240">
            <a:solidFill>
              <a:srgbClr val="25A9C7"/>
            </a:solidFill>
            <a:prstDash val="solid"/>
          </a:ln>
        </p:spPr>
      </p:sp>
      <p:sp>
        <p:nvSpPr>
          <p:cNvPr id="10" name="Text 8"/>
          <p:cNvSpPr/>
          <p:nvPr/>
        </p:nvSpPr>
        <p:spPr>
          <a:xfrm>
            <a:off x="4398264" y="4828032"/>
            <a:ext cx="640080" cy="182880"/>
          </a:xfrm>
          <a:prstGeom prst="rect">
            <a:avLst/>
          </a:prstGeom>
          <a:noFill/>
          <a:ln/>
        </p:spPr>
        <p:txBody>
          <a:bodyPr wrap="square" lIns="0" tIns="0" rIns="0" bIns="0" rtlCol="0" anchor="ctr"/>
          <a:lstStyle/>
          <a:p>
            <a:pPr indent="0" marL="0">
              <a:buNone/>
            </a:pPr>
            <a:r>
              <a:rPr lang="en-US" sz="1300" b="1" dirty="0">
                <a:solidFill>
                  <a:srgbClr val="123452"/>
                </a:solidFill>
              </a:rPr>
              <a:t>MCP</a:t>
            </a:r>
            <a:endParaRPr lang="en-US" sz="1300" dirty="0"/>
          </a:p>
        </p:txBody>
      </p:sp>
      <p:sp>
        <p:nvSpPr>
          <p:cNvPr id="11" name="Text 9"/>
          <p:cNvSpPr/>
          <p:nvPr/>
        </p:nvSpPr>
        <p:spPr>
          <a:xfrm>
            <a:off x="5084064" y="4800600"/>
            <a:ext cx="1920240" cy="228600"/>
          </a:xfrm>
          <a:prstGeom prst="rect">
            <a:avLst/>
          </a:prstGeom>
          <a:noFill/>
          <a:ln/>
        </p:spPr>
        <p:txBody>
          <a:bodyPr wrap="square" lIns="0" tIns="0" rIns="0" bIns="0" rtlCol="0" anchor="ctr">
            <a:normAutofit/>
          </a:bodyPr>
          <a:lstStyle/>
          <a:p>
            <a:pPr indent="0" marL="0">
              <a:buNone/>
            </a:pPr>
            <a:r>
              <a:rPr lang="en-US" sz="1000" dirty="0">
                <a:solidFill>
                  <a:srgbClr val="123452"/>
                </a:solidFill>
              </a:rPr>
              <a:t>Agent-to-tool/context bridge</a:t>
            </a:r>
            <a:endParaRPr lang="en-US" sz="1000" dirty="0"/>
          </a:p>
        </p:txBody>
      </p:sp>
      <p:sp>
        <p:nvSpPr>
          <p:cNvPr id="12" name="Shape 10"/>
          <p:cNvSpPr/>
          <p:nvPr/>
        </p:nvSpPr>
        <p:spPr>
          <a:xfrm>
            <a:off x="7735824" y="4709160"/>
            <a:ext cx="2926080" cy="658368"/>
          </a:xfrm>
          <a:prstGeom prst="roundRect">
            <a:avLst>
              <a:gd name="adj" fmla="val 11111"/>
            </a:avLst>
          </a:prstGeom>
          <a:solidFill>
            <a:srgbClr val="446CA8">
              <a:alpha val="90000"/>
            </a:srgbClr>
          </a:solidFill>
          <a:ln w="15240">
            <a:solidFill>
              <a:srgbClr val="446CA8"/>
            </a:solidFill>
            <a:prstDash val="solid"/>
          </a:ln>
        </p:spPr>
      </p:sp>
      <p:sp>
        <p:nvSpPr>
          <p:cNvPr id="13" name="Text 11"/>
          <p:cNvSpPr/>
          <p:nvPr/>
        </p:nvSpPr>
        <p:spPr>
          <a:xfrm>
            <a:off x="7872984" y="4828032"/>
            <a:ext cx="640080" cy="182880"/>
          </a:xfrm>
          <a:prstGeom prst="rect">
            <a:avLst/>
          </a:prstGeom>
          <a:noFill/>
          <a:ln/>
        </p:spPr>
        <p:txBody>
          <a:bodyPr wrap="square" lIns="0" tIns="0" rIns="0" bIns="0" rtlCol="0" anchor="ctr"/>
          <a:lstStyle/>
          <a:p>
            <a:pPr indent="0" marL="0">
              <a:buNone/>
            </a:pPr>
            <a:r>
              <a:rPr lang="en-US" sz="1300" b="1" dirty="0">
                <a:solidFill>
                  <a:srgbClr val="123452"/>
                </a:solidFill>
              </a:rPr>
              <a:t>A2A</a:t>
            </a:r>
            <a:endParaRPr lang="en-US" sz="1300" dirty="0"/>
          </a:p>
        </p:txBody>
      </p:sp>
      <p:sp>
        <p:nvSpPr>
          <p:cNvPr id="14" name="Text 12"/>
          <p:cNvSpPr/>
          <p:nvPr/>
        </p:nvSpPr>
        <p:spPr>
          <a:xfrm>
            <a:off x="8558784" y="4800600"/>
            <a:ext cx="1920240" cy="228600"/>
          </a:xfrm>
          <a:prstGeom prst="rect">
            <a:avLst/>
          </a:prstGeom>
          <a:noFill/>
          <a:ln/>
        </p:spPr>
        <p:txBody>
          <a:bodyPr wrap="square" lIns="0" tIns="0" rIns="0" bIns="0" rtlCol="0" anchor="ctr">
            <a:normAutofit/>
          </a:bodyPr>
          <a:lstStyle/>
          <a:p>
            <a:pPr indent="0" marL="0">
              <a:buNone/>
            </a:pPr>
            <a:r>
              <a:rPr lang="en-US" sz="1000" dirty="0">
                <a:solidFill>
                  <a:srgbClr val="123452"/>
                </a:solidFill>
              </a:rPr>
              <a:t>Agent-to-agent collaboration</a:t>
            </a:r>
            <a:endParaRPr lang="en-US" sz="1000" dirty="0"/>
          </a:p>
        </p:txBody>
      </p:sp>
      <p:sp>
        <p:nvSpPr>
          <p:cNvPr id="15" name="Text 13"/>
          <p:cNvSpPr/>
          <p:nvPr/>
        </p:nvSpPr>
        <p:spPr>
          <a:xfrm>
            <a:off x="786384" y="6217920"/>
            <a:ext cx="9144000" cy="201168"/>
          </a:xfrm>
          <a:prstGeom prst="rect">
            <a:avLst/>
          </a:prstGeom>
          <a:noFill/>
          <a:ln/>
        </p:spPr>
        <p:txBody>
          <a:bodyPr wrap="square" lIns="0" tIns="0" rIns="0" bIns="0" rtlCol="0" anchor="ctr"/>
          <a:lstStyle/>
          <a:p>
            <a:pPr indent="0" marL="0">
              <a:buNone/>
            </a:pPr>
            <a:r>
              <a:rPr lang="en-US" sz="900" dirty="0">
                <a:solidFill>
                  <a:srgbClr val="617184"/>
                </a:solidFill>
              </a:rPr>
              <a:t>Designed as an executive-style, one-message-per-slide teaching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F79B7"/>
          </a:solidFill>
          <a:ln w="12700">
            <a:solidFill>
              <a:srgbClr val="2F79B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F79B7"/>
                </a:solidFill>
                <a:latin typeface="Aptos" pitchFamily="34" charset="0"/>
                <a:ea typeface="Aptos" pitchFamily="34" charset="-122"/>
                <a:cs typeface="Aptos" pitchFamily="34" charset="-120"/>
              </a:rPr>
              <a:t>FOUNDATIONS</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The session moves from vocabulary to architecture judgment</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02</a:t>
            </a:r>
            <a:endParaRPr lang="en-US" sz="800" dirty="0"/>
          </a:p>
        </p:txBody>
      </p:sp>
      <p:sp>
        <p:nvSpPr>
          <p:cNvPr id="9" name="Shape 7"/>
          <p:cNvSpPr/>
          <p:nvPr/>
        </p:nvSpPr>
        <p:spPr>
          <a:xfrm>
            <a:off x="566928" y="1417320"/>
            <a:ext cx="2606040" cy="1280160"/>
          </a:xfrm>
          <a:prstGeom prst="roundRect">
            <a:avLst>
              <a:gd name="adj" fmla="val 3571"/>
            </a:avLst>
          </a:prstGeom>
          <a:solidFill>
            <a:srgbClr val="F7FBFE"/>
          </a:solidFill>
          <a:ln w="12700">
            <a:solidFill>
              <a:srgbClr val="2F79B7"/>
            </a:solidFill>
            <a:prstDash val="solid"/>
          </a:ln>
        </p:spPr>
      </p:sp>
      <p:sp>
        <p:nvSpPr>
          <p:cNvPr id="10" name="Shape 8"/>
          <p:cNvSpPr/>
          <p:nvPr/>
        </p:nvSpPr>
        <p:spPr>
          <a:xfrm>
            <a:off x="566928" y="1417320"/>
            <a:ext cx="73152" cy="1280160"/>
          </a:xfrm>
          <a:prstGeom prst="rect">
            <a:avLst/>
          </a:prstGeom>
          <a:solidFill>
            <a:srgbClr val="2F79B7"/>
          </a:solidFill>
          <a:ln w="12700">
            <a:solidFill>
              <a:srgbClr val="2F79B7"/>
            </a:solidFill>
            <a:prstDash val="solid"/>
          </a:ln>
        </p:spPr>
      </p:sp>
      <p:sp>
        <p:nvSpPr>
          <p:cNvPr id="11" name="Text 9"/>
          <p:cNvSpPr/>
          <p:nvPr/>
        </p:nvSpPr>
        <p:spPr>
          <a:xfrm>
            <a:off x="731520" y="1545336"/>
            <a:ext cx="2350008" cy="228600"/>
          </a:xfrm>
          <a:prstGeom prst="rect">
            <a:avLst/>
          </a:prstGeom>
          <a:noFill/>
          <a:ln/>
        </p:spPr>
        <p:txBody>
          <a:bodyPr wrap="square" lIns="0" tIns="0" rIns="0" bIns="0" rtlCol="0" anchor="ctr">
            <a:normAutofit/>
          </a:bodyPr>
          <a:lstStyle/>
          <a:p>
            <a:pPr indent="0" marL="0">
              <a:buNone/>
            </a:pPr>
            <a:r>
              <a:rPr lang="en-US" sz="1300" b="1" dirty="0">
                <a:solidFill>
                  <a:srgbClr val="2F79B7"/>
                </a:solidFill>
              </a:rPr>
              <a:t>1. Explain</a:t>
            </a:r>
            <a:endParaRPr lang="en-US" sz="1300" dirty="0"/>
          </a:p>
        </p:txBody>
      </p:sp>
      <p:sp>
        <p:nvSpPr>
          <p:cNvPr id="12" name="Text 10"/>
          <p:cNvSpPr/>
          <p:nvPr/>
        </p:nvSpPr>
        <p:spPr>
          <a:xfrm>
            <a:off x="731520" y="1874520"/>
            <a:ext cx="2350008" cy="713232"/>
          </a:xfrm>
          <a:prstGeom prst="rect">
            <a:avLst/>
          </a:prstGeom>
          <a:noFill/>
          <a:ln/>
        </p:spPr>
        <p:txBody>
          <a:bodyPr wrap="square" lIns="254" tIns="254" rIns="254" bIns="254" rtlCol="0" anchor="t">
            <a:normAutofit/>
          </a:bodyPr>
          <a:lstStyle/>
          <a:p>
            <a:pPr indent="0" marL="0">
              <a:buNone/>
            </a:pPr>
            <a:r>
              <a:rPr lang="en-US" sz="1050" dirty="0">
                <a:solidFill>
                  <a:srgbClr val="1F2A37"/>
                </a:solidFill>
              </a:rPr>
              <a:t>Make the protocol landscape intuitive: API calls, MCP tool access, A2A collaboration.</a:t>
            </a:r>
            <a:endParaRPr lang="en-US" sz="1050" dirty="0"/>
          </a:p>
        </p:txBody>
      </p:sp>
      <p:sp>
        <p:nvSpPr>
          <p:cNvPr id="13" name="Shape 11"/>
          <p:cNvSpPr/>
          <p:nvPr/>
        </p:nvSpPr>
        <p:spPr>
          <a:xfrm>
            <a:off x="3429000" y="1417320"/>
            <a:ext cx="2606040" cy="1280160"/>
          </a:xfrm>
          <a:prstGeom prst="roundRect">
            <a:avLst>
              <a:gd name="adj" fmla="val 3571"/>
            </a:avLst>
          </a:prstGeom>
          <a:solidFill>
            <a:srgbClr val="F7FBFE"/>
          </a:solidFill>
          <a:ln w="12700">
            <a:solidFill>
              <a:srgbClr val="D99A3D"/>
            </a:solidFill>
            <a:prstDash val="solid"/>
          </a:ln>
        </p:spPr>
      </p:sp>
      <p:sp>
        <p:nvSpPr>
          <p:cNvPr id="14" name="Shape 12"/>
          <p:cNvSpPr/>
          <p:nvPr/>
        </p:nvSpPr>
        <p:spPr>
          <a:xfrm>
            <a:off x="3429000" y="1417320"/>
            <a:ext cx="73152" cy="1280160"/>
          </a:xfrm>
          <a:prstGeom prst="rect">
            <a:avLst/>
          </a:prstGeom>
          <a:solidFill>
            <a:srgbClr val="D99A3D"/>
          </a:solidFill>
          <a:ln w="12700">
            <a:solidFill>
              <a:srgbClr val="D99A3D"/>
            </a:solidFill>
            <a:prstDash val="solid"/>
          </a:ln>
        </p:spPr>
      </p:sp>
      <p:sp>
        <p:nvSpPr>
          <p:cNvPr id="15" name="Text 13"/>
          <p:cNvSpPr/>
          <p:nvPr/>
        </p:nvSpPr>
        <p:spPr>
          <a:xfrm>
            <a:off x="3593592" y="1545336"/>
            <a:ext cx="2350008" cy="228600"/>
          </a:xfrm>
          <a:prstGeom prst="rect">
            <a:avLst/>
          </a:prstGeom>
          <a:noFill/>
          <a:ln/>
        </p:spPr>
        <p:txBody>
          <a:bodyPr wrap="square" lIns="0" tIns="0" rIns="0" bIns="0" rtlCol="0" anchor="ctr">
            <a:normAutofit/>
          </a:bodyPr>
          <a:lstStyle/>
          <a:p>
            <a:pPr indent="0" marL="0">
              <a:buNone/>
            </a:pPr>
            <a:r>
              <a:rPr lang="en-US" sz="1300" b="1" dirty="0">
                <a:solidFill>
                  <a:srgbClr val="D99A3D"/>
                </a:solidFill>
              </a:rPr>
              <a:t>2. Compare</a:t>
            </a:r>
            <a:endParaRPr lang="en-US" sz="1300" dirty="0"/>
          </a:p>
        </p:txBody>
      </p:sp>
      <p:sp>
        <p:nvSpPr>
          <p:cNvPr id="16" name="Text 14"/>
          <p:cNvSpPr/>
          <p:nvPr/>
        </p:nvSpPr>
        <p:spPr>
          <a:xfrm>
            <a:off x="3593592" y="1874520"/>
            <a:ext cx="2350008" cy="713232"/>
          </a:xfrm>
          <a:prstGeom prst="rect">
            <a:avLst/>
          </a:prstGeom>
          <a:noFill/>
          <a:ln/>
        </p:spPr>
        <p:txBody>
          <a:bodyPr wrap="square" lIns="254" tIns="254" rIns="254" bIns="254" rtlCol="0" anchor="t">
            <a:normAutofit/>
          </a:bodyPr>
          <a:lstStyle/>
          <a:p>
            <a:pPr indent="0" marL="0">
              <a:buNone/>
            </a:pPr>
            <a:r>
              <a:rPr lang="en-US" sz="1050" dirty="0">
                <a:solidFill>
                  <a:srgbClr val="1F2A37"/>
                </a:solidFill>
              </a:rPr>
              <a:t>Evaluate trade-offs across coupling, state, autonomy, trust, latency, and observability.</a:t>
            </a:r>
            <a:endParaRPr lang="en-US" sz="1050" dirty="0"/>
          </a:p>
        </p:txBody>
      </p:sp>
      <p:sp>
        <p:nvSpPr>
          <p:cNvPr id="17" name="Shape 15"/>
          <p:cNvSpPr/>
          <p:nvPr/>
        </p:nvSpPr>
        <p:spPr>
          <a:xfrm>
            <a:off x="6291072" y="1417320"/>
            <a:ext cx="2606040" cy="1280160"/>
          </a:xfrm>
          <a:prstGeom prst="roundRect">
            <a:avLst>
              <a:gd name="adj" fmla="val 3571"/>
            </a:avLst>
          </a:prstGeom>
          <a:solidFill>
            <a:srgbClr val="F7FBFE"/>
          </a:solidFill>
          <a:ln w="12700">
            <a:solidFill>
              <a:srgbClr val="0A9B9B"/>
            </a:solidFill>
            <a:prstDash val="solid"/>
          </a:ln>
        </p:spPr>
      </p:sp>
      <p:sp>
        <p:nvSpPr>
          <p:cNvPr id="18" name="Shape 16"/>
          <p:cNvSpPr/>
          <p:nvPr/>
        </p:nvSpPr>
        <p:spPr>
          <a:xfrm>
            <a:off x="6291072" y="1417320"/>
            <a:ext cx="73152" cy="1280160"/>
          </a:xfrm>
          <a:prstGeom prst="rect">
            <a:avLst/>
          </a:prstGeom>
          <a:solidFill>
            <a:srgbClr val="0A9B9B"/>
          </a:solidFill>
          <a:ln w="12700">
            <a:solidFill>
              <a:srgbClr val="0A9B9B"/>
            </a:solidFill>
            <a:prstDash val="solid"/>
          </a:ln>
        </p:spPr>
      </p:sp>
      <p:sp>
        <p:nvSpPr>
          <p:cNvPr id="19" name="Text 17"/>
          <p:cNvSpPr/>
          <p:nvPr/>
        </p:nvSpPr>
        <p:spPr>
          <a:xfrm>
            <a:off x="6455664" y="1545336"/>
            <a:ext cx="235000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3. Decide</a:t>
            </a:r>
            <a:endParaRPr lang="en-US" sz="1300" dirty="0"/>
          </a:p>
        </p:txBody>
      </p:sp>
      <p:sp>
        <p:nvSpPr>
          <p:cNvPr id="20" name="Text 18"/>
          <p:cNvSpPr/>
          <p:nvPr/>
        </p:nvSpPr>
        <p:spPr>
          <a:xfrm>
            <a:off x="6455664" y="1874520"/>
            <a:ext cx="2350008" cy="713232"/>
          </a:xfrm>
          <a:prstGeom prst="rect">
            <a:avLst/>
          </a:prstGeom>
          <a:noFill/>
          <a:ln/>
        </p:spPr>
        <p:txBody>
          <a:bodyPr wrap="square" lIns="254" tIns="254" rIns="254" bIns="254" rtlCol="0" anchor="t">
            <a:normAutofit/>
          </a:bodyPr>
          <a:lstStyle/>
          <a:p>
            <a:pPr indent="0" marL="0">
              <a:buNone/>
            </a:pPr>
            <a:r>
              <a:rPr lang="en-US" sz="1050" dirty="0">
                <a:solidFill>
                  <a:srgbClr val="1F2A37"/>
                </a:solidFill>
              </a:rPr>
              <a:t>Use a practical decision tree and anti-pattern checklist to pick the right boundary.</a:t>
            </a:r>
            <a:endParaRPr lang="en-US" sz="1050" dirty="0"/>
          </a:p>
        </p:txBody>
      </p:sp>
      <p:sp>
        <p:nvSpPr>
          <p:cNvPr id="21" name="Shape 19"/>
          <p:cNvSpPr/>
          <p:nvPr/>
        </p:nvSpPr>
        <p:spPr>
          <a:xfrm>
            <a:off x="9144000" y="1417320"/>
            <a:ext cx="2606040" cy="1280160"/>
          </a:xfrm>
          <a:prstGeom prst="roundRect">
            <a:avLst>
              <a:gd name="adj" fmla="val 3571"/>
            </a:avLst>
          </a:prstGeom>
          <a:solidFill>
            <a:srgbClr val="F7FBFE"/>
          </a:solidFill>
          <a:ln w="12700">
            <a:solidFill>
              <a:srgbClr val="B65F62"/>
            </a:solidFill>
            <a:prstDash val="solid"/>
          </a:ln>
        </p:spPr>
      </p:sp>
      <p:sp>
        <p:nvSpPr>
          <p:cNvPr id="22" name="Shape 20"/>
          <p:cNvSpPr/>
          <p:nvPr/>
        </p:nvSpPr>
        <p:spPr>
          <a:xfrm>
            <a:off x="9144000" y="1417320"/>
            <a:ext cx="73152" cy="1280160"/>
          </a:xfrm>
          <a:prstGeom prst="rect">
            <a:avLst/>
          </a:prstGeom>
          <a:solidFill>
            <a:srgbClr val="B65F62"/>
          </a:solidFill>
          <a:ln w="12700">
            <a:solidFill>
              <a:srgbClr val="B65F62"/>
            </a:solidFill>
            <a:prstDash val="solid"/>
          </a:ln>
        </p:spPr>
      </p:sp>
      <p:sp>
        <p:nvSpPr>
          <p:cNvPr id="23" name="Text 21"/>
          <p:cNvSpPr/>
          <p:nvPr/>
        </p:nvSpPr>
        <p:spPr>
          <a:xfrm>
            <a:off x="9308592" y="1545336"/>
            <a:ext cx="2350008" cy="228600"/>
          </a:xfrm>
          <a:prstGeom prst="rect">
            <a:avLst/>
          </a:prstGeom>
          <a:noFill/>
          <a:ln/>
        </p:spPr>
        <p:txBody>
          <a:bodyPr wrap="square" lIns="0" tIns="0" rIns="0" bIns="0" rtlCol="0" anchor="ctr">
            <a:normAutofit/>
          </a:bodyPr>
          <a:lstStyle/>
          <a:p>
            <a:pPr indent="0" marL="0">
              <a:buNone/>
            </a:pPr>
            <a:r>
              <a:rPr lang="en-US" sz="1300" b="1" dirty="0">
                <a:solidFill>
                  <a:srgbClr val="B65F62"/>
                </a:solidFill>
              </a:rPr>
              <a:t>4. Demo</a:t>
            </a:r>
            <a:endParaRPr lang="en-US" sz="1300" dirty="0"/>
          </a:p>
        </p:txBody>
      </p:sp>
      <p:sp>
        <p:nvSpPr>
          <p:cNvPr id="24" name="Text 22"/>
          <p:cNvSpPr/>
          <p:nvPr/>
        </p:nvSpPr>
        <p:spPr>
          <a:xfrm>
            <a:off x="9308592" y="1874520"/>
            <a:ext cx="2350008" cy="713232"/>
          </a:xfrm>
          <a:prstGeom prst="rect">
            <a:avLst/>
          </a:prstGeom>
          <a:noFill/>
          <a:ln/>
        </p:spPr>
        <p:txBody>
          <a:bodyPr wrap="square" lIns="254" tIns="254" rIns="254" bIns="254" rtlCol="0" anchor="t">
            <a:normAutofit/>
          </a:bodyPr>
          <a:lstStyle/>
          <a:p>
            <a:pPr indent="0" marL="0">
              <a:buNone/>
            </a:pPr>
            <a:r>
              <a:rPr lang="en-US" sz="1050" dirty="0">
                <a:solidFill>
                  <a:srgbClr val="1F2A37"/>
                </a:solidFill>
              </a:rPr>
              <a:t>Run the same local workflow three ways: API, MCP, A2A; then discuss why each exists.</a:t>
            </a:r>
            <a:endParaRPr lang="en-US" sz="1050" dirty="0"/>
          </a:p>
        </p:txBody>
      </p:sp>
      <p:sp>
        <p:nvSpPr>
          <p:cNvPr id="25" name="Text 23"/>
          <p:cNvSpPr/>
          <p:nvPr/>
        </p:nvSpPr>
        <p:spPr>
          <a:xfrm>
            <a:off x="566928" y="3154680"/>
            <a:ext cx="2103120" cy="274320"/>
          </a:xfrm>
          <a:prstGeom prst="rect">
            <a:avLst/>
          </a:prstGeom>
          <a:noFill/>
          <a:ln/>
        </p:spPr>
        <p:txBody>
          <a:bodyPr wrap="square" lIns="0" tIns="0" rIns="0" bIns="0" rtlCol="0" anchor="ctr"/>
          <a:lstStyle/>
          <a:p>
            <a:pPr indent="0" marL="0">
              <a:buNone/>
            </a:pPr>
            <a:r>
              <a:rPr lang="en-US" sz="1600" b="1" dirty="0">
                <a:solidFill>
                  <a:srgbClr val="123452"/>
                </a:solidFill>
              </a:rPr>
              <a:t>Learning outcomes</a:t>
            </a:r>
            <a:endParaRPr lang="en-US" sz="1600" dirty="0"/>
          </a:p>
        </p:txBody>
      </p:sp>
      <p:sp>
        <p:nvSpPr>
          <p:cNvPr id="26" name="Text 24"/>
          <p:cNvSpPr/>
          <p:nvPr/>
        </p:nvSpPr>
        <p:spPr>
          <a:xfrm>
            <a:off x="685800" y="3584448"/>
            <a:ext cx="10241280" cy="1965960"/>
          </a:xfrm>
          <a:prstGeom prst="rect">
            <a:avLst/>
          </a:prstGeom>
          <a:noFill/>
          <a:ln/>
        </p:spPr>
        <p:txBody>
          <a:bodyPr wrap="square" lIns="508" tIns="508" rIns="508" bIns="508" rtlCol="0" anchor="t">
            <a:normAutofit/>
          </a:bodyPr>
          <a:lstStyle/>
          <a:p>
            <a:r>
              <a:rPr lang="en-US" sz="1400" dirty="0">
                <a:solidFill>
                  <a:srgbClr val="1F2A37"/>
                </a:solidFill>
              </a:rPr>
              <a:t>State the core job-to-be-done of APIs, MCP, and A2A in one sentence each</a:t>
            </a:r>
            <a:endParaRPr lang="en-US" sz="1400" dirty="0"/>
          </a:p>
          <a:p>
            <a:r>
              <a:rPr lang="en-US" sz="1400" dirty="0">
                <a:solidFill>
                  <a:srgbClr val="1F2A37"/>
                </a:solidFill>
              </a:rPr>
              <a:t>Identify when an API is enough, when MCP reduces integration friction, and when A2A is justified</a:t>
            </a:r>
            <a:endParaRPr lang="en-US" sz="1400" dirty="0"/>
          </a:p>
          <a:p>
            <a:r>
              <a:rPr lang="en-US" sz="1400" dirty="0">
                <a:solidFill>
                  <a:srgbClr val="1F2A37"/>
                </a:solidFill>
              </a:rPr>
              <a:t>Design a demo architecture locally without writing session code on the slides</a:t>
            </a:r>
            <a:endParaRPr lang="en-US" sz="1400" dirty="0"/>
          </a:p>
          <a:p>
            <a:r>
              <a:rPr lang="en-US" sz="1400" dirty="0">
                <a:solidFill>
                  <a:srgbClr val="1F2A37"/>
                </a:solidFill>
              </a:rPr>
              <a:t>Explain security, governance, testing, and observability implications for each pattern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F79B7"/>
          </a:solidFill>
          <a:ln w="12700">
            <a:solidFill>
              <a:srgbClr val="2F79B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F79B7"/>
                </a:solidFill>
                <a:latin typeface="Aptos" pitchFamily="34" charset="0"/>
                <a:ea typeface="Aptos" pitchFamily="34" charset="-122"/>
                <a:cs typeface="Aptos" pitchFamily="34" charset="-120"/>
              </a:rPr>
              <a:t>FOUNDATIONS</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Research synthesis: APIs by default; MCP for context; A2A for peer agents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Sources: Lakshmanan LinkedIn article; MCP spec; A2A docs; Microsoft API guidance</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03</a:t>
            </a:r>
            <a:endParaRPr lang="en-US" sz="800" dirty="0"/>
          </a:p>
        </p:txBody>
      </p:sp>
      <p:sp>
        <p:nvSpPr>
          <p:cNvPr id="9" name="Shape 7"/>
          <p:cNvSpPr/>
          <p:nvPr/>
        </p:nvSpPr>
        <p:spPr>
          <a:xfrm>
            <a:off x="566928" y="1417320"/>
            <a:ext cx="10607040" cy="512064"/>
          </a:xfrm>
          <a:prstGeom prst="rect">
            <a:avLst/>
          </a:prstGeom>
          <a:solidFill>
            <a:srgbClr val="123452"/>
          </a:solidFill>
          <a:ln w="12700">
            <a:solidFill>
              <a:srgbClr val="123452"/>
            </a:solidFill>
            <a:prstDash val="solid"/>
          </a:ln>
        </p:spPr>
      </p:sp>
      <p:sp>
        <p:nvSpPr>
          <p:cNvPr id="10" name="Text 8"/>
          <p:cNvSpPr/>
          <p:nvPr/>
        </p:nvSpPr>
        <p:spPr>
          <a:xfrm>
            <a:off x="612648" y="1517904"/>
            <a:ext cx="2011680" cy="402336"/>
          </a:xfrm>
          <a:prstGeom prst="rect">
            <a:avLst/>
          </a:prstGeom>
          <a:noFill/>
          <a:ln/>
        </p:spPr>
        <p:txBody>
          <a:bodyPr wrap="square" lIns="0" tIns="0" rIns="0" bIns="0" rtlCol="0" anchor="ctr">
            <a:normAutofit/>
          </a:bodyPr>
          <a:lstStyle/>
          <a:p>
            <a:pPr algn="l" indent="0" marL="0">
              <a:buNone/>
            </a:pPr>
            <a:r>
              <a:rPr lang="en-US" sz="820" b="1" dirty="0">
                <a:solidFill>
                  <a:srgbClr val="FFFFFF"/>
                </a:solidFill>
              </a:rPr>
              <a:t>Boundary question</a:t>
            </a:r>
            <a:endParaRPr lang="en-US" sz="820" dirty="0"/>
          </a:p>
        </p:txBody>
      </p:sp>
      <p:sp>
        <p:nvSpPr>
          <p:cNvPr id="11" name="Text 9"/>
          <p:cNvSpPr/>
          <p:nvPr/>
        </p:nvSpPr>
        <p:spPr>
          <a:xfrm>
            <a:off x="2715768" y="1517904"/>
            <a:ext cx="2743200" cy="402336"/>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Use APIs</a:t>
            </a:r>
            <a:endParaRPr lang="en-US" sz="820" dirty="0"/>
          </a:p>
        </p:txBody>
      </p:sp>
      <p:sp>
        <p:nvSpPr>
          <p:cNvPr id="12" name="Shape 10"/>
          <p:cNvSpPr/>
          <p:nvPr/>
        </p:nvSpPr>
        <p:spPr>
          <a:xfrm>
            <a:off x="2670048" y="1417320"/>
            <a:ext cx="0" cy="3072384"/>
          </a:xfrm>
          <a:prstGeom prst="line">
            <a:avLst/>
          </a:prstGeom>
          <a:noFill/>
          <a:ln w="6350">
            <a:solidFill>
              <a:srgbClr val="FFFFFF">
                <a:alpha val="60000"/>
              </a:srgbClr>
            </a:solidFill>
            <a:prstDash val="solid"/>
          </a:ln>
        </p:spPr>
      </p:sp>
      <p:sp>
        <p:nvSpPr>
          <p:cNvPr id="13" name="Text 11"/>
          <p:cNvSpPr/>
          <p:nvPr/>
        </p:nvSpPr>
        <p:spPr>
          <a:xfrm>
            <a:off x="5550408" y="1517904"/>
            <a:ext cx="2743200" cy="402336"/>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Use MCP</a:t>
            </a:r>
            <a:endParaRPr lang="en-US" sz="820" dirty="0"/>
          </a:p>
        </p:txBody>
      </p:sp>
      <p:sp>
        <p:nvSpPr>
          <p:cNvPr id="14" name="Shape 12"/>
          <p:cNvSpPr/>
          <p:nvPr/>
        </p:nvSpPr>
        <p:spPr>
          <a:xfrm>
            <a:off x="5504688" y="1417320"/>
            <a:ext cx="0" cy="3072384"/>
          </a:xfrm>
          <a:prstGeom prst="line">
            <a:avLst/>
          </a:prstGeom>
          <a:noFill/>
          <a:ln w="6350">
            <a:solidFill>
              <a:srgbClr val="FFFFFF">
                <a:alpha val="60000"/>
              </a:srgbClr>
            </a:solidFill>
            <a:prstDash val="solid"/>
          </a:ln>
        </p:spPr>
      </p:sp>
      <p:sp>
        <p:nvSpPr>
          <p:cNvPr id="15" name="Text 13"/>
          <p:cNvSpPr/>
          <p:nvPr/>
        </p:nvSpPr>
        <p:spPr>
          <a:xfrm>
            <a:off x="8385048" y="1517904"/>
            <a:ext cx="2743200" cy="402336"/>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Use A2A</a:t>
            </a:r>
            <a:endParaRPr lang="en-US" sz="820" dirty="0"/>
          </a:p>
        </p:txBody>
      </p:sp>
      <p:sp>
        <p:nvSpPr>
          <p:cNvPr id="16" name="Shape 14"/>
          <p:cNvSpPr/>
          <p:nvPr/>
        </p:nvSpPr>
        <p:spPr>
          <a:xfrm>
            <a:off x="8339328" y="1417320"/>
            <a:ext cx="0" cy="3072384"/>
          </a:xfrm>
          <a:prstGeom prst="line">
            <a:avLst/>
          </a:prstGeom>
          <a:noFill/>
          <a:ln w="6350">
            <a:solidFill>
              <a:srgbClr val="FFFFFF">
                <a:alpha val="60000"/>
              </a:srgbClr>
            </a:solidFill>
            <a:prstDash val="solid"/>
          </a:ln>
        </p:spPr>
      </p:sp>
      <p:sp>
        <p:nvSpPr>
          <p:cNvPr id="17" name="Shape 15"/>
          <p:cNvSpPr/>
          <p:nvPr/>
        </p:nvSpPr>
        <p:spPr>
          <a:xfrm>
            <a:off x="566928" y="1929384"/>
            <a:ext cx="10607040" cy="512064"/>
          </a:xfrm>
          <a:prstGeom prst="rect">
            <a:avLst/>
          </a:prstGeom>
          <a:solidFill>
            <a:srgbClr val="FFFFFF"/>
          </a:solidFill>
          <a:ln w="6350">
            <a:solidFill>
              <a:srgbClr val="D7E6F2"/>
            </a:solidFill>
            <a:prstDash val="solid"/>
          </a:ln>
        </p:spPr>
      </p:sp>
      <p:sp>
        <p:nvSpPr>
          <p:cNvPr id="18" name="Text 16"/>
          <p:cNvSpPr/>
          <p:nvPr/>
        </p:nvSpPr>
        <p:spPr>
          <a:xfrm>
            <a:off x="621792" y="2002536"/>
            <a:ext cx="1993392" cy="402336"/>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Who is talking?</a:t>
            </a:r>
            <a:endParaRPr lang="en-US" sz="740" dirty="0"/>
          </a:p>
        </p:txBody>
      </p:sp>
      <p:sp>
        <p:nvSpPr>
          <p:cNvPr id="19" name="Text 17"/>
          <p:cNvSpPr/>
          <p:nvPr/>
        </p:nvSpPr>
        <p:spPr>
          <a:xfrm>
            <a:off x="2724912" y="2002536"/>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App/service ↔ service</a:t>
            </a:r>
            <a:endParaRPr lang="en-US" sz="740" dirty="0"/>
          </a:p>
        </p:txBody>
      </p:sp>
      <p:sp>
        <p:nvSpPr>
          <p:cNvPr id="20" name="Text 18"/>
          <p:cNvSpPr/>
          <p:nvPr/>
        </p:nvSpPr>
        <p:spPr>
          <a:xfrm>
            <a:off x="5559552" y="2002536"/>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AI host/agent ↔ tools/resources</a:t>
            </a:r>
            <a:endParaRPr lang="en-US" sz="740" dirty="0"/>
          </a:p>
        </p:txBody>
      </p:sp>
      <p:sp>
        <p:nvSpPr>
          <p:cNvPr id="21" name="Text 19"/>
          <p:cNvSpPr/>
          <p:nvPr/>
        </p:nvSpPr>
        <p:spPr>
          <a:xfrm>
            <a:off x="8394192" y="2002536"/>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Agent ↔ independent agent</a:t>
            </a:r>
            <a:endParaRPr lang="en-US" sz="740" dirty="0"/>
          </a:p>
        </p:txBody>
      </p:sp>
      <p:sp>
        <p:nvSpPr>
          <p:cNvPr id="22" name="Shape 20"/>
          <p:cNvSpPr/>
          <p:nvPr/>
        </p:nvSpPr>
        <p:spPr>
          <a:xfrm>
            <a:off x="566928" y="2441448"/>
            <a:ext cx="10607040" cy="512064"/>
          </a:xfrm>
          <a:prstGeom prst="rect">
            <a:avLst/>
          </a:prstGeom>
          <a:solidFill>
            <a:srgbClr val="F8FAFC"/>
          </a:solidFill>
          <a:ln w="6350">
            <a:solidFill>
              <a:srgbClr val="D7E6F2"/>
            </a:solidFill>
            <a:prstDash val="solid"/>
          </a:ln>
        </p:spPr>
      </p:sp>
      <p:sp>
        <p:nvSpPr>
          <p:cNvPr id="23" name="Text 21"/>
          <p:cNvSpPr/>
          <p:nvPr/>
        </p:nvSpPr>
        <p:spPr>
          <a:xfrm>
            <a:off x="621792" y="2514600"/>
            <a:ext cx="1993392" cy="402336"/>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What is exchanged?</a:t>
            </a:r>
            <a:endParaRPr lang="en-US" sz="740" dirty="0"/>
          </a:p>
        </p:txBody>
      </p:sp>
      <p:sp>
        <p:nvSpPr>
          <p:cNvPr id="24" name="Text 22"/>
          <p:cNvSpPr/>
          <p:nvPr/>
        </p:nvSpPr>
        <p:spPr>
          <a:xfrm>
            <a:off x="2724912" y="2514600"/>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Typed request/response or stream</a:t>
            </a:r>
            <a:endParaRPr lang="en-US" sz="740" dirty="0"/>
          </a:p>
        </p:txBody>
      </p:sp>
      <p:sp>
        <p:nvSpPr>
          <p:cNvPr id="25" name="Text 23"/>
          <p:cNvSpPr/>
          <p:nvPr/>
        </p:nvSpPr>
        <p:spPr>
          <a:xfrm>
            <a:off x="5559552" y="2514600"/>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Capabilities + structured tool/resource calls</a:t>
            </a:r>
            <a:endParaRPr lang="en-US" sz="740" dirty="0"/>
          </a:p>
        </p:txBody>
      </p:sp>
      <p:sp>
        <p:nvSpPr>
          <p:cNvPr id="26" name="Text 24"/>
          <p:cNvSpPr/>
          <p:nvPr/>
        </p:nvSpPr>
        <p:spPr>
          <a:xfrm>
            <a:off x="8394192" y="2514600"/>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Messages, tasks, artifacts, status</a:t>
            </a:r>
            <a:endParaRPr lang="en-US" sz="740" dirty="0"/>
          </a:p>
        </p:txBody>
      </p:sp>
      <p:sp>
        <p:nvSpPr>
          <p:cNvPr id="27" name="Shape 25"/>
          <p:cNvSpPr/>
          <p:nvPr/>
        </p:nvSpPr>
        <p:spPr>
          <a:xfrm>
            <a:off x="566928" y="2953512"/>
            <a:ext cx="10607040" cy="512064"/>
          </a:xfrm>
          <a:prstGeom prst="rect">
            <a:avLst/>
          </a:prstGeom>
          <a:solidFill>
            <a:srgbClr val="FFFFFF"/>
          </a:solidFill>
          <a:ln w="6350">
            <a:solidFill>
              <a:srgbClr val="D7E6F2"/>
            </a:solidFill>
            <a:prstDash val="solid"/>
          </a:ln>
        </p:spPr>
      </p:sp>
      <p:sp>
        <p:nvSpPr>
          <p:cNvPr id="28" name="Text 26"/>
          <p:cNvSpPr/>
          <p:nvPr/>
        </p:nvSpPr>
        <p:spPr>
          <a:xfrm>
            <a:off x="621792" y="3026664"/>
            <a:ext cx="1993392" cy="402336"/>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Who owns workflow?</a:t>
            </a:r>
            <a:endParaRPr lang="en-US" sz="740" dirty="0"/>
          </a:p>
        </p:txBody>
      </p:sp>
      <p:sp>
        <p:nvSpPr>
          <p:cNvPr id="29" name="Text 27"/>
          <p:cNvSpPr/>
          <p:nvPr/>
        </p:nvSpPr>
        <p:spPr>
          <a:xfrm>
            <a:off x="2724912" y="3026664"/>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Calling app or orchestrator</a:t>
            </a:r>
            <a:endParaRPr lang="en-US" sz="740" dirty="0"/>
          </a:p>
        </p:txBody>
      </p:sp>
      <p:sp>
        <p:nvSpPr>
          <p:cNvPr id="30" name="Text 28"/>
          <p:cNvSpPr/>
          <p:nvPr/>
        </p:nvSpPr>
        <p:spPr>
          <a:xfrm>
            <a:off x="5559552" y="3026664"/>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AI host decides when to use tools</a:t>
            </a:r>
            <a:endParaRPr lang="en-US" sz="740" dirty="0"/>
          </a:p>
        </p:txBody>
      </p:sp>
      <p:sp>
        <p:nvSpPr>
          <p:cNvPr id="31" name="Text 29"/>
          <p:cNvSpPr/>
          <p:nvPr/>
        </p:nvSpPr>
        <p:spPr>
          <a:xfrm>
            <a:off x="8394192" y="3026664"/>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Agents negotiate/delegate work</a:t>
            </a:r>
            <a:endParaRPr lang="en-US" sz="740" dirty="0"/>
          </a:p>
        </p:txBody>
      </p:sp>
      <p:sp>
        <p:nvSpPr>
          <p:cNvPr id="32" name="Shape 30"/>
          <p:cNvSpPr/>
          <p:nvPr/>
        </p:nvSpPr>
        <p:spPr>
          <a:xfrm>
            <a:off x="566928" y="3465576"/>
            <a:ext cx="10607040" cy="512064"/>
          </a:xfrm>
          <a:prstGeom prst="rect">
            <a:avLst/>
          </a:prstGeom>
          <a:solidFill>
            <a:srgbClr val="F8FAFC"/>
          </a:solidFill>
          <a:ln w="6350">
            <a:solidFill>
              <a:srgbClr val="D7E6F2"/>
            </a:solidFill>
            <a:prstDash val="solid"/>
          </a:ln>
        </p:spPr>
      </p:sp>
      <p:sp>
        <p:nvSpPr>
          <p:cNvPr id="33" name="Text 31"/>
          <p:cNvSpPr/>
          <p:nvPr/>
        </p:nvSpPr>
        <p:spPr>
          <a:xfrm>
            <a:off x="621792" y="3538728"/>
            <a:ext cx="1993392" cy="402336"/>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Statefulness</a:t>
            </a:r>
            <a:endParaRPr lang="en-US" sz="740" dirty="0"/>
          </a:p>
        </p:txBody>
      </p:sp>
      <p:sp>
        <p:nvSpPr>
          <p:cNvPr id="34" name="Text 32"/>
          <p:cNvSpPr/>
          <p:nvPr/>
        </p:nvSpPr>
        <p:spPr>
          <a:xfrm>
            <a:off x="2724912" y="3538728"/>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Usually stateless at protocol level</a:t>
            </a:r>
            <a:endParaRPr lang="en-US" sz="740" dirty="0"/>
          </a:p>
        </p:txBody>
      </p:sp>
      <p:sp>
        <p:nvSpPr>
          <p:cNvPr id="35" name="Text 33"/>
          <p:cNvSpPr/>
          <p:nvPr/>
        </p:nvSpPr>
        <p:spPr>
          <a:xfrm>
            <a:off x="5559552" y="3538728"/>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Stateful session + tool discovery</a:t>
            </a:r>
            <a:endParaRPr lang="en-US" sz="740" dirty="0"/>
          </a:p>
        </p:txBody>
      </p:sp>
      <p:sp>
        <p:nvSpPr>
          <p:cNvPr id="36" name="Text 34"/>
          <p:cNvSpPr/>
          <p:nvPr/>
        </p:nvSpPr>
        <p:spPr>
          <a:xfrm>
            <a:off x="8394192" y="3538728"/>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Stateful task lifecycle by design</a:t>
            </a:r>
            <a:endParaRPr lang="en-US" sz="740" dirty="0"/>
          </a:p>
        </p:txBody>
      </p:sp>
      <p:sp>
        <p:nvSpPr>
          <p:cNvPr id="37" name="Shape 35"/>
          <p:cNvSpPr/>
          <p:nvPr/>
        </p:nvSpPr>
        <p:spPr>
          <a:xfrm>
            <a:off x="566928" y="3977640"/>
            <a:ext cx="10607040" cy="512064"/>
          </a:xfrm>
          <a:prstGeom prst="rect">
            <a:avLst/>
          </a:prstGeom>
          <a:solidFill>
            <a:srgbClr val="FFFFFF"/>
          </a:solidFill>
          <a:ln w="6350">
            <a:solidFill>
              <a:srgbClr val="D7E6F2"/>
            </a:solidFill>
            <a:prstDash val="solid"/>
          </a:ln>
        </p:spPr>
      </p:sp>
      <p:sp>
        <p:nvSpPr>
          <p:cNvPr id="38" name="Text 36"/>
          <p:cNvSpPr/>
          <p:nvPr/>
        </p:nvSpPr>
        <p:spPr>
          <a:xfrm>
            <a:off x="621792" y="4050792"/>
            <a:ext cx="1993392" cy="402336"/>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Best for</a:t>
            </a:r>
            <a:endParaRPr lang="en-US" sz="740" dirty="0"/>
          </a:p>
        </p:txBody>
      </p:sp>
      <p:sp>
        <p:nvSpPr>
          <p:cNvPr id="39" name="Text 37"/>
          <p:cNvSpPr/>
          <p:nvPr/>
        </p:nvSpPr>
        <p:spPr>
          <a:xfrm>
            <a:off x="2724912" y="4050792"/>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Stable business capabilities</a:t>
            </a:r>
            <a:endParaRPr lang="en-US" sz="740" dirty="0"/>
          </a:p>
        </p:txBody>
      </p:sp>
      <p:sp>
        <p:nvSpPr>
          <p:cNvPr id="40" name="Text 38"/>
          <p:cNvSpPr/>
          <p:nvPr/>
        </p:nvSpPr>
        <p:spPr>
          <a:xfrm>
            <a:off x="5559552" y="4050792"/>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AI access to local/remote context</a:t>
            </a:r>
            <a:endParaRPr lang="en-US" sz="740" dirty="0"/>
          </a:p>
        </p:txBody>
      </p:sp>
      <p:sp>
        <p:nvSpPr>
          <p:cNvPr id="41" name="Text 39"/>
          <p:cNvSpPr/>
          <p:nvPr/>
        </p:nvSpPr>
        <p:spPr>
          <a:xfrm>
            <a:off x="8394192" y="4050792"/>
            <a:ext cx="2724912" cy="402336"/>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Cross-agent collaboration and handoffs</a:t>
            </a:r>
            <a:endParaRPr lang="en-US" sz="740" dirty="0"/>
          </a:p>
        </p:txBody>
      </p:sp>
      <p:sp>
        <p:nvSpPr>
          <p:cNvPr id="42" name="Text 40"/>
          <p:cNvSpPr/>
          <p:nvPr/>
        </p:nvSpPr>
        <p:spPr>
          <a:xfrm>
            <a:off x="658368" y="5074920"/>
            <a:ext cx="1828800" cy="228600"/>
          </a:xfrm>
          <a:prstGeom prst="rect">
            <a:avLst/>
          </a:prstGeom>
          <a:noFill/>
          <a:ln/>
        </p:spPr>
        <p:txBody>
          <a:bodyPr wrap="square" lIns="0" tIns="0" rIns="0" bIns="0" rtlCol="0" anchor="ctr"/>
          <a:lstStyle/>
          <a:p>
            <a:pPr indent="0" marL="0">
              <a:buNone/>
            </a:pPr>
            <a:r>
              <a:rPr lang="en-US" sz="1400" b="1" dirty="0">
                <a:solidFill>
                  <a:srgbClr val="123452"/>
                </a:solidFill>
              </a:rPr>
              <a:t>Rule of thumb</a:t>
            </a:r>
            <a:endParaRPr lang="en-US" sz="1400" dirty="0"/>
          </a:p>
        </p:txBody>
      </p:sp>
      <p:sp>
        <p:nvSpPr>
          <p:cNvPr id="43" name="Text 41"/>
          <p:cNvSpPr/>
          <p:nvPr/>
        </p:nvSpPr>
        <p:spPr>
          <a:xfrm>
            <a:off x="2606040" y="5065776"/>
            <a:ext cx="8229600" cy="292608"/>
          </a:xfrm>
          <a:prstGeom prst="rect">
            <a:avLst/>
          </a:prstGeom>
          <a:noFill/>
          <a:ln/>
        </p:spPr>
        <p:txBody>
          <a:bodyPr wrap="square" lIns="0" tIns="0" rIns="0" bIns="0" rtlCol="0" anchor="ctr">
            <a:normAutofit/>
          </a:bodyPr>
          <a:lstStyle/>
          <a:p>
            <a:pPr indent="0" marL="0">
              <a:buNone/>
            </a:pPr>
            <a:r>
              <a:rPr lang="en-US" sz="1400" dirty="0">
                <a:solidFill>
                  <a:srgbClr val="1F2A37"/>
                </a:solidFill>
              </a:rPr>
              <a:t>Use direct APIs for most stable automation; use MCP when an AI host needs governed context/tool discovery; reserve A2A for genuinely autonomous peer agents.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F79B7"/>
          </a:solidFill>
          <a:ln w="12700">
            <a:solidFill>
              <a:srgbClr val="2F79B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F79B7"/>
                </a:solidFill>
                <a:latin typeface="Aptos" pitchFamily="34" charset="0"/>
                <a:ea typeface="Aptos" pitchFamily="34" charset="-122"/>
                <a:cs typeface="Aptos" pitchFamily="34" charset="-120"/>
              </a:rPr>
              <a:t>FOUNDATIONS</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Simple mental model: call a service, equip an agent with tools, or collaborate with a peer agent</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04</a:t>
            </a:r>
            <a:endParaRPr lang="en-US" sz="800" dirty="0"/>
          </a:p>
        </p:txBody>
      </p:sp>
      <p:sp>
        <p:nvSpPr>
          <p:cNvPr id="9" name="Shape 7"/>
          <p:cNvSpPr/>
          <p:nvPr/>
        </p:nvSpPr>
        <p:spPr>
          <a:xfrm>
            <a:off x="2560320" y="2331720"/>
            <a:ext cx="1280160" cy="0"/>
          </a:xfrm>
          <a:prstGeom prst="line">
            <a:avLst/>
          </a:prstGeom>
          <a:noFill/>
          <a:ln w="25400">
            <a:solidFill>
              <a:srgbClr val="D7E6F2"/>
            </a:solidFill>
            <a:prstDash val="solid"/>
            <a:headEnd type="none"/>
            <a:tailEnd type="triangle"/>
          </a:ln>
        </p:spPr>
      </p:sp>
      <p:sp>
        <p:nvSpPr>
          <p:cNvPr id="10" name="Shape 8"/>
          <p:cNvSpPr/>
          <p:nvPr/>
        </p:nvSpPr>
        <p:spPr>
          <a:xfrm>
            <a:off x="5577840" y="2331720"/>
            <a:ext cx="1280160" cy="0"/>
          </a:xfrm>
          <a:prstGeom prst="line">
            <a:avLst/>
          </a:prstGeom>
          <a:noFill/>
          <a:ln w="25400">
            <a:solidFill>
              <a:srgbClr val="D7E6F2"/>
            </a:solidFill>
            <a:prstDash val="solid"/>
            <a:headEnd type="none"/>
            <a:tailEnd type="triangle"/>
          </a:ln>
        </p:spPr>
      </p:sp>
      <p:sp>
        <p:nvSpPr>
          <p:cNvPr id="11" name="Shape 9"/>
          <p:cNvSpPr/>
          <p:nvPr/>
        </p:nvSpPr>
        <p:spPr>
          <a:xfrm>
            <a:off x="8641080" y="2331720"/>
            <a:ext cx="1005840" cy="0"/>
          </a:xfrm>
          <a:prstGeom prst="line">
            <a:avLst/>
          </a:prstGeom>
          <a:noFill/>
          <a:ln w="25400">
            <a:solidFill>
              <a:srgbClr val="D7E6F2"/>
            </a:solidFill>
            <a:prstDash val="solid"/>
            <a:headEnd type="none"/>
            <a:tailEnd type="triangle"/>
          </a:ln>
        </p:spPr>
      </p:sp>
      <p:sp>
        <p:nvSpPr>
          <p:cNvPr id="12" name="Shape 10"/>
          <p:cNvSpPr/>
          <p:nvPr/>
        </p:nvSpPr>
        <p:spPr>
          <a:xfrm>
            <a:off x="640080" y="1828800"/>
            <a:ext cx="2286000" cy="1005840"/>
          </a:xfrm>
          <a:prstGeom prst="roundRect">
            <a:avLst>
              <a:gd name="adj" fmla="val 7273"/>
            </a:avLst>
          </a:prstGeom>
          <a:solidFill>
            <a:srgbClr val="FFFFFF"/>
          </a:solidFill>
          <a:ln w="20320">
            <a:solidFill>
              <a:srgbClr val="123452"/>
            </a:solidFill>
            <a:prstDash val="solid"/>
          </a:ln>
        </p:spPr>
      </p:sp>
      <p:sp>
        <p:nvSpPr>
          <p:cNvPr id="13" name="Text 11"/>
          <p:cNvSpPr/>
          <p:nvPr/>
        </p:nvSpPr>
        <p:spPr>
          <a:xfrm>
            <a:off x="777240" y="2011680"/>
            <a:ext cx="2011680" cy="228600"/>
          </a:xfrm>
          <a:prstGeom prst="rect">
            <a:avLst/>
          </a:prstGeom>
          <a:noFill/>
          <a:ln/>
        </p:spPr>
        <p:txBody>
          <a:bodyPr wrap="square" lIns="0" tIns="0" rIns="0" bIns="0" rtlCol="0" anchor="ctr">
            <a:normAutofit/>
          </a:bodyPr>
          <a:lstStyle/>
          <a:p>
            <a:pPr algn="ctr" indent="0" marL="0">
              <a:buNone/>
            </a:pPr>
            <a:r>
              <a:rPr lang="en-US" sz="1500" b="1" dirty="0">
                <a:solidFill>
                  <a:srgbClr val="123452"/>
                </a:solidFill>
              </a:rPr>
              <a:t>User / App</a:t>
            </a:r>
            <a:endParaRPr lang="en-US" sz="1500" dirty="0"/>
          </a:p>
        </p:txBody>
      </p:sp>
      <p:sp>
        <p:nvSpPr>
          <p:cNvPr id="14" name="Text 12"/>
          <p:cNvSpPr/>
          <p:nvPr/>
        </p:nvSpPr>
        <p:spPr>
          <a:xfrm>
            <a:off x="777240" y="2359152"/>
            <a:ext cx="2011680" cy="228600"/>
          </a:xfrm>
          <a:prstGeom prst="rect">
            <a:avLst/>
          </a:prstGeom>
          <a:noFill/>
          <a:ln/>
        </p:spPr>
        <p:txBody>
          <a:bodyPr wrap="square" lIns="0" tIns="0" rIns="0" bIns="0" rtlCol="0" anchor="ctr">
            <a:normAutofit/>
          </a:bodyPr>
          <a:lstStyle/>
          <a:p>
            <a:pPr algn="ctr" indent="0" marL="0">
              <a:buNone/>
            </a:pPr>
            <a:r>
              <a:rPr lang="en-US" sz="1050" dirty="0">
                <a:solidFill>
                  <a:srgbClr val="617184"/>
                </a:solidFill>
              </a:rPr>
              <a:t>needs outcome</a:t>
            </a:r>
            <a:endParaRPr lang="en-US" sz="1050" dirty="0"/>
          </a:p>
        </p:txBody>
      </p:sp>
      <p:sp>
        <p:nvSpPr>
          <p:cNvPr id="15" name="Shape 13"/>
          <p:cNvSpPr/>
          <p:nvPr/>
        </p:nvSpPr>
        <p:spPr>
          <a:xfrm>
            <a:off x="3383280" y="1828800"/>
            <a:ext cx="2286000" cy="1005840"/>
          </a:xfrm>
          <a:prstGeom prst="roundRect">
            <a:avLst>
              <a:gd name="adj" fmla="val 7273"/>
            </a:avLst>
          </a:prstGeom>
          <a:solidFill>
            <a:srgbClr val="FFFFFF"/>
          </a:solidFill>
          <a:ln w="20320">
            <a:solidFill>
              <a:srgbClr val="0A9B9B"/>
            </a:solidFill>
            <a:prstDash val="solid"/>
          </a:ln>
        </p:spPr>
      </p:sp>
      <p:sp>
        <p:nvSpPr>
          <p:cNvPr id="16" name="Text 14"/>
          <p:cNvSpPr/>
          <p:nvPr/>
        </p:nvSpPr>
        <p:spPr>
          <a:xfrm>
            <a:off x="3520440" y="2011680"/>
            <a:ext cx="2011680" cy="228600"/>
          </a:xfrm>
          <a:prstGeom prst="rect">
            <a:avLst/>
          </a:prstGeom>
          <a:noFill/>
          <a:ln/>
        </p:spPr>
        <p:txBody>
          <a:bodyPr wrap="square" lIns="0" tIns="0" rIns="0" bIns="0" rtlCol="0" anchor="ctr">
            <a:normAutofit/>
          </a:bodyPr>
          <a:lstStyle/>
          <a:p>
            <a:pPr algn="ctr" indent="0" marL="0">
              <a:buNone/>
            </a:pPr>
            <a:r>
              <a:rPr lang="en-US" sz="1500" b="1" dirty="0">
                <a:solidFill>
                  <a:srgbClr val="0A9B9B"/>
                </a:solidFill>
              </a:rPr>
              <a:t>API</a:t>
            </a:r>
            <a:endParaRPr lang="en-US" sz="1500" dirty="0"/>
          </a:p>
        </p:txBody>
      </p:sp>
      <p:sp>
        <p:nvSpPr>
          <p:cNvPr id="17" name="Text 15"/>
          <p:cNvSpPr/>
          <p:nvPr/>
        </p:nvSpPr>
        <p:spPr>
          <a:xfrm>
            <a:off x="3520440" y="2359152"/>
            <a:ext cx="2011680" cy="228600"/>
          </a:xfrm>
          <a:prstGeom prst="rect">
            <a:avLst/>
          </a:prstGeom>
          <a:noFill/>
          <a:ln/>
        </p:spPr>
        <p:txBody>
          <a:bodyPr wrap="square" lIns="0" tIns="0" rIns="0" bIns="0" rtlCol="0" anchor="ctr">
            <a:normAutofit/>
          </a:bodyPr>
          <a:lstStyle/>
          <a:p>
            <a:pPr algn="ctr" indent="0" marL="0">
              <a:buNone/>
            </a:pPr>
            <a:r>
              <a:rPr lang="en-US" sz="1050" dirty="0">
                <a:solidFill>
                  <a:srgbClr val="617184"/>
                </a:solidFill>
              </a:rPr>
              <a:t>explicit contract</a:t>
            </a:r>
            <a:endParaRPr lang="en-US" sz="1050" dirty="0"/>
          </a:p>
        </p:txBody>
      </p:sp>
      <p:sp>
        <p:nvSpPr>
          <p:cNvPr id="18" name="Shape 16"/>
          <p:cNvSpPr/>
          <p:nvPr/>
        </p:nvSpPr>
        <p:spPr>
          <a:xfrm>
            <a:off x="6446520" y="1828800"/>
            <a:ext cx="2286000" cy="1005840"/>
          </a:xfrm>
          <a:prstGeom prst="roundRect">
            <a:avLst>
              <a:gd name="adj" fmla="val 7273"/>
            </a:avLst>
          </a:prstGeom>
          <a:solidFill>
            <a:srgbClr val="FFFFFF"/>
          </a:solidFill>
          <a:ln w="20320">
            <a:solidFill>
              <a:srgbClr val="25A9C7"/>
            </a:solidFill>
            <a:prstDash val="solid"/>
          </a:ln>
        </p:spPr>
      </p:sp>
      <p:sp>
        <p:nvSpPr>
          <p:cNvPr id="19" name="Text 17"/>
          <p:cNvSpPr/>
          <p:nvPr/>
        </p:nvSpPr>
        <p:spPr>
          <a:xfrm>
            <a:off x="6583680" y="2011680"/>
            <a:ext cx="2011680" cy="228600"/>
          </a:xfrm>
          <a:prstGeom prst="rect">
            <a:avLst/>
          </a:prstGeom>
          <a:noFill/>
          <a:ln/>
        </p:spPr>
        <p:txBody>
          <a:bodyPr wrap="square" lIns="0" tIns="0" rIns="0" bIns="0" rtlCol="0" anchor="ctr">
            <a:normAutofit/>
          </a:bodyPr>
          <a:lstStyle/>
          <a:p>
            <a:pPr algn="ctr" indent="0" marL="0">
              <a:buNone/>
            </a:pPr>
            <a:r>
              <a:rPr lang="en-US" sz="1500" b="1" dirty="0">
                <a:solidFill>
                  <a:srgbClr val="25A9C7"/>
                </a:solidFill>
              </a:rPr>
              <a:t>MCP</a:t>
            </a:r>
            <a:endParaRPr lang="en-US" sz="1500" dirty="0"/>
          </a:p>
        </p:txBody>
      </p:sp>
      <p:sp>
        <p:nvSpPr>
          <p:cNvPr id="20" name="Text 18"/>
          <p:cNvSpPr/>
          <p:nvPr/>
        </p:nvSpPr>
        <p:spPr>
          <a:xfrm>
            <a:off x="6583680" y="2359152"/>
            <a:ext cx="2011680" cy="228600"/>
          </a:xfrm>
          <a:prstGeom prst="rect">
            <a:avLst/>
          </a:prstGeom>
          <a:noFill/>
          <a:ln/>
        </p:spPr>
        <p:txBody>
          <a:bodyPr wrap="square" lIns="0" tIns="0" rIns="0" bIns="0" rtlCol="0" anchor="ctr">
            <a:normAutofit/>
          </a:bodyPr>
          <a:lstStyle/>
          <a:p>
            <a:pPr algn="ctr" indent="0" marL="0">
              <a:buNone/>
            </a:pPr>
            <a:r>
              <a:rPr lang="en-US" sz="1050" dirty="0">
                <a:solidFill>
                  <a:srgbClr val="617184"/>
                </a:solidFill>
              </a:rPr>
              <a:t>capability bridge</a:t>
            </a:r>
            <a:endParaRPr lang="en-US" sz="1050" dirty="0"/>
          </a:p>
        </p:txBody>
      </p:sp>
      <p:sp>
        <p:nvSpPr>
          <p:cNvPr id="21" name="Shape 19"/>
          <p:cNvSpPr/>
          <p:nvPr/>
        </p:nvSpPr>
        <p:spPr>
          <a:xfrm>
            <a:off x="9281160" y="1828800"/>
            <a:ext cx="2286000" cy="1005840"/>
          </a:xfrm>
          <a:prstGeom prst="roundRect">
            <a:avLst>
              <a:gd name="adj" fmla="val 7273"/>
            </a:avLst>
          </a:prstGeom>
          <a:solidFill>
            <a:srgbClr val="FFFFFF"/>
          </a:solidFill>
          <a:ln w="20320">
            <a:solidFill>
              <a:srgbClr val="446CA8"/>
            </a:solidFill>
            <a:prstDash val="solid"/>
          </a:ln>
        </p:spPr>
      </p:sp>
      <p:sp>
        <p:nvSpPr>
          <p:cNvPr id="22" name="Text 20"/>
          <p:cNvSpPr/>
          <p:nvPr/>
        </p:nvSpPr>
        <p:spPr>
          <a:xfrm>
            <a:off x="9418320" y="2011680"/>
            <a:ext cx="2011680" cy="228600"/>
          </a:xfrm>
          <a:prstGeom prst="rect">
            <a:avLst/>
          </a:prstGeom>
          <a:noFill/>
          <a:ln/>
        </p:spPr>
        <p:txBody>
          <a:bodyPr wrap="square" lIns="0" tIns="0" rIns="0" bIns="0" rtlCol="0" anchor="ctr">
            <a:normAutofit/>
          </a:bodyPr>
          <a:lstStyle/>
          <a:p>
            <a:pPr algn="ctr" indent="0" marL="0">
              <a:buNone/>
            </a:pPr>
            <a:r>
              <a:rPr lang="en-US" sz="1500" b="1" dirty="0">
                <a:solidFill>
                  <a:srgbClr val="446CA8"/>
                </a:solidFill>
              </a:rPr>
              <a:t>A2A</a:t>
            </a:r>
            <a:endParaRPr lang="en-US" sz="1500" dirty="0"/>
          </a:p>
        </p:txBody>
      </p:sp>
      <p:sp>
        <p:nvSpPr>
          <p:cNvPr id="23" name="Text 21"/>
          <p:cNvSpPr/>
          <p:nvPr/>
        </p:nvSpPr>
        <p:spPr>
          <a:xfrm>
            <a:off x="9418320" y="2359152"/>
            <a:ext cx="2011680" cy="228600"/>
          </a:xfrm>
          <a:prstGeom prst="rect">
            <a:avLst/>
          </a:prstGeom>
          <a:noFill/>
          <a:ln/>
        </p:spPr>
        <p:txBody>
          <a:bodyPr wrap="square" lIns="0" tIns="0" rIns="0" bIns="0" rtlCol="0" anchor="ctr">
            <a:normAutofit/>
          </a:bodyPr>
          <a:lstStyle/>
          <a:p>
            <a:pPr algn="ctr" indent="0" marL="0">
              <a:buNone/>
            </a:pPr>
            <a:r>
              <a:rPr lang="en-US" sz="1050" dirty="0">
                <a:solidFill>
                  <a:srgbClr val="617184"/>
                </a:solidFill>
              </a:rPr>
              <a:t>peer collaboration</a:t>
            </a:r>
            <a:endParaRPr lang="en-US" sz="1050" dirty="0"/>
          </a:p>
        </p:txBody>
      </p:sp>
      <p:sp>
        <p:nvSpPr>
          <p:cNvPr id="24" name="Shape 22"/>
          <p:cNvSpPr/>
          <p:nvPr/>
        </p:nvSpPr>
        <p:spPr>
          <a:xfrm>
            <a:off x="640080" y="3657600"/>
            <a:ext cx="3291840" cy="1143000"/>
          </a:xfrm>
          <a:prstGeom prst="roundRect">
            <a:avLst>
              <a:gd name="adj" fmla="val 4000"/>
            </a:avLst>
          </a:prstGeom>
          <a:solidFill>
            <a:srgbClr val="F7FBFE"/>
          </a:solidFill>
          <a:ln w="12700">
            <a:solidFill>
              <a:srgbClr val="0A9B9B"/>
            </a:solidFill>
            <a:prstDash val="solid"/>
          </a:ln>
        </p:spPr>
      </p:sp>
      <p:sp>
        <p:nvSpPr>
          <p:cNvPr id="25" name="Shape 23"/>
          <p:cNvSpPr/>
          <p:nvPr/>
        </p:nvSpPr>
        <p:spPr>
          <a:xfrm>
            <a:off x="640080" y="3657600"/>
            <a:ext cx="73152" cy="1143000"/>
          </a:xfrm>
          <a:prstGeom prst="rect">
            <a:avLst/>
          </a:prstGeom>
          <a:solidFill>
            <a:srgbClr val="0A9B9B"/>
          </a:solidFill>
          <a:ln w="12700">
            <a:solidFill>
              <a:srgbClr val="0A9B9B"/>
            </a:solidFill>
            <a:prstDash val="solid"/>
          </a:ln>
        </p:spPr>
      </p:sp>
      <p:sp>
        <p:nvSpPr>
          <p:cNvPr id="26" name="Text 24"/>
          <p:cNvSpPr/>
          <p:nvPr/>
        </p:nvSpPr>
        <p:spPr>
          <a:xfrm>
            <a:off x="804672" y="3785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APIs answer “how do I invoke a known capability?”</a:t>
            </a:r>
            <a:endParaRPr lang="en-US" sz="1300" dirty="0"/>
          </a:p>
        </p:txBody>
      </p:sp>
      <p:sp>
        <p:nvSpPr>
          <p:cNvPr id="27" name="Text 25"/>
          <p:cNvSpPr/>
          <p:nvPr/>
        </p:nvSpPr>
        <p:spPr>
          <a:xfrm>
            <a:off x="804672" y="4114800"/>
            <a:ext cx="3035808" cy="57607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The capability is known upfront, inputs/outputs are controlled, and the caller owns sequencing.</a:t>
            </a:r>
            <a:endParaRPr lang="en-US" sz="1100" dirty="0"/>
          </a:p>
        </p:txBody>
      </p:sp>
      <p:sp>
        <p:nvSpPr>
          <p:cNvPr id="28" name="Shape 26"/>
          <p:cNvSpPr/>
          <p:nvPr/>
        </p:nvSpPr>
        <p:spPr>
          <a:xfrm>
            <a:off x="4434840" y="3657600"/>
            <a:ext cx="3291840" cy="1143000"/>
          </a:xfrm>
          <a:prstGeom prst="roundRect">
            <a:avLst>
              <a:gd name="adj" fmla="val 4000"/>
            </a:avLst>
          </a:prstGeom>
          <a:solidFill>
            <a:srgbClr val="F7FBFE"/>
          </a:solidFill>
          <a:ln w="12700">
            <a:solidFill>
              <a:srgbClr val="25A9C7"/>
            </a:solidFill>
            <a:prstDash val="solid"/>
          </a:ln>
        </p:spPr>
      </p:sp>
      <p:sp>
        <p:nvSpPr>
          <p:cNvPr id="29" name="Shape 27"/>
          <p:cNvSpPr/>
          <p:nvPr/>
        </p:nvSpPr>
        <p:spPr>
          <a:xfrm>
            <a:off x="4434840" y="3657600"/>
            <a:ext cx="73152" cy="1143000"/>
          </a:xfrm>
          <a:prstGeom prst="rect">
            <a:avLst/>
          </a:prstGeom>
          <a:solidFill>
            <a:srgbClr val="25A9C7"/>
          </a:solidFill>
          <a:ln w="12700">
            <a:solidFill>
              <a:srgbClr val="25A9C7"/>
            </a:solidFill>
            <a:prstDash val="solid"/>
          </a:ln>
        </p:spPr>
      </p:sp>
      <p:sp>
        <p:nvSpPr>
          <p:cNvPr id="30" name="Text 28"/>
          <p:cNvSpPr/>
          <p:nvPr/>
        </p:nvSpPr>
        <p:spPr>
          <a:xfrm>
            <a:off x="4599432" y="3785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MCP answers “how can an AI system discover and use tools/context?”</a:t>
            </a:r>
            <a:endParaRPr lang="en-US" sz="1300" dirty="0"/>
          </a:p>
        </p:txBody>
      </p:sp>
      <p:sp>
        <p:nvSpPr>
          <p:cNvPr id="31" name="Text 29"/>
          <p:cNvSpPr/>
          <p:nvPr/>
        </p:nvSpPr>
        <p:spPr>
          <a:xfrm>
            <a:off x="4599432" y="4114800"/>
            <a:ext cx="3035808" cy="57607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The model selects from discoverable tools/resources/prompts exposed by servers.</a:t>
            </a:r>
            <a:endParaRPr lang="en-US" sz="1100" dirty="0"/>
          </a:p>
        </p:txBody>
      </p:sp>
      <p:sp>
        <p:nvSpPr>
          <p:cNvPr id="32" name="Shape 30"/>
          <p:cNvSpPr/>
          <p:nvPr/>
        </p:nvSpPr>
        <p:spPr>
          <a:xfrm>
            <a:off x="8229600" y="3657600"/>
            <a:ext cx="3291840" cy="1143000"/>
          </a:xfrm>
          <a:prstGeom prst="roundRect">
            <a:avLst>
              <a:gd name="adj" fmla="val 4000"/>
            </a:avLst>
          </a:prstGeom>
          <a:solidFill>
            <a:srgbClr val="F7FBFE"/>
          </a:solidFill>
          <a:ln w="12700">
            <a:solidFill>
              <a:srgbClr val="446CA8"/>
            </a:solidFill>
            <a:prstDash val="solid"/>
          </a:ln>
        </p:spPr>
      </p:sp>
      <p:sp>
        <p:nvSpPr>
          <p:cNvPr id="33" name="Shape 31"/>
          <p:cNvSpPr/>
          <p:nvPr/>
        </p:nvSpPr>
        <p:spPr>
          <a:xfrm>
            <a:off x="8229600" y="3657600"/>
            <a:ext cx="73152" cy="1143000"/>
          </a:xfrm>
          <a:prstGeom prst="rect">
            <a:avLst/>
          </a:prstGeom>
          <a:solidFill>
            <a:srgbClr val="446CA8"/>
          </a:solidFill>
          <a:ln w="12700">
            <a:solidFill>
              <a:srgbClr val="446CA8"/>
            </a:solidFill>
            <a:prstDash val="solid"/>
          </a:ln>
        </p:spPr>
      </p:sp>
      <p:sp>
        <p:nvSpPr>
          <p:cNvPr id="34" name="Text 32"/>
          <p:cNvSpPr/>
          <p:nvPr/>
        </p:nvSpPr>
        <p:spPr>
          <a:xfrm>
            <a:off x="8394192" y="3785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A2A answers “how do independent agents work together?”</a:t>
            </a:r>
            <a:endParaRPr lang="en-US" sz="1300" dirty="0"/>
          </a:p>
        </p:txBody>
      </p:sp>
      <p:sp>
        <p:nvSpPr>
          <p:cNvPr id="35" name="Text 33"/>
          <p:cNvSpPr/>
          <p:nvPr/>
        </p:nvSpPr>
        <p:spPr>
          <a:xfrm>
            <a:off x="8394192" y="4114800"/>
            <a:ext cx="3035808" cy="57607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Agents exchange tasks, messages, status, and artifacts without exposing internals.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F79B7"/>
          </a:solidFill>
          <a:ln w="12700">
            <a:solidFill>
              <a:srgbClr val="2F79B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F79B7"/>
                </a:solidFill>
                <a:latin typeface="Aptos" pitchFamily="34" charset="0"/>
                <a:ea typeface="Aptos" pitchFamily="34" charset="-122"/>
                <a:cs typeface="Aptos" pitchFamily="34" charset="-120"/>
              </a:rPr>
              <a:t>FOUNDATIONS</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The “least powerful sufficient protocol” principle prevents over-agentic designs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05</a:t>
            </a:r>
            <a:endParaRPr lang="en-US" sz="800" dirty="0"/>
          </a:p>
        </p:txBody>
      </p:sp>
      <p:sp>
        <p:nvSpPr>
          <p:cNvPr id="9" name="Text 7"/>
          <p:cNvSpPr/>
          <p:nvPr/>
        </p:nvSpPr>
        <p:spPr>
          <a:xfrm>
            <a:off x="594360" y="1417320"/>
            <a:ext cx="2194560" cy="274320"/>
          </a:xfrm>
          <a:prstGeom prst="rect">
            <a:avLst/>
          </a:prstGeom>
          <a:noFill/>
          <a:ln/>
        </p:spPr>
        <p:txBody>
          <a:bodyPr wrap="square" lIns="0" tIns="0" rIns="0" bIns="0" rtlCol="0" anchor="ctr"/>
          <a:lstStyle/>
          <a:p>
            <a:pPr indent="0" marL="0">
              <a:buNone/>
            </a:pPr>
            <a:r>
              <a:rPr lang="en-US" sz="1600" b="1" dirty="0">
                <a:solidFill>
                  <a:srgbClr val="123452"/>
                </a:solidFill>
              </a:rPr>
              <a:t>Decision ladder</a:t>
            </a:r>
            <a:endParaRPr lang="en-US" sz="1600" dirty="0"/>
          </a:p>
        </p:txBody>
      </p:sp>
      <p:sp>
        <p:nvSpPr>
          <p:cNvPr id="10" name="Shape 8"/>
          <p:cNvSpPr/>
          <p:nvPr/>
        </p:nvSpPr>
        <p:spPr>
          <a:xfrm>
            <a:off x="658368" y="1783080"/>
            <a:ext cx="566928" cy="566928"/>
          </a:xfrm>
          <a:prstGeom prst="roundRect">
            <a:avLst>
              <a:gd name="adj" fmla="val 16129"/>
            </a:avLst>
          </a:prstGeom>
          <a:solidFill>
            <a:srgbClr val="0A9B9B"/>
          </a:solidFill>
          <a:ln w="12700">
            <a:solidFill>
              <a:srgbClr val="0A9B9B"/>
            </a:solidFill>
            <a:prstDash val="solid"/>
          </a:ln>
        </p:spPr>
      </p:sp>
      <p:sp>
        <p:nvSpPr>
          <p:cNvPr id="11" name="Text 9"/>
          <p:cNvSpPr/>
          <p:nvPr/>
        </p:nvSpPr>
        <p:spPr>
          <a:xfrm>
            <a:off x="795528" y="1892808"/>
            <a:ext cx="256032" cy="18288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2" name="Text 10"/>
          <p:cNvSpPr/>
          <p:nvPr/>
        </p:nvSpPr>
        <p:spPr>
          <a:xfrm>
            <a:off x="1417320" y="1837944"/>
            <a:ext cx="5669280" cy="201168"/>
          </a:xfrm>
          <a:prstGeom prst="rect">
            <a:avLst/>
          </a:prstGeom>
          <a:noFill/>
          <a:ln/>
        </p:spPr>
        <p:txBody>
          <a:bodyPr wrap="square" lIns="0" tIns="0" rIns="0" bIns="0" rtlCol="0" anchor="ctr">
            <a:normAutofit/>
          </a:bodyPr>
          <a:lstStyle/>
          <a:p>
            <a:pPr indent="0" marL="0">
              <a:buNone/>
            </a:pPr>
            <a:r>
              <a:rPr lang="en-US" sz="1350" b="1" dirty="0">
                <a:solidFill>
                  <a:srgbClr val="123452"/>
                </a:solidFill>
              </a:rPr>
              <a:t>Can deterministic service calls solve it?</a:t>
            </a:r>
            <a:endParaRPr lang="en-US" sz="1350" dirty="0"/>
          </a:p>
        </p:txBody>
      </p:sp>
      <p:sp>
        <p:nvSpPr>
          <p:cNvPr id="13" name="Text 11"/>
          <p:cNvSpPr/>
          <p:nvPr/>
        </p:nvSpPr>
        <p:spPr>
          <a:xfrm>
            <a:off x="1417320" y="2112264"/>
            <a:ext cx="5943600" cy="201168"/>
          </a:xfrm>
          <a:prstGeom prst="rect">
            <a:avLst/>
          </a:prstGeom>
          <a:noFill/>
          <a:ln/>
        </p:spPr>
        <p:txBody>
          <a:bodyPr wrap="square" lIns="0" tIns="0" rIns="0" bIns="0" rtlCol="0" anchor="ctr">
            <a:normAutofit/>
          </a:bodyPr>
          <a:lstStyle/>
          <a:p>
            <a:pPr indent="0" marL="0">
              <a:buNone/>
            </a:pPr>
            <a:r>
              <a:rPr lang="en-US" sz="1160" dirty="0">
                <a:solidFill>
                  <a:srgbClr val="1F2A37"/>
                </a:solidFill>
              </a:rPr>
              <a:t>Use API / OpenAPI / GraphQL / gRPC</a:t>
            </a:r>
            <a:endParaRPr lang="en-US" sz="1160" dirty="0"/>
          </a:p>
        </p:txBody>
      </p:sp>
      <p:sp>
        <p:nvSpPr>
          <p:cNvPr id="14" name="Shape 12"/>
          <p:cNvSpPr/>
          <p:nvPr/>
        </p:nvSpPr>
        <p:spPr>
          <a:xfrm>
            <a:off x="658368" y="2770632"/>
            <a:ext cx="566928" cy="566928"/>
          </a:xfrm>
          <a:prstGeom prst="roundRect">
            <a:avLst>
              <a:gd name="adj" fmla="val 16129"/>
            </a:avLst>
          </a:prstGeom>
          <a:solidFill>
            <a:srgbClr val="25A9C7"/>
          </a:solidFill>
          <a:ln w="12700">
            <a:solidFill>
              <a:srgbClr val="25A9C7"/>
            </a:solidFill>
            <a:prstDash val="solid"/>
          </a:ln>
        </p:spPr>
      </p:sp>
      <p:sp>
        <p:nvSpPr>
          <p:cNvPr id="15" name="Text 13"/>
          <p:cNvSpPr/>
          <p:nvPr/>
        </p:nvSpPr>
        <p:spPr>
          <a:xfrm>
            <a:off x="795528" y="2880360"/>
            <a:ext cx="256032" cy="18288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6" name="Text 14"/>
          <p:cNvSpPr/>
          <p:nvPr/>
        </p:nvSpPr>
        <p:spPr>
          <a:xfrm>
            <a:off x="1417320" y="2825496"/>
            <a:ext cx="5669280" cy="201168"/>
          </a:xfrm>
          <a:prstGeom prst="rect">
            <a:avLst/>
          </a:prstGeom>
          <a:noFill/>
          <a:ln/>
        </p:spPr>
        <p:txBody>
          <a:bodyPr wrap="square" lIns="0" tIns="0" rIns="0" bIns="0" rtlCol="0" anchor="ctr">
            <a:normAutofit/>
          </a:bodyPr>
          <a:lstStyle/>
          <a:p>
            <a:pPr indent="0" marL="0">
              <a:buNone/>
            </a:pPr>
            <a:r>
              <a:rPr lang="en-US" sz="1350" b="1" dirty="0">
                <a:solidFill>
                  <a:srgbClr val="123452"/>
                </a:solidFill>
              </a:rPr>
              <a:t>Does an AI app need dynamic tool/context access?</a:t>
            </a:r>
            <a:endParaRPr lang="en-US" sz="1350" dirty="0"/>
          </a:p>
        </p:txBody>
      </p:sp>
      <p:sp>
        <p:nvSpPr>
          <p:cNvPr id="17" name="Text 15"/>
          <p:cNvSpPr/>
          <p:nvPr/>
        </p:nvSpPr>
        <p:spPr>
          <a:xfrm>
            <a:off x="1417320" y="3099816"/>
            <a:ext cx="5943600" cy="201168"/>
          </a:xfrm>
          <a:prstGeom prst="rect">
            <a:avLst/>
          </a:prstGeom>
          <a:noFill/>
          <a:ln/>
        </p:spPr>
        <p:txBody>
          <a:bodyPr wrap="square" lIns="0" tIns="0" rIns="0" bIns="0" rtlCol="0" anchor="ctr">
            <a:normAutofit/>
          </a:bodyPr>
          <a:lstStyle/>
          <a:p>
            <a:pPr indent="0" marL="0">
              <a:buNone/>
            </a:pPr>
            <a:r>
              <a:rPr lang="en-US" sz="1160" dirty="0">
                <a:solidFill>
                  <a:srgbClr val="1F2A37"/>
                </a:solidFill>
              </a:rPr>
              <a:t>Expose capabilities via MCP</a:t>
            </a:r>
            <a:endParaRPr lang="en-US" sz="1160" dirty="0"/>
          </a:p>
        </p:txBody>
      </p:sp>
      <p:sp>
        <p:nvSpPr>
          <p:cNvPr id="18" name="Shape 16"/>
          <p:cNvSpPr/>
          <p:nvPr/>
        </p:nvSpPr>
        <p:spPr>
          <a:xfrm>
            <a:off x="658368" y="3758184"/>
            <a:ext cx="566928" cy="566928"/>
          </a:xfrm>
          <a:prstGeom prst="roundRect">
            <a:avLst>
              <a:gd name="adj" fmla="val 16129"/>
            </a:avLst>
          </a:prstGeom>
          <a:solidFill>
            <a:srgbClr val="446CA8"/>
          </a:solidFill>
          <a:ln w="12700">
            <a:solidFill>
              <a:srgbClr val="446CA8"/>
            </a:solidFill>
            <a:prstDash val="solid"/>
          </a:ln>
        </p:spPr>
      </p:sp>
      <p:sp>
        <p:nvSpPr>
          <p:cNvPr id="19" name="Text 17"/>
          <p:cNvSpPr/>
          <p:nvPr/>
        </p:nvSpPr>
        <p:spPr>
          <a:xfrm>
            <a:off x="795528" y="3867912"/>
            <a:ext cx="256032" cy="18288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0" name="Text 18"/>
          <p:cNvSpPr/>
          <p:nvPr/>
        </p:nvSpPr>
        <p:spPr>
          <a:xfrm>
            <a:off x="1417320" y="3813048"/>
            <a:ext cx="5669280" cy="201168"/>
          </a:xfrm>
          <a:prstGeom prst="rect">
            <a:avLst/>
          </a:prstGeom>
          <a:noFill/>
          <a:ln/>
        </p:spPr>
        <p:txBody>
          <a:bodyPr wrap="square" lIns="0" tIns="0" rIns="0" bIns="0" rtlCol="0" anchor="ctr">
            <a:normAutofit/>
          </a:bodyPr>
          <a:lstStyle/>
          <a:p>
            <a:pPr indent="0" marL="0">
              <a:buNone/>
            </a:pPr>
            <a:r>
              <a:rPr lang="en-US" sz="1350" b="1" dirty="0">
                <a:solidFill>
                  <a:srgbClr val="123452"/>
                </a:solidFill>
              </a:rPr>
              <a:t>Must independent agents coordinate stateful work?</a:t>
            </a:r>
            <a:endParaRPr lang="en-US" sz="1350" dirty="0"/>
          </a:p>
        </p:txBody>
      </p:sp>
      <p:sp>
        <p:nvSpPr>
          <p:cNvPr id="21" name="Text 19"/>
          <p:cNvSpPr/>
          <p:nvPr/>
        </p:nvSpPr>
        <p:spPr>
          <a:xfrm>
            <a:off x="1417320" y="4087368"/>
            <a:ext cx="5943600" cy="201168"/>
          </a:xfrm>
          <a:prstGeom prst="rect">
            <a:avLst/>
          </a:prstGeom>
          <a:noFill/>
          <a:ln/>
        </p:spPr>
        <p:txBody>
          <a:bodyPr wrap="square" lIns="0" tIns="0" rIns="0" bIns="0" rtlCol="0" anchor="ctr">
            <a:normAutofit/>
          </a:bodyPr>
          <a:lstStyle/>
          <a:p>
            <a:pPr indent="0" marL="0">
              <a:buNone/>
            </a:pPr>
            <a:r>
              <a:rPr lang="en-US" sz="1160" dirty="0">
                <a:solidFill>
                  <a:srgbClr val="1F2A37"/>
                </a:solidFill>
              </a:rPr>
              <a:t>Use A2A for collaboration</a:t>
            </a:r>
            <a:endParaRPr lang="en-US" sz="1160" dirty="0"/>
          </a:p>
        </p:txBody>
      </p:sp>
      <p:sp>
        <p:nvSpPr>
          <p:cNvPr id="22" name="Shape 20"/>
          <p:cNvSpPr/>
          <p:nvPr/>
        </p:nvSpPr>
        <p:spPr>
          <a:xfrm>
            <a:off x="658368" y="4745736"/>
            <a:ext cx="566928" cy="566928"/>
          </a:xfrm>
          <a:prstGeom prst="roundRect">
            <a:avLst>
              <a:gd name="adj" fmla="val 16129"/>
            </a:avLst>
          </a:prstGeom>
          <a:solidFill>
            <a:srgbClr val="D99A3D"/>
          </a:solidFill>
          <a:ln w="12700">
            <a:solidFill>
              <a:srgbClr val="D99A3D"/>
            </a:solidFill>
            <a:prstDash val="solid"/>
          </a:ln>
        </p:spPr>
      </p:sp>
      <p:sp>
        <p:nvSpPr>
          <p:cNvPr id="23" name="Text 21"/>
          <p:cNvSpPr/>
          <p:nvPr/>
        </p:nvSpPr>
        <p:spPr>
          <a:xfrm>
            <a:off x="795528" y="4855464"/>
            <a:ext cx="256032" cy="18288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4" name="Text 22"/>
          <p:cNvSpPr/>
          <p:nvPr/>
        </p:nvSpPr>
        <p:spPr>
          <a:xfrm>
            <a:off x="1417320" y="4800600"/>
            <a:ext cx="5669280" cy="201168"/>
          </a:xfrm>
          <a:prstGeom prst="rect">
            <a:avLst/>
          </a:prstGeom>
          <a:noFill/>
          <a:ln/>
        </p:spPr>
        <p:txBody>
          <a:bodyPr wrap="square" lIns="0" tIns="0" rIns="0" bIns="0" rtlCol="0" anchor="ctr">
            <a:normAutofit/>
          </a:bodyPr>
          <a:lstStyle/>
          <a:p>
            <a:pPr indent="0" marL="0">
              <a:buNone/>
            </a:pPr>
            <a:r>
              <a:rPr lang="en-US" sz="1350" b="1" dirty="0">
                <a:solidFill>
                  <a:srgbClr val="123452"/>
                </a:solidFill>
              </a:rPr>
              <a:t>Do multiple layers coexist?</a:t>
            </a:r>
            <a:endParaRPr lang="en-US" sz="1350" dirty="0"/>
          </a:p>
        </p:txBody>
      </p:sp>
      <p:sp>
        <p:nvSpPr>
          <p:cNvPr id="25" name="Text 23"/>
          <p:cNvSpPr/>
          <p:nvPr/>
        </p:nvSpPr>
        <p:spPr>
          <a:xfrm>
            <a:off x="1417320" y="5074920"/>
            <a:ext cx="5943600" cy="201168"/>
          </a:xfrm>
          <a:prstGeom prst="rect">
            <a:avLst/>
          </a:prstGeom>
          <a:noFill/>
          <a:ln/>
        </p:spPr>
        <p:txBody>
          <a:bodyPr wrap="square" lIns="0" tIns="0" rIns="0" bIns="0" rtlCol="0" anchor="ctr">
            <a:normAutofit/>
          </a:bodyPr>
          <a:lstStyle/>
          <a:p>
            <a:pPr indent="0" marL="0">
              <a:buNone/>
            </a:pPr>
            <a:r>
              <a:rPr lang="en-US" sz="1160" dirty="0">
                <a:solidFill>
                  <a:srgbClr val="1F2A37"/>
                </a:solidFill>
              </a:rPr>
              <a:t>Hybrid: A2A between agents, MCP inside agents, APIs under tools</a:t>
            </a:r>
            <a:endParaRPr lang="en-US" sz="1160" dirty="0"/>
          </a:p>
        </p:txBody>
      </p:sp>
      <p:sp>
        <p:nvSpPr>
          <p:cNvPr id="26" name="Shape 24"/>
          <p:cNvSpPr/>
          <p:nvPr/>
        </p:nvSpPr>
        <p:spPr>
          <a:xfrm>
            <a:off x="7973568" y="1417320"/>
            <a:ext cx="3246120" cy="1874520"/>
          </a:xfrm>
          <a:prstGeom prst="roundRect">
            <a:avLst>
              <a:gd name="adj" fmla="val 2439"/>
            </a:avLst>
          </a:prstGeom>
          <a:solidFill>
            <a:srgbClr val="F7FBFE"/>
          </a:solidFill>
          <a:ln w="12700">
            <a:solidFill>
              <a:srgbClr val="B65F62"/>
            </a:solidFill>
            <a:prstDash val="solid"/>
          </a:ln>
        </p:spPr>
      </p:sp>
      <p:sp>
        <p:nvSpPr>
          <p:cNvPr id="27" name="Shape 25"/>
          <p:cNvSpPr/>
          <p:nvPr/>
        </p:nvSpPr>
        <p:spPr>
          <a:xfrm>
            <a:off x="7973568" y="1417320"/>
            <a:ext cx="73152" cy="1874520"/>
          </a:xfrm>
          <a:prstGeom prst="rect">
            <a:avLst/>
          </a:prstGeom>
          <a:solidFill>
            <a:srgbClr val="B65F62"/>
          </a:solidFill>
          <a:ln w="12700">
            <a:solidFill>
              <a:srgbClr val="B65F62"/>
            </a:solidFill>
            <a:prstDash val="solid"/>
          </a:ln>
        </p:spPr>
      </p:sp>
      <p:sp>
        <p:nvSpPr>
          <p:cNvPr id="28" name="Text 26"/>
          <p:cNvSpPr/>
          <p:nvPr/>
        </p:nvSpPr>
        <p:spPr>
          <a:xfrm>
            <a:off x="8138160" y="1545336"/>
            <a:ext cx="2990088" cy="228600"/>
          </a:xfrm>
          <a:prstGeom prst="rect">
            <a:avLst/>
          </a:prstGeom>
          <a:noFill/>
          <a:ln/>
        </p:spPr>
        <p:txBody>
          <a:bodyPr wrap="square" lIns="0" tIns="0" rIns="0" bIns="0" rtlCol="0" anchor="ctr">
            <a:normAutofit/>
          </a:bodyPr>
          <a:lstStyle/>
          <a:p>
            <a:pPr indent="0" marL="0">
              <a:buNone/>
            </a:pPr>
            <a:r>
              <a:rPr lang="en-US" sz="1300" b="1" dirty="0">
                <a:solidFill>
                  <a:srgbClr val="B65F62"/>
                </a:solidFill>
              </a:rPr>
              <a:t>Why this matters</a:t>
            </a:r>
            <a:endParaRPr lang="en-US" sz="1300" dirty="0"/>
          </a:p>
        </p:txBody>
      </p:sp>
      <p:sp>
        <p:nvSpPr>
          <p:cNvPr id="29" name="Text 27"/>
          <p:cNvSpPr/>
          <p:nvPr/>
        </p:nvSpPr>
        <p:spPr>
          <a:xfrm>
            <a:off x="8138160" y="1874520"/>
            <a:ext cx="2990088" cy="1307592"/>
          </a:xfrm>
          <a:prstGeom prst="rect">
            <a:avLst/>
          </a:prstGeom>
          <a:noFill/>
          <a:ln/>
        </p:spPr>
        <p:txBody>
          <a:bodyPr wrap="square" lIns="254" tIns="254" rIns="254" bIns="254" rtlCol="0" anchor="t">
            <a:normAutofit/>
          </a:bodyPr>
          <a:lstStyle/>
          <a:p>
            <a:pPr indent="0" marL="0">
              <a:buNone/>
            </a:pPr>
            <a:r>
              <a:rPr lang="en-US" sz="1150" dirty="0">
                <a:solidFill>
                  <a:srgbClr val="1F2A37"/>
                </a:solidFill>
              </a:rPr>
              <a:t>Every step up the ladder adds autonomy, ambiguity, runtime variability, and audit burden. Use A2A only when collaboration semantics matter—not simply because the word “agent” appears.</a:t>
            </a:r>
            <a:endParaRPr lang="en-US" sz="1150" dirty="0"/>
          </a:p>
        </p:txBody>
      </p:sp>
      <p:sp>
        <p:nvSpPr>
          <p:cNvPr id="30" name="Shape 28"/>
          <p:cNvSpPr/>
          <p:nvPr/>
        </p:nvSpPr>
        <p:spPr>
          <a:xfrm>
            <a:off x="7973568" y="3749040"/>
            <a:ext cx="3246120" cy="1234440"/>
          </a:xfrm>
          <a:prstGeom prst="roundRect">
            <a:avLst>
              <a:gd name="adj" fmla="val 3704"/>
            </a:avLst>
          </a:prstGeom>
          <a:solidFill>
            <a:srgbClr val="F7FBFE"/>
          </a:solidFill>
          <a:ln w="12700">
            <a:solidFill>
              <a:srgbClr val="D99A3D"/>
            </a:solidFill>
            <a:prstDash val="solid"/>
          </a:ln>
        </p:spPr>
      </p:sp>
      <p:sp>
        <p:nvSpPr>
          <p:cNvPr id="31" name="Shape 29"/>
          <p:cNvSpPr/>
          <p:nvPr/>
        </p:nvSpPr>
        <p:spPr>
          <a:xfrm>
            <a:off x="7973568" y="3749040"/>
            <a:ext cx="73152" cy="1234440"/>
          </a:xfrm>
          <a:prstGeom prst="rect">
            <a:avLst/>
          </a:prstGeom>
          <a:solidFill>
            <a:srgbClr val="D99A3D"/>
          </a:solidFill>
          <a:ln w="12700">
            <a:solidFill>
              <a:srgbClr val="D99A3D"/>
            </a:solidFill>
            <a:prstDash val="solid"/>
          </a:ln>
        </p:spPr>
      </p:sp>
      <p:sp>
        <p:nvSpPr>
          <p:cNvPr id="32" name="Text 30"/>
          <p:cNvSpPr/>
          <p:nvPr/>
        </p:nvSpPr>
        <p:spPr>
          <a:xfrm>
            <a:off x="8138160" y="3877056"/>
            <a:ext cx="2990088" cy="228600"/>
          </a:xfrm>
          <a:prstGeom prst="rect">
            <a:avLst/>
          </a:prstGeom>
          <a:noFill/>
          <a:ln/>
        </p:spPr>
        <p:txBody>
          <a:bodyPr wrap="square" lIns="0" tIns="0" rIns="0" bIns="0" rtlCol="0" anchor="ctr">
            <a:normAutofit/>
          </a:bodyPr>
          <a:lstStyle/>
          <a:p>
            <a:pPr indent="0" marL="0">
              <a:buNone/>
            </a:pPr>
            <a:r>
              <a:rPr lang="en-US" sz="1300" b="1" dirty="0">
                <a:solidFill>
                  <a:srgbClr val="D99A3D"/>
                </a:solidFill>
              </a:rPr>
              <a:t>Architecture smell</a:t>
            </a:r>
            <a:endParaRPr lang="en-US" sz="1300" dirty="0"/>
          </a:p>
        </p:txBody>
      </p:sp>
      <p:sp>
        <p:nvSpPr>
          <p:cNvPr id="33" name="Text 31"/>
          <p:cNvSpPr/>
          <p:nvPr/>
        </p:nvSpPr>
        <p:spPr>
          <a:xfrm>
            <a:off x="8138160" y="4206240"/>
            <a:ext cx="2990088" cy="667512"/>
          </a:xfrm>
          <a:prstGeom prst="rect">
            <a:avLst/>
          </a:prstGeom>
          <a:noFill/>
          <a:ln/>
        </p:spPr>
        <p:txBody>
          <a:bodyPr wrap="square" lIns="254" tIns="254" rIns="254" bIns="254" rtlCol="0" anchor="t">
            <a:normAutofit/>
          </a:bodyPr>
          <a:lstStyle/>
          <a:p>
            <a:pPr indent="0" marL="0">
              <a:buNone/>
            </a:pPr>
            <a:r>
              <a:rPr lang="en-US" sz="1150" dirty="0">
                <a:solidFill>
                  <a:srgbClr val="1F2A37"/>
                </a:solidFill>
              </a:rPr>
              <a:t>A single backend service wrapped as an “agent” with no negotiation, memory, or stateful collaboration is usually just an API.</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F79B7"/>
          </a:solidFill>
          <a:ln w="12700">
            <a:solidFill>
              <a:srgbClr val="2F79B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F79B7"/>
                </a:solidFill>
                <a:latin typeface="Aptos" pitchFamily="34" charset="0"/>
                <a:ea typeface="Aptos" pitchFamily="34" charset="-122"/>
                <a:cs typeface="Aptos" pitchFamily="34" charset="-120"/>
              </a:rPr>
              <a:t>FOUNDATIONS</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Use one business workflow throughout the session to make trade-offs concrete</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06</a:t>
            </a:r>
            <a:endParaRPr lang="en-US" sz="800" dirty="0"/>
          </a:p>
        </p:txBody>
      </p:sp>
      <p:sp>
        <p:nvSpPr>
          <p:cNvPr id="9" name="Text 7"/>
          <p:cNvSpPr/>
          <p:nvPr/>
        </p:nvSpPr>
        <p:spPr>
          <a:xfrm>
            <a:off x="658368" y="1417320"/>
            <a:ext cx="4937760" cy="274320"/>
          </a:xfrm>
          <a:prstGeom prst="rect">
            <a:avLst/>
          </a:prstGeom>
          <a:noFill/>
          <a:ln/>
        </p:spPr>
        <p:txBody>
          <a:bodyPr wrap="square" lIns="0" tIns="0" rIns="0" bIns="0" rtlCol="0" anchor="ctr"/>
          <a:lstStyle/>
          <a:p>
            <a:pPr indent="0" marL="0">
              <a:buNone/>
            </a:pPr>
            <a:r>
              <a:rPr lang="en-US" sz="1800" b="1" dirty="0">
                <a:solidFill>
                  <a:srgbClr val="123452"/>
                </a:solidFill>
              </a:rPr>
              <a:t>Demo scenario: customer renewal triage</a:t>
            </a:r>
            <a:endParaRPr lang="en-US" sz="1800" dirty="0"/>
          </a:p>
        </p:txBody>
      </p:sp>
      <p:sp>
        <p:nvSpPr>
          <p:cNvPr id="10" name="Text 8"/>
          <p:cNvSpPr/>
          <p:nvPr/>
        </p:nvSpPr>
        <p:spPr>
          <a:xfrm>
            <a:off x="749808" y="1847088"/>
            <a:ext cx="5486400" cy="1920240"/>
          </a:xfrm>
          <a:prstGeom prst="rect">
            <a:avLst/>
          </a:prstGeom>
          <a:noFill/>
          <a:ln/>
        </p:spPr>
        <p:txBody>
          <a:bodyPr wrap="square" lIns="508" tIns="508" rIns="508" bIns="508" rtlCol="0" anchor="t">
            <a:normAutofit/>
          </a:bodyPr>
          <a:lstStyle/>
          <a:p>
            <a:r>
              <a:rPr lang="en-US" sz="1350" dirty="0">
                <a:solidFill>
                  <a:srgbClr val="1F2A37"/>
                </a:solidFill>
              </a:rPr>
              <a:t>Input: a customer account, renewal date, usage metrics, support history, and contract notes</a:t>
            </a:r>
            <a:endParaRPr lang="en-US" sz="1350" dirty="0"/>
          </a:p>
          <a:p>
            <a:r>
              <a:rPr lang="en-US" sz="1350" dirty="0">
                <a:solidFill>
                  <a:srgbClr val="1F2A37"/>
                </a:solidFill>
              </a:rPr>
              <a:t>Outcome: a risk score, recommended next action, drafted customer note, and evidence trail</a:t>
            </a:r>
            <a:endParaRPr lang="en-US" sz="1350" dirty="0"/>
          </a:p>
          <a:p>
            <a:r>
              <a:rPr lang="en-US" sz="1350" dirty="0">
                <a:solidFill>
                  <a:srgbClr val="1F2A37"/>
                </a:solidFill>
              </a:rPr>
              <a:t>Same domain data; three ways to connect capability surfaces</a:t>
            </a:r>
            <a:endParaRPr lang="en-US" sz="1350" dirty="0"/>
          </a:p>
          <a:p>
            <a:r>
              <a:rPr lang="en-US" sz="1350" dirty="0">
                <a:solidFill>
                  <a:srgbClr val="1F2A37"/>
                </a:solidFill>
              </a:rPr>
              <a:t>Demo deliberately avoids code on slides—participants inspect local directory and behavior</a:t>
            </a:r>
            <a:endParaRPr lang="en-US" sz="1350" dirty="0"/>
          </a:p>
        </p:txBody>
      </p:sp>
      <p:sp>
        <p:nvSpPr>
          <p:cNvPr id="11" name="Shape 9"/>
          <p:cNvSpPr/>
          <p:nvPr/>
        </p:nvSpPr>
        <p:spPr>
          <a:xfrm>
            <a:off x="6583680" y="1508760"/>
            <a:ext cx="1828800" cy="594360"/>
          </a:xfrm>
          <a:prstGeom prst="roundRect">
            <a:avLst>
              <a:gd name="adj" fmla="val 9231"/>
            </a:avLst>
          </a:prstGeom>
          <a:solidFill>
            <a:srgbClr val="FFFFFF"/>
          </a:solidFill>
          <a:ln w="16510">
            <a:solidFill>
              <a:srgbClr val="0A9B9B"/>
            </a:solidFill>
            <a:prstDash val="solid"/>
          </a:ln>
        </p:spPr>
      </p:sp>
      <p:sp>
        <p:nvSpPr>
          <p:cNvPr id="12" name="Text 10"/>
          <p:cNvSpPr/>
          <p:nvPr/>
        </p:nvSpPr>
        <p:spPr>
          <a:xfrm>
            <a:off x="6675120" y="1709928"/>
            <a:ext cx="1645920" cy="164592"/>
          </a:xfrm>
          <a:prstGeom prst="rect">
            <a:avLst/>
          </a:prstGeom>
          <a:noFill/>
          <a:ln/>
        </p:spPr>
        <p:txBody>
          <a:bodyPr wrap="square" lIns="0" tIns="0" rIns="0" bIns="0" rtlCol="0" anchor="ctr">
            <a:normAutofit/>
          </a:bodyPr>
          <a:lstStyle/>
          <a:p>
            <a:pPr algn="ctr" indent="0" marL="0">
              <a:buNone/>
            </a:pPr>
            <a:r>
              <a:rPr lang="en-US" sz="1100" b="1" dirty="0">
                <a:solidFill>
                  <a:srgbClr val="0A9B9B"/>
                </a:solidFill>
              </a:rPr>
              <a:t>CRM API</a:t>
            </a:r>
            <a:endParaRPr lang="en-US" sz="1100" dirty="0"/>
          </a:p>
        </p:txBody>
      </p:sp>
      <p:sp>
        <p:nvSpPr>
          <p:cNvPr id="13" name="Shape 11"/>
          <p:cNvSpPr/>
          <p:nvPr/>
        </p:nvSpPr>
        <p:spPr>
          <a:xfrm>
            <a:off x="8732520" y="1508760"/>
            <a:ext cx="1828800" cy="594360"/>
          </a:xfrm>
          <a:prstGeom prst="roundRect">
            <a:avLst>
              <a:gd name="adj" fmla="val 9231"/>
            </a:avLst>
          </a:prstGeom>
          <a:solidFill>
            <a:srgbClr val="FFFFFF"/>
          </a:solidFill>
          <a:ln w="16510">
            <a:solidFill>
              <a:srgbClr val="0A9B9B"/>
            </a:solidFill>
            <a:prstDash val="solid"/>
          </a:ln>
        </p:spPr>
      </p:sp>
      <p:sp>
        <p:nvSpPr>
          <p:cNvPr id="14" name="Text 12"/>
          <p:cNvSpPr/>
          <p:nvPr/>
        </p:nvSpPr>
        <p:spPr>
          <a:xfrm>
            <a:off x="8823960" y="1709928"/>
            <a:ext cx="1645920" cy="164592"/>
          </a:xfrm>
          <a:prstGeom prst="rect">
            <a:avLst/>
          </a:prstGeom>
          <a:noFill/>
          <a:ln/>
        </p:spPr>
        <p:txBody>
          <a:bodyPr wrap="square" lIns="0" tIns="0" rIns="0" bIns="0" rtlCol="0" anchor="ctr">
            <a:normAutofit/>
          </a:bodyPr>
          <a:lstStyle/>
          <a:p>
            <a:pPr algn="ctr" indent="0" marL="0">
              <a:buNone/>
            </a:pPr>
            <a:r>
              <a:rPr lang="en-US" sz="1100" b="1" dirty="0">
                <a:solidFill>
                  <a:srgbClr val="0A9B9B"/>
                </a:solidFill>
              </a:rPr>
              <a:t>Usage DB</a:t>
            </a:r>
            <a:endParaRPr lang="en-US" sz="1100" dirty="0"/>
          </a:p>
        </p:txBody>
      </p:sp>
      <p:sp>
        <p:nvSpPr>
          <p:cNvPr id="15" name="Shape 13"/>
          <p:cNvSpPr/>
          <p:nvPr/>
        </p:nvSpPr>
        <p:spPr>
          <a:xfrm>
            <a:off x="6583680" y="2468880"/>
            <a:ext cx="1828800" cy="594360"/>
          </a:xfrm>
          <a:prstGeom prst="roundRect">
            <a:avLst>
              <a:gd name="adj" fmla="val 9231"/>
            </a:avLst>
          </a:prstGeom>
          <a:solidFill>
            <a:srgbClr val="FFFFFF"/>
          </a:solidFill>
          <a:ln w="16510">
            <a:solidFill>
              <a:srgbClr val="25A9C7"/>
            </a:solidFill>
            <a:prstDash val="solid"/>
          </a:ln>
        </p:spPr>
      </p:sp>
      <p:sp>
        <p:nvSpPr>
          <p:cNvPr id="16" name="Text 14"/>
          <p:cNvSpPr/>
          <p:nvPr/>
        </p:nvSpPr>
        <p:spPr>
          <a:xfrm>
            <a:off x="6675120" y="2670048"/>
            <a:ext cx="1645920" cy="164592"/>
          </a:xfrm>
          <a:prstGeom prst="rect">
            <a:avLst/>
          </a:prstGeom>
          <a:noFill/>
          <a:ln/>
        </p:spPr>
        <p:txBody>
          <a:bodyPr wrap="square" lIns="0" tIns="0" rIns="0" bIns="0" rtlCol="0" anchor="ctr">
            <a:normAutofit/>
          </a:bodyPr>
          <a:lstStyle/>
          <a:p>
            <a:pPr algn="ctr" indent="0" marL="0">
              <a:buNone/>
            </a:pPr>
            <a:r>
              <a:rPr lang="en-US" sz="1100" b="1" dirty="0">
                <a:solidFill>
                  <a:srgbClr val="25A9C7"/>
                </a:solidFill>
              </a:rPr>
              <a:t>Support logs</a:t>
            </a:r>
            <a:endParaRPr lang="en-US" sz="1100" dirty="0"/>
          </a:p>
        </p:txBody>
      </p:sp>
      <p:sp>
        <p:nvSpPr>
          <p:cNvPr id="17" name="Shape 15"/>
          <p:cNvSpPr/>
          <p:nvPr/>
        </p:nvSpPr>
        <p:spPr>
          <a:xfrm>
            <a:off x="8732520" y="2468880"/>
            <a:ext cx="1828800" cy="594360"/>
          </a:xfrm>
          <a:prstGeom prst="roundRect">
            <a:avLst>
              <a:gd name="adj" fmla="val 9231"/>
            </a:avLst>
          </a:prstGeom>
          <a:solidFill>
            <a:srgbClr val="FFFFFF"/>
          </a:solidFill>
          <a:ln w="16510">
            <a:solidFill>
              <a:srgbClr val="446CA8"/>
            </a:solidFill>
            <a:prstDash val="solid"/>
          </a:ln>
        </p:spPr>
      </p:sp>
      <p:sp>
        <p:nvSpPr>
          <p:cNvPr id="18" name="Text 16"/>
          <p:cNvSpPr/>
          <p:nvPr/>
        </p:nvSpPr>
        <p:spPr>
          <a:xfrm>
            <a:off x="8823960" y="2670048"/>
            <a:ext cx="1645920" cy="164592"/>
          </a:xfrm>
          <a:prstGeom prst="rect">
            <a:avLst/>
          </a:prstGeom>
          <a:noFill/>
          <a:ln/>
        </p:spPr>
        <p:txBody>
          <a:bodyPr wrap="square" lIns="0" tIns="0" rIns="0" bIns="0" rtlCol="0" anchor="ctr">
            <a:normAutofit/>
          </a:bodyPr>
          <a:lstStyle/>
          <a:p>
            <a:pPr algn="ctr" indent="0" marL="0">
              <a:buNone/>
            </a:pPr>
            <a:r>
              <a:rPr lang="en-US" sz="1100" b="1" dirty="0">
                <a:solidFill>
                  <a:srgbClr val="446CA8"/>
                </a:solidFill>
              </a:rPr>
              <a:t>Legal agent</a:t>
            </a:r>
            <a:endParaRPr lang="en-US" sz="1100" dirty="0"/>
          </a:p>
        </p:txBody>
      </p:sp>
      <p:sp>
        <p:nvSpPr>
          <p:cNvPr id="19" name="Shape 17"/>
          <p:cNvSpPr/>
          <p:nvPr/>
        </p:nvSpPr>
        <p:spPr>
          <a:xfrm>
            <a:off x="7498080" y="3657600"/>
            <a:ext cx="3063240" cy="749808"/>
          </a:xfrm>
          <a:prstGeom prst="roundRect">
            <a:avLst>
              <a:gd name="adj" fmla="val 8537"/>
            </a:avLst>
          </a:prstGeom>
          <a:solidFill>
            <a:srgbClr val="123452"/>
          </a:solidFill>
          <a:ln w="12700">
            <a:solidFill>
              <a:srgbClr val="123452"/>
            </a:solidFill>
            <a:prstDash val="solid"/>
          </a:ln>
        </p:spPr>
      </p:sp>
      <p:sp>
        <p:nvSpPr>
          <p:cNvPr id="20" name="Text 18"/>
          <p:cNvSpPr/>
          <p:nvPr/>
        </p:nvSpPr>
        <p:spPr>
          <a:xfrm>
            <a:off x="7635240" y="3904488"/>
            <a:ext cx="2788920" cy="2011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rPr>
              <a:t>Renewal recommendation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9B9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9B9B"/>
          </a:solidFill>
          <a:ln w="12700">
            <a:solidFill>
              <a:srgbClr val="0A9B9B"/>
            </a:solidFill>
            <a:prstDash val="solid"/>
          </a:ln>
        </p:spPr>
      </p:sp>
      <p:sp>
        <p:nvSpPr>
          <p:cNvPr id="3" name="Text 1"/>
          <p:cNvSpPr/>
          <p:nvPr/>
        </p:nvSpPr>
        <p:spPr>
          <a:xfrm>
            <a:off x="640080" y="658368"/>
            <a:ext cx="4754880" cy="228600"/>
          </a:xfrm>
          <a:prstGeom prst="rect">
            <a:avLst/>
          </a:prstGeom>
          <a:noFill/>
          <a:ln/>
        </p:spPr>
        <p:txBody>
          <a:bodyPr wrap="square" lIns="0" tIns="0" rIns="0" bIns="0" rtlCol="0" anchor="ctr"/>
          <a:lstStyle/>
          <a:p>
            <a:pPr indent="0" marL="0">
              <a:buNone/>
            </a:pPr>
            <a:r>
              <a:rPr lang="en-US" sz="1000" b="1" dirty="0">
                <a:solidFill>
                  <a:srgbClr val="FFFFFF"/>
                </a:solidFill>
              </a:rPr>
              <a:t>APIS</a:t>
            </a:r>
            <a:endParaRPr lang="en-US" sz="1000" dirty="0"/>
          </a:p>
        </p:txBody>
      </p:sp>
      <p:sp>
        <p:nvSpPr>
          <p:cNvPr id="4" name="Text 2"/>
          <p:cNvSpPr/>
          <p:nvPr/>
        </p:nvSpPr>
        <p:spPr>
          <a:xfrm>
            <a:off x="640080" y="1325880"/>
            <a:ext cx="9875520" cy="105156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APIs: deterministic contracts for known capabilities</a:t>
            </a:r>
            <a:endParaRPr lang="en-US" sz="3200" dirty="0"/>
          </a:p>
        </p:txBody>
      </p:sp>
      <p:sp>
        <p:nvSpPr>
          <p:cNvPr id="5" name="Text 3"/>
          <p:cNvSpPr/>
          <p:nvPr/>
        </p:nvSpPr>
        <p:spPr>
          <a:xfrm>
            <a:off x="658368" y="2788920"/>
            <a:ext cx="8778240" cy="548640"/>
          </a:xfrm>
          <a:prstGeom prst="rect">
            <a:avLst/>
          </a:prstGeom>
          <a:noFill/>
          <a:ln/>
        </p:spPr>
        <p:txBody>
          <a:bodyPr wrap="square" lIns="0" tIns="0" rIns="0" bIns="0" rtlCol="0" anchor="ctr">
            <a:normAutofit/>
          </a:bodyPr>
          <a:lstStyle/>
          <a:p>
            <a:pPr indent="0" marL="0">
              <a:buNone/>
            </a:pPr>
            <a:r>
              <a:rPr lang="en-US" sz="1800" dirty="0">
                <a:solidFill>
                  <a:srgbClr val="F8FAFC"/>
                </a:solidFill>
              </a:rPr>
              <a:t>Use APIs when the caller knows what it wants and needs a stable, testable interface.</a:t>
            </a:r>
            <a:endParaRPr lang="en-US" sz="1800" dirty="0"/>
          </a:p>
        </p:txBody>
      </p:sp>
      <p:sp>
        <p:nvSpPr>
          <p:cNvPr id="6" name="Shape 4"/>
          <p:cNvSpPr/>
          <p:nvPr/>
        </p:nvSpPr>
        <p:spPr>
          <a:xfrm>
            <a:off x="658368" y="6163056"/>
            <a:ext cx="10881360" cy="0"/>
          </a:xfrm>
          <a:prstGeom prst="line">
            <a:avLst/>
          </a:prstGeom>
          <a:noFill/>
          <a:ln w="10160">
            <a:solidFill>
              <a:srgbClr val="FFFFFF">
                <a:alpha val="60000"/>
              </a:srgbClr>
            </a:solidFill>
            <a:prstDash val="solid"/>
          </a:ln>
        </p:spPr>
      </p:sp>
      <p:sp>
        <p:nvSpPr>
          <p:cNvPr id="7" name="Text 5"/>
          <p:cNvSpPr/>
          <p:nvPr/>
        </p:nvSpPr>
        <p:spPr>
          <a:xfrm>
            <a:off x="10899648" y="6236208"/>
            <a:ext cx="640080" cy="182880"/>
          </a:xfrm>
          <a:prstGeom prst="rect">
            <a:avLst/>
          </a:prstGeom>
          <a:noFill/>
          <a:ln/>
        </p:spPr>
        <p:txBody>
          <a:bodyPr wrap="square" lIns="0" tIns="0" rIns="0" bIns="0" rtlCol="0" anchor="ctr"/>
          <a:lstStyle/>
          <a:p>
            <a:pPr algn="r" indent="0" marL="0">
              <a:buNone/>
            </a:pPr>
            <a:r>
              <a:rPr lang="en-US" sz="850" dirty="0">
                <a:solidFill>
                  <a:srgbClr val="FFFFFF">
                    <a:alpha val="80000"/>
                  </a:srgbClr>
                </a:solidFill>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0A9B9B"/>
          </a:solidFill>
          <a:ln w="12700">
            <a:solidFill>
              <a:srgbClr val="0A9B9B"/>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0A9B9B"/>
                </a:solidFill>
                <a:latin typeface="Aptos" pitchFamily="34" charset="0"/>
                <a:ea typeface="Aptos" pitchFamily="34" charset="-122"/>
                <a:cs typeface="Aptos" pitchFamily="34" charset="-120"/>
              </a:rPr>
              <a:t>APIS</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APIs are the default interface for stable capabilities and controlled workflows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Sources: Fielding REST; OpenAPI Initiative; GraphQL Foundation; gRPC docs</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08</a:t>
            </a:r>
            <a:endParaRPr lang="en-US" sz="800" dirty="0"/>
          </a:p>
        </p:txBody>
      </p:sp>
      <p:sp>
        <p:nvSpPr>
          <p:cNvPr id="9" name="Shape 7"/>
          <p:cNvSpPr/>
          <p:nvPr/>
        </p:nvSpPr>
        <p:spPr>
          <a:xfrm>
            <a:off x="658368" y="1389888"/>
            <a:ext cx="3200400" cy="1143000"/>
          </a:xfrm>
          <a:prstGeom prst="roundRect">
            <a:avLst>
              <a:gd name="adj" fmla="val 4000"/>
            </a:avLst>
          </a:prstGeom>
          <a:solidFill>
            <a:srgbClr val="F7FBFE"/>
          </a:solidFill>
          <a:ln w="12700">
            <a:solidFill>
              <a:srgbClr val="0A9B9B"/>
            </a:solidFill>
            <a:prstDash val="solid"/>
          </a:ln>
        </p:spPr>
      </p:sp>
      <p:sp>
        <p:nvSpPr>
          <p:cNvPr id="10" name="Shape 8"/>
          <p:cNvSpPr/>
          <p:nvPr/>
        </p:nvSpPr>
        <p:spPr>
          <a:xfrm>
            <a:off x="658368" y="1389888"/>
            <a:ext cx="73152" cy="1143000"/>
          </a:xfrm>
          <a:prstGeom prst="rect">
            <a:avLst/>
          </a:prstGeom>
          <a:solidFill>
            <a:srgbClr val="0A9B9B"/>
          </a:solidFill>
          <a:ln w="12700">
            <a:solidFill>
              <a:srgbClr val="0A9B9B"/>
            </a:solidFill>
            <a:prstDash val="solid"/>
          </a:ln>
        </p:spPr>
      </p:sp>
      <p:sp>
        <p:nvSpPr>
          <p:cNvPr id="11" name="Text 9"/>
          <p:cNvSpPr/>
          <p:nvPr/>
        </p:nvSpPr>
        <p:spPr>
          <a:xfrm>
            <a:off x="822960" y="1517904"/>
            <a:ext cx="294436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REST / HTTP APIs</a:t>
            </a:r>
            <a:endParaRPr lang="en-US" sz="1300" dirty="0"/>
          </a:p>
        </p:txBody>
      </p:sp>
      <p:sp>
        <p:nvSpPr>
          <p:cNvPr id="12" name="Text 10"/>
          <p:cNvSpPr/>
          <p:nvPr/>
        </p:nvSpPr>
        <p:spPr>
          <a:xfrm>
            <a:off x="822960" y="1847088"/>
            <a:ext cx="2944368" cy="57607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Resource-oriented, uniform interface, broad compatibility, cacheability, and simple operations.</a:t>
            </a:r>
            <a:endParaRPr lang="en-US" sz="1080" dirty="0"/>
          </a:p>
        </p:txBody>
      </p:sp>
      <p:sp>
        <p:nvSpPr>
          <p:cNvPr id="13" name="Shape 11"/>
          <p:cNvSpPr/>
          <p:nvPr/>
        </p:nvSpPr>
        <p:spPr>
          <a:xfrm>
            <a:off x="4480560" y="1389888"/>
            <a:ext cx="3200400" cy="1143000"/>
          </a:xfrm>
          <a:prstGeom prst="roundRect">
            <a:avLst>
              <a:gd name="adj" fmla="val 4000"/>
            </a:avLst>
          </a:prstGeom>
          <a:solidFill>
            <a:srgbClr val="F7FBFE"/>
          </a:solidFill>
          <a:ln w="12700">
            <a:solidFill>
              <a:srgbClr val="2F79B7"/>
            </a:solidFill>
            <a:prstDash val="solid"/>
          </a:ln>
        </p:spPr>
      </p:sp>
      <p:sp>
        <p:nvSpPr>
          <p:cNvPr id="14" name="Shape 12"/>
          <p:cNvSpPr/>
          <p:nvPr/>
        </p:nvSpPr>
        <p:spPr>
          <a:xfrm>
            <a:off x="4480560" y="1389888"/>
            <a:ext cx="73152" cy="1143000"/>
          </a:xfrm>
          <a:prstGeom prst="rect">
            <a:avLst/>
          </a:prstGeom>
          <a:solidFill>
            <a:srgbClr val="2F79B7"/>
          </a:solidFill>
          <a:ln w="12700">
            <a:solidFill>
              <a:srgbClr val="2F79B7"/>
            </a:solidFill>
            <a:prstDash val="solid"/>
          </a:ln>
        </p:spPr>
      </p:sp>
      <p:sp>
        <p:nvSpPr>
          <p:cNvPr id="15" name="Text 13"/>
          <p:cNvSpPr/>
          <p:nvPr/>
        </p:nvSpPr>
        <p:spPr>
          <a:xfrm>
            <a:off x="4645152" y="1517904"/>
            <a:ext cx="2944368" cy="228600"/>
          </a:xfrm>
          <a:prstGeom prst="rect">
            <a:avLst/>
          </a:prstGeom>
          <a:noFill/>
          <a:ln/>
        </p:spPr>
        <p:txBody>
          <a:bodyPr wrap="square" lIns="0" tIns="0" rIns="0" bIns="0" rtlCol="0" anchor="ctr">
            <a:normAutofit/>
          </a:bodyPr>
          <a:lstStyle/>
          <a:p>
            <a:pPr indent="0" marL="0">
              <a:buNone/>
            </a:pPr>
            <a:r>
              <a:rPr lang="en-US" sz="1300" b="1" dirty="0">
                <a:solidFill>
                  <a:srgbClr val="2F79B7"/>
                </a:solidFill>
              </a:rPr>
              <a:t>GraphQL</a:t>
            </a:r>
            <a:endParaRPr lang="en-US" sz="1300" dirty="0"/>
          </a:p>
        </p:txBody>
      </p:sp>
      <p:sp>
        <p:nvSpPr>
          <p:cNvPr id="16" name="Text 14"/>
          <p:cNvSpPr/>
          <p:nvPr/>
        </p:nvSpPr>
        <p:spPr>
          <a:xfrm>
            <a:off x="4645152" y="1847088"/>
            <a:ext cx="2944368" cy="57607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Client-selectable data shape via a strongly typed schema; excellent for UI-driven aggregation.</a:t>
            </a:r>
            <a:endParaRPr lang="en-US" sz="1080" dirty="0"/>
          </a:p>
        </p:txBody>
      </p:sp>
      <p:sp>
        <p:nvSpPr>
          <p:cNvPr id="17" name="Shape 15"/>
          <p:cNvSpPr/>
          <p:nvPr/>
        </p:nvSpPr>
        <p:spPr>
          <a:xfrm>
            <a:off x="8275320" y="1389888"/>
            <a:ext cx="3200400" cy="1143000"/>
          </a:xfrm>
          <a:prstGeom prst="roundRect">
            <a:avLst>
              <a:gd name="adj" fmla="val 4000"/>
            </a:avLst>
          </a:prstGeom>
          <a:solidFill>
            <a:srgbClr val="F7FBFE"/>
          </a:solidFill>
          <a:ln w="12700">
            <a:solidFill>
              <a:srgbClr val="446CA8"/>
            </a:solidFill>
            <a:prstDash val="solid"/>
          </a:ln>
        </p:spPr>
      </p:sp>
      <p:sp>
        <p:nvSpPr>
          <p:cNvPr id="18" name="Shape 16"/>
          <p:cNvSpPr/>
          <p:nvPr/>
        </p:nvSpPr>
        <p:spPr>
          <a:xfrm>
            <a:off x="8275320" y="1389888"/>
            <a:ext cx="73152" cy="1143000"/>
          </a:xfrm>
          <a:prstGeom prst="rect">
            <a:avLst/>
          </a:prstGeom>
          <a:solidFill>
            <a:srgbClr val="446CA8"/>
          </a:solidFill>
          <a:ln w="12700">
            <a:solidFill>
              <a:srgbClr val="446CA8"/>
            </a:solidFill>
            <a:prstDash val="solid"/>
          </a:ln>
        </p:spPr>
      </p:sp>
      <p:sp>
        <p:nvSpPr>
          <p:cNvPr id="19" name="Text 17"/>
          <p:cNvSpPr/>
          <p:nvPr/>
        </p:nvSpPr>
        <p:spPr>
          <a:xfrm>
            <a:off x="8439912" y="1517904"/>
            <a:ext cx="294436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gRPC</a:t>
            </a:r>
            <a:endParaRPr lang="en-US" sz="1300" dirty="0"/>
          </a:p>
        </p:txBody>
      </p:sp>
      <p:sp>
        <p:nvSpPr>
          <p:cNvPr id="20" name="Text 18"/>
          <p:cNvSpPr/>
          <p:nvPr/>
        </p:nvSpPr>
        <p:spPr>
          <a:xfrm>
            <a:off x="8439912" y="1847088"/>
            <a:ext cx="2944368" cy="57607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RPC methods defined in proto files; efficient service-to-service communication and streaming.</a:t>
            </a:r>
            <a:endParaRPr lang="en-US" sz="1080" dirty="0"/>
          </a:p>
        </p:txBody>
      </p:sp>
      <p:sp>
        <p:nvSpPr>
          <p:cNvPr id="21" name="Text 19"/>
          <p:cNvSpPr/>
          <p:nvPr/>
        </p:nvSpPr>
        <p:spPr>
          <a:xfrm>
            <a:off x="658368" y="3108960"/>
            <a:ext cx="1280160" cy="228600"/>
          </a:xfrm>
          <a:prstGeom prst="rect">
            <a:avLst/>
          </a:prstGeom>
          <a:noFill/>
          <a:ln/>
        </p:spPr>
        <p:txBody>
          <a:bodyPr wrap="square" lIns="0" tIns="0" rIns="0" bIns="0" rtlCol="0" anchor="ctr"/>
          <a:lstStyle/>
          <a:p>
            <a:pPr indent="0" marL="0">
              <a:buNone/>
            </a:pPr>
            <a:r>
              <a:rPr lang="en-US" sz="1500" b="1" dirty="0">
                <a:solidFill>
                  <a:srgbClr val="123452"/>
                </a:solidFill>
              </a:rPr>
              <a:t>Key idea</a:t>
            </a:r>
            <a:endParaRPr lang="en-US" sz="1500" dirty="0"/>
          </a:p>
        </p:txBody>
      </p:sp>
      <p:sp>
        <p:nvSpPr>
          <p:cNvPr id="22" name="Text 20"/>
          <p:cNvSpPr/>
          <p:nvPr/>
        </p:nvSpPr>
        <p:spPr>
          <a:xfrm>
            <a:off x="2240280" y="3090672"/>
            <a:ext cx="8412480" cy="292608"/>
          </a:xfrm>
          <a:prstGeom prst="rect">
            <a:avLst/>
          </a:prstGeom>
          <a:noFill/>
          <a:ln/>
        </p:spPr>
        <p:txBody>
          <a:bodyPr wrap="square" lIns="0" tIns="0" rIns="0" bIns="0" rtlCol="0" anchor="ctr">
            <a:normAutofit/>
          </a:bodyPr>
          <a:lstStyle/>
          <a:p>
            <a:pPr indent="0" marL="0">
              <a:buNone/>
            </a:pPr>
            <a:r>
              <a:rPr lang="en-US" sz="1700" dirty="0">
                <a:solidFill>
                  <a:srgbClr val="1F2A37"/>
                </a:solidFill>
              </a:rPr>
              <a:t>The caller decides the operation; the service executes a bounded contract.</a:t>
            </a:r>
            <a:endParaRPr lang="en-US" sz="1700" dirty="0"/>
          </a:p>
        </p:txBody>
      </p:sp>
      <p:sp>
        <p:nvSpPr>
          <p:cNvPr id="23" name="Shape 21"/>
          <p:cNvSpPr/>
          <p:nvPr/>
        </p:nvSpPr>
        <p:spPr>
          <a:xfrm>
            <a:off x="658368" y="3703320"/>
            <a:ext cx="10881360" cy="402336"/>
          </a:xfrm>
          <a:prstGeom prst="rect">
            <a:avLst/>
          </a:prstGeom>
          <a:solidFill>
            <a:srgbClr val="123452"/>
          </a:solidFill>
          <a:ln w="12700">
            <a:solidFill>
              <a:srgbClr val="123452"/>
            </a:solidFill>
            <a:prstDash val="solid"/>
          </a:ln>
        </p:spPr>
      </p:sp>
      <p:sp>
        <p:nvSpPr>
          <p:cNvPr id="24" name="Text 22"/>
          <p:cNvSpPr/>
          <p:nvPr/>
        </p:nvSpPr>
        <p:spPr>
          <a:xfrm>
            <a:off x="704088" y="3803904"/>
            <a:ext cx="1600200" cy="292608"/>
          </a:xfrm>
          <a:prstGeom prst="rect">
            <a:avLst/>
          </a:prstGeom>
          <a:noFill/>
          <a:ln/>
        </p:spPr>
        <p:txBody>
          <a:bodyPr wrap="square" lIns="0" tIns="0" rIns="0" bIns="0" rtlCol="0" anchor="ctr">
            <a:normAutofit/>
          </a:bodyPr>
          <a:lstStyle/>
          <a:p>
            <a:pPr algn="l" indent="0" marL="0">
              <a:buNone/>
            </a:pPr>
            <a:r>
              <a:rPr lang="en-US" sz="780" b="1" dirty="0">
                <a:solidFill>
                  <a:srgbClr val="FFFFFF"/>
                </a:solidFill>
              </a:rPr>
              <a:t>API style</a:t>
            </a:r>
            <a:endParaRPr lang="en-US" sz="780" dirty="0"/>
          </a:p>
        </p:txBody>
      </p:sp>
      <p:sp>
        <p:nvSpPr>
          <p:cNvPr id="25" name="Text 23"/>
          <p:cNvSpPr/>
          <p:nvPr/>
        </p:nvSpPr>
        <p:spPr>
          <a:xfrm>
            <a:off x="2395728" y="3803904"/>
            <a:ext cx="2240280" cy="292608"/>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Best fit</a:t>
            </a:r>
            <a:endParaRPr lang="en-US" sz="780" dirty="0"/>
          </a:p>
        </p:txBody>
      </p:sp>
      <p:sp>
        <p:nvSpPr>
          <p:cNvPr id="26" name="Shape 24"/>
          <p:cNvSpPr/>
          <p:nvPr/>
        </p:nvSpPr>
        <p:spPr>
          <a:xfrm>
            <a:off x="2350008" y="3703320"/>
            <a:ext cx="0" cy="1609344"/>
          </a:xfrm>
          <a:prstGeom prst="line">
            <a:avLst/>
          </a:prstGeom>
          <a:noFill/>
          <a:ln w="6350">
            <a:solidFill>
              <a:srgbClr val="FFFFFF">
                <a:alpha val="60000"/>
              </a:srgbClr>
            </a:solidFill>
            <a:prstDash val="solid"/>
          </a:ln>
        </p:spPr>
      </p:sp>
      <p:sp>
        <p:nvSpPr>
          <p:cNvPr id="27" name="Text 25"/>
          <p:cNvSpPr/>
          <p:nvPr/>
        </p:nvSpPr>
        <p:spPr>
          <a:xfrm>
            <a:off x="4727448" y="3803904"/>
            <a:ext cx="2148840" cy="292608"/>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Strength</a:t>
            </a:r>
            <a:endParaRPr lang="en-US" sz="780" dirty="0"/>
          </a:p>
        </p:txBody>
      </p:sp>
      <p:sp>
        <p:nvSpPr>
          <p:cNvPr id="28" name="Shape 26"/>
          <p:cNvSpPr/>
          <p:nvPr/>
        </p:nvSpPr>
        <p:spPr>
          <a:xfrm>
            <a:off x="4681728" y="3703320"/>
            <a:ext cx="0" cy="1609344"/>
          </a:xfrm>
          <a:prstGeom prst="line">
            <a:avLst/>
          </a:prstGeom>
          <a:noFill/>
          <a:ln w="6350">
            <a:solidFill>
              <a:srgbClr val="FFFFFF">
                <a:alpha val="60000"/>
              </a:srgbClr>
            </a:solidFill>
            <a:prstDash val="solid"/>
          </a:ln>
        </p:spPr>
      </p:sp>
      <p:sp>
        <p:nvSpPr>
          <p:cNvPr id="29" name="Text 27"/>
          <p:cNvSpPr/>
          <p:nvPr/>
        </p:nvSpPr>
        <p:spPr>
          <a:xfrm>
            <a:off x="6967728" y="3803904"/>
            <a:ext cx="2240280" cy="292608"/>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Watch-out</a:t>
            </a:r>
            <a:endParaRPr lang="en-US" sz="780" dirty="0"/>
          </a:p>
        </p:txBody>
      </p:sp>
      <p:sp>
        <p:nvSpPr>
          <p:cNvPr id="30" name="Shape 28"/>
          <p:cNvSpPr/>
          <p:nvPr/>
        </p:nvSpPr>
        <p:spPr>
          <a:xfrm>
            <a:off x="6922008" y="3703320"/>
            <a:ext cx="0" cy="1609344"/>
          </a:xfrm>
          <a:prstGeom prst="line">
            <a:avLst/>
          </a:prstGeom>
          <a:noFill/>
          <a:ln w="6350">
            <a:solidFill>
              <a:srgbClr val="FFFFFF">
                <a:alpha val="60000"/>
              </a:srgbClr>
            </a:solidFill>
            <a:prstDash val="solid"/>
          </a:ln>
        </p:spPr>
      </p:sp>
      <p:sp>
        <p:nvSpPr>
          <p:cNvPr id="31" name="Text 29"/>
          <p:cNvSpPr/>
          <p:nvPr/>
        </p:nvSpPr>
        <p:spPr>
          <a:xfrm>
            <a:off x="9299448" y="3803904"/>
            <a:ext cx="2194560" cy="292608"/>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Contract artifact</a:t>
            </a:r>
            <a:endParaRPr lang="en-US" sz="780" dirty="0"/>
          </a:p>
        </p:txBody>
      </p:sp>
      <p:sp>
        <p:nvSpPr>
          <p:cNvPr id="32" name="Shape 30"/>
          <p:cNvSpPr/>
          <p:nvPr/>
        </p:nvSpPr>
        <p:spPr>
          <a:xfrm>
            <a:off x="9253728" y="3703320"/>
            <a:ext cx="0" cy="1609344"/>
          </a:xfrm>
          <a:prstGeom prst="line">
            <a:avLst/>
          </a:prstGeom>
          <a:noFill/>
          <a:ln w="6350">
            <a:solidFill>
              <a:srgbClr val="FFFFFF">
                <a:alpha val="60000"/>
              </a:srgbClr>
            </a:solidFill>
            <a:prstDash val="solid"/>
          </a:ln>
        </p:spPr>
      </p:sp>
      <p:sp>
        <p:nvSpPr>
          <p:cNvPr id="33" name="Shape 31"/>
          <p:cNvSpPr/>
          <p:nvPr/>
        </p:nvSpPr>
        <p:spPr>
          <a:xfrm>
            <a:off x="658368" y="4105656"/>
            <a:ext cx="10881360" cy="402336"/>
          </a:xfrm>
          <a:prstGeom prst="rect">
            <a:avLst/>
          </a:prstGeom>
          <a:solidFill>
            <a:srgbClr val="FFFFFF"/>
          </a:solidFill>
          <a:ln w="6350">
            <a:solidFill>
              <a:srgbClr val="D7E6F2"/>
            </a:solidFill>
            <a:prstDash val="solid"/>
          </a:ln>
        </p:spPr>
      </p:sp>
      <p:sp>
        <p:nvSpPr>
          <p:cNvPr id="34" name="Text 32"/>
          <p:cNvSpPr/>
          <p:nvPr/>
        </p:nvSpPr>
        <p:spPr>
          <a:xfrm>
            <a:off x="713232" y="4178808"/>
            <a:ext cx="1581912" cy="292608"/>
          </a:xfrm>
          <a:prstGeom prst="rect">
            <a:avLst/>
          </a:prstGeom>
          <a:noFill/>
          <a:ln/>
        </p:spPr>
        <p:txBody>
          <a:bodyPr wrap="square" lIns="0" tIns="0" rIns="0" bIns="0" rtlCol="0" anchor="ctr">
            <a:normAutofit/>
          </a:bodyPr>
          <a:lstStyle/>
          <a:p>
            <a:pPr algn="l" indent="0" marL="0">
              <a:buNone/>
            </a:pPr>
            <a:r>
              <a:rPr lang="en-US" sz="720" b="1" dirty="0">
                <a:solidFill>
                  <a:srgbClr val="123452"/>
                </a:solidFill>
              </a:rPr>
              <a:t>REST</a:t>
            </a:r>
            <a:endParaRPr lang="en-US" sz="720" dirty="0"/>
          </a:p>
        </p:txBody>
      </p:sp>
      <p:sp>
        <p:nvSpPr>
          <p:cNvPr id="35" name="Text 33"/>
          <p:cNvSpPr/>
          <p:nvPr/>
        </p:nvSpPr>
        <p:spPr>
          <a:xfrm>
            <a:off x="2404872" y="4178808"/>
            <a:ext cx="222199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External/platform APIs</a:t>
            </a:r>
            <a:endParaRPr lang="en-US" sz="720" dirty="0"/>
          </a:p>
        </p:txBody>
      </p:sp>
      <p:sp>
        <p:nvSpPr>
          <p:cNvPr id="36" name="Text 34"/>
          <p:cNvSpPr/>
          <p:nvPr/>
        </p:nvSpPr>
        <p:spPr>
          <a:xfrm>
            <a:off x="4736592" y="4178808"/>
            <a:ext cx="213055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Simplicity + HTTP ecosystem</a:t>
            </a:r>
            <a:endParaRPr lang="en-US" sz="720" dirty="0"/>
          </a:p>
        </p:txBody>
      </p:sp>
      <p:sp>
        <p:nvSpPr>
          <p:cNvPr id="37" name="Text 35"/>
          <p:cNvSpPr/>
          <p:nvPr/>
        </p:nvSpPr>
        <p:spPr>
          <a:xfrm>
            <a:off x="6976872" y="4178808"/>
            <a:ext cx="222199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Over/under-fetching</a:t>
            </a:r>
            <a:endParaRPr lang="en-US" sz="720" dirty="0"/>
          </a:p>
        </p:txBody>
      </p:sp>
      <p:sp>
        <p:nvSpPr>
          <p:cNvPr id="38" name="Text 36"/>
          <p:cNvSpPr/>
          <p:nvPr/>
        </p:nvSpPr>
        <p:spPr>
          <a:xfrm>
            <a:off x="9308592" y="4178808"/>
            <a:ext cx="217627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OpenAPI</a:t>
            </a:r>
            <a:endParaRPr lang="en-US" sz="720" dirty="0"/>
          </a:p>
        </p:txBody>
      </p:sp>
      <p:sp>
        <p:nvSpPr>
          <p:cNvPr id="39" name="Shape 37"/>
          <p:cNvSpPr/>
          <p:nvPr/>
        </p:nvSpPr>
        <p:spPr>
          <a:xfrm>
            <a:off x="658368" y="4507992"/>
            <a:ext cx="10881360" cy="402336"/>
          </a:xfrm>
          <a:prstGeom prst="rect">
            <a:avLst/>
          </a:prstGeom>
          <a:solidFill>
            <a:srgbClr val="F8FAFC"/>
          </a:solidFill>
          <a:ln w="6350">
            <a:solidFill>
              <a:srgbClr val="D7E6F2"/>
            </a:solidFill>
            <a:prstDash val="solid"/>
          </a:ln>
        </p:spPr>
      </p:sp>
      <p:sp>
        <p:nvSpPr>
          <p:cNvPr id="40" name="Text 38"/>
          <p:cNvSpPr/>
          <p:nvPr/>
        </p:nvSpPr>
        <p:spPr>
          <a:xfrm>
            <a:off x="713232" y="4581144"/>
            <a:ext cx="1581912" cy="292608"/>
          </a:xfrm>
          <a:prstGeom prst="rect">
            <a:avLst/>
          </a:prstGeom>
          <a:noFill/>
          <a:ln/>
        </p:spPr>
        <p:txBody>
          <a:bodyPr wrap="square" lIns="0" tIns="0" rIns="0" bIns="0" rtlCol="0" anchor="ctr">
            <a:normAutofit/>
          </a:bodyPr>
          <a:lstStyle/>
          <a:p>
            <a:pPr algn="l" indent="0" marL="0">
              <a:buNone/>
            </a:pPr>
            <a:r>
              <a:rPr lang="en-US" sz="720" b="1" dirty="0">
                <a:solidFill>
                  <a:srgbClr val="123452"/>
                </a:solidFill>
              </a:rPr>
              <a:t>GraphQL</a:t>
            </a:r>
            <a:endParaRPr lang="en-US" sz="720" dirty="0"/>
          </a:p>
        </p:txBody>
      </p:sp>
      <p:sp>
        <p:nvSpPr>
          <p:cNvPr id="41" name="Text 39"/>
          <p:cNvSpPr/>
          <p:nvPr/>
        </p:nvSpPr>
        <p:spPr>
          <a:xfrm>
            <a:off x="2404872" y="4581144"/>
            <a:ext cx="222199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Product/UI data graph</a:t>
            </a:r>
            <a:endParaRPr lang="en-US" sz="720" dirty="0"/>
          </a:p>
        </p:txBody>
      </p:sp>
      <p:sp>
        <p:nvSpPr>
          <p:cNvPr id="42" name="Text 40"/>
          <p:cNvSpPr/>
          <p:nvPr/>
        </p:nvSpPr>
        <p:spPr>
          <a:xfrm>
            <a:off x="4736592" y="4581144"/>
            <a:ext cx="213055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Client asks exact shape</a:t>
            </a:r>
            <a:endParaRPr lang="en-US" sz="720" dirty="0"/>
          </a:p>
        </p:txBody>
      </p:sp>
      <p:sp>
        <p:nvSpPr>
          <p:cNvPr id="43" name="Text 41"/>
          <p:cNvSpPr/>
          <p:nvPr/>
        </p:nvSpPr>
        <p:spPr>
          <a:xfrm>
            <a:off x="6976872" y="4581144"/>
            <a:ext cx="222199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Cost/complexity control</a:t>
            </a:r>
            <a:endParaRPr lang="en-US" sz="720" dirty="0"/>
          </a:p>
        </p:txBody>
      </p:sp>
      <p:sp>
        <p:nvSpPr>
          <p:cNvPr id="44" name="Text 42"/>
          <p:cNvSpPr/>
          <p:nvPr/>
        </p:nvSpPr>
        <p:spPr>
          <a:xfrm>
            <a:off x="9308592" y="4581144"/>
            <a:ext cx="217627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GraphQL schema</a:t>
            </a:r>
            <a:endParaRPr lang="en-US" sz="720" dirty="0"/>
          </a:p>
        </p:txBody>
      </p:sp>
      <p:sp>
        <p:nvSpPr>
          <p:cNvPr id="45" name="Shape 43"/>
          <p:cNvSpPr/>
          <p:nvPr/>
        </p:nvSpPr>
        <p:spPr>
          <a:xfrm>
            <a:off x="658368" y="4910328"/>
            <a:ext cx="10881360" cy="402336"/>
          </a:xfrm>
          <a:prstGeom prst="rect">
            <a:avLst/>
          </a:prstGeom>
          <a:solidFill>
            <a:srgbClr val="FFFFFF"/>
          </a:solidFill>
          <a:ln w="6350">
            <a:solidFill>
              <a:srgbClr val="D7E6F2"/>
            </a:solidFill>
            <a:prstDash val="solid"/>
          </a:ln>
        </p:spPr>
      </p:sp>
      <p:sp>
        <p:nvSpPr>
          <p:cNvPr id="46" name="Text 44"/>
          <p:cNvSpPr/>
          <p:nvPr/>
        </p:nvSpPr>
        <p:spPr>
          <a:xfrm>
            <a:off x="713232" y="4983480"/>
            <a:ext cx="1581912" cy="292608"/>
          </a:xfrm>
          <a:prstGeom prst="rect">
            <a:avLst/>
          </a:prstGeom>
          <a:noFill/>
          <a:ln/>
        </p:spPr>
        <p:txBody>
          <a:bodyPr wrap="square" lIns="0" tIns="0" rIns="0" bIns="0" rtlCol="0" anchor="ctr">
            <a:normAutofit/>
          </a:bodyPr>
          <a:lstStyle/>
          <a:p>
            <a:pPr algn="l" indent="0" marL="0">
              <a:buNone/>
            </a:pPr>
            <a:r>
              <a:rPr lang="en-US" sz="720" b="1" dirty="0">
                <a:solidFill>
                  <a:srgbClr val="123452"/>
                </a:solidFill>
              </a:rPr>
              <a:t>gRPC</a:t>
            </a:r>
            <a:endParaRPr lang="en-US" sz="720" dirty="0"/>
          </a:p>
        </p:txBody>
      </p:sp>
      <p:sp>
        <p:nvSpPr>
          <p:cNvPr id="47" name="Text 45"/>
          <p:cNvSpPr/>
          <p:nvPr/>
        </p:nvSpPr>
        <p:spPr>
          <a:xfrm>
            <a:off x="2404872" y="4983480"/>
            <a:ext cx="222199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Internal microservices</a:t>
            </a:r>
            <a:endParaRPr lang="en-US" sz="720" dirty="0"/>
          </a:p>
        </p:txBody>
      </p:sp>
      <p:sp>
        <p:nvSpPr>
          <p:cNvPr id="48" name="Text 46"/>
          <p:cNvSpPr/>
          <p:nvPr/>
        </p:nvSpPr>
        <p:spPr>
          <a:xfrm>
            <a:off x="4736592" y="4983480"/>
            <a:ext cx="213055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Performance + streaming</a:t>
            </a:r>
            <a:endParaRPr lang="en-US" sz="720" dirty="0"/>
          </a:p>
        </p:txBody>
      </p:sp>
      <p:sp>
        <p:nvSpPr>
          <p:cNvPr id="49" name="Text 47"/>
          <p:cNvSpPr/>
          <p:nvPr/>
        </p:nvSpPr>
        <p:spPr>
          <a:xfrm>
            <a:off x="6976872" y="4983480"/>
            <a:ext cx="222199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Browser/firewall fit</a:t>
            </a:r>
            <a:endParaRPr lang="en-US" sz="720" dirty="0"/>
          </a:p>
        </p:txBody>
      </p:sp>
      <p:sp>
        <p:nvSpPr>
          <p:cNvPr id="50" name="Text 48"/>
          <p:cNvSpPr/>
          <p:nvPr/>
        </p:nvSpPr>
        <p:spPr>
          <a:xfrm>
            <a:off x="9308592" y="4983480"/>
            <a:ext cx="2176272" cy="292608"/>
          </a:xfrm>
          <a:prstGeom prst="rect">
            <a:avLst/>
          </a:prstGeom>
          <a:noFill/>
          <a:ln/>
        </p:spPr>
        <p:txBody>
          <a:bodyPr wrap="square" lIns="0" tIns="0" rIns="0" bIns="0" rtlCol="0" anchor="ctr">
            <a:normAutofit/>
          </a:bodyPr>
          <a:lstStyle/>
          <a:p>
            <a:pPr algn="ctr" indent="0" marL="0">
              <a:buNone/>
            </a:pPr>
            <a:r>
              <a:rPr lang="en-US" sz="720" dirty="0">
                <a:solidFill>
                  <a:srgbClr val="1F2A37"/>
                </a:solidFill>
              </a:rPr>
              <a:t>.proto</a:t>
            </a:r>
            <a:endParaRPr lang="en-US" sz="7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0A9B9B"/>
          </a:solidFill>
          <a:ln w="12700">
            <a:solidFill>
              <a:srgbClr val="0A9B9B"/>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0A9B9B"/>
                </a:solidFill>
                <a:latin typeface="Aptos" pitchFamily="34" charset="0"/>
                <a:ea typeface="Aptos" pitchFamily="34" charset="-122"/>
                <a:cs typeface="Aptos" pitchFamily="34" charset="-120"/>
              </a:rPr>
              <a:t>APIS</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REST, GraphQL, and gRPC solve different API problems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09</a:t>
            </a:r>
            <a:endParaRPr lang="en-US" sz="800" dirty="0"/>
          </a:p>
        </p:txBody>
      </p:sp>
      <p:sp>
        <p:nvSpPr>
          <p:cNvPr id="9" name="Shape 7"/>
          <p:cNvSpPr/>
          <p:nvPr/>
        </p:nvSpPr>
        <p:spPr>
          <a:xfrm>
            <a:off x="594360" y="1353312"/>
            <a:ext cx="10698480" cy="493776"/>
          </a:xfrm>
          <a:prstGeom prst="rect">
            <a:avLst/>
          </a:prstGeom>
          <a:solidFill>
            <a:srgbClr val="0A9B9B"/>
          </a:solidFill>
          <a:ln w="12700">
            <a:solidFill>
              <a:srgbClr val="0A9B9B"/>
            </a:solidFill>
            <a:prstDash val="solid"/>
          </a:ln>
        </p:spPr>
      </p:sp>
      <p:sp>
        <p:nvSpPr>
          <p:cNvPr id="10" name="Text 8"/>
          <p:cNvSpPr/>
          <p:nvPr/>
        </p:nvSpPr>
        <p:spPr>
          <a:xfrm>
            <a:off x="640080" y="1453896"/>
            <a:ext cx="1828800" cy="384048"/>
          </a:xfrm>
          <a:prstGeom prst="rect">
            <a:avLst/>
          </a:prstGeom>
          <a:noFill/>
          <a:ln/>
        </p:spPr>
        <p:txBody>
          <a:bodyPr wrap="square" lIns="0" tIns="0" rIns="0" bIns="0" rtlCol="0" anchor="ctr">
            <a:normAutofit/>
          </a:bodyPr>
          <a:lstStyle/>
          <a:p>
            <a:pPr algn="l" indent="0" marL="0">
              <a:buNone/>
            </a:pPr>
            <a:r>
              <a:rPr lang="en-US" sz="850" b="1" dirty="0">
                <a:solidFill>
                  <a:srgbClr val="FFFFFF"/>
                </a:solidFill>
              </a:rPr>
              <a:t>Question</a:t>
            </a:r>
            <a:endParaRPr lang="en-US" sz="850" dirty="0"/>
          </a:p>
        </p:txBody>
      </p:sp>
      <p:sp>
        <p:nvSpPr>
          <p:cNvPr id="11" name="Text 9"/>
          <p:cNvSpPr/>
          <p:nvPr/>
        </p:nvSpPr>
        <p:spPr>
          <a:xfrm>
            <a:off x="2560320" y="1453896"/>
            <a:ext cx="2834640" cy="38404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REST / OpenAPI</a:t>
            </a:r>
            <a:endParaRPr lang="en-US" sz="850" dirty="0"/>
          </a:p>
        </p:txBody>
      </p:sp>
      <p:sp>
        <p:nvSpPr>
          <p:cNvPr id="12" name="Shape 10"/>
          <p:cNvSpPr/>
          <p:nvPr/>
        </p:nvSpPr>
        <p:spPr>
          <a:xfrm>
            <a:off x="2514600" y="1353312"/>
            <a:ext cx="0" cy="2962656"/>
          </a:xfrm>
          <a:prstGeom prst="line">
            <a:avLst/>
          </a:prstGeom>
          <a:noFill/>
          <a:ln w="6350">
            <a:solidFill>
              <a:srgbClr val="FFFFFF">
                <a:alpha val="60000"/>
              </a:srgbClr>
            </a:solidFill>
            <a:prstDash val="solid"/>
          </a:ln>
        </p:spPr>
      </p:sp>
      <p:sp>
        <p:nvSpPr>
          <p:cNvPr id="13" name="Text 11"/>
          <p:cNvSpPr/>
          <p:nvPr/>
        </p:nvSpPr>
        <p:spPr>
          <a:xfrm>
            <a:off x="5486400" y="1453896"/>
            <a:ext cx="2834640" cy="38404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GraphQL</a:t>
            </a:r>
            <a:endParaRPr lang="en-US" sz="850" dirty="0"/>
          </a:p>
        </p:txBody>
      </p:sp>
      <p:sp>
        <p:nvSpPr>
          <p:cNvPr id="14" name="Shape 12"/>
          <p:cNvSpPr/>
          <p:nvPr/>
        </p:nvSpPr>
        <p:spPr>
          <a:xfrm>
            <a:off x="5440680" y="1353312"/>
            <a:ext cx="0" cy="2962656"/>
          </a:xfrm>
          <a:prstGeom prst="line">
            <a:avLst/>
          </a:prstGeom>
          <a:noFill/>
          <a:ln w="6350">
            <a:solidFill>
              <a:srgbClr val="FFFFFF">
                <a:alpha val="60000"/>
              </a:srgbClr>
            </a:solidFill>
            <a:prstDash val="solid"/>
          </a:ln>
        </p:spPr>
      </p:sp>
      <p:sp>
        <p:nvSpPr>
          <p:cNvPr id="15" name="Text 13"/>
          <p:cNvSpPr/>
          <p:nvPr/>
        </p:nvSpPr>
        <p:spPr>
          <a:xfrm>
            <a:off x="8412480" y="1453896"/>
            <a:ext cx="2834640" cy="384048"/>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gRPC</a:t>
            </a:r>
            <a:endParaRPr lang="en-US" sz="850" dirty="0"/>
          </a:p>
        </p:txBody>
      </p:sp>
      <p:sp>
        <p:nvSpPr>
          <p:cNvPr id="16" name="Shape 14"/>
          <p:cNvSpPr/>
          <p:nvPr/>
        </p:nvSpPr>
        <p:spPr>
          <a:xfrm>
            <a:off x="8366760" y="1353312"/>
            <a:ext cx="0" cy="2962656"/>
          </a:xfrm>
          <a:prstGeom prst="line">
            <a:avLst/>
          </a:prstGeom>
          <a:noFill/>
          <a:ln w="6350">
            <a:solidFill>
              <a:srgbClr val="FFFFFF">
                <a:alpha val="60000"/>
              </a:srgbClr>
            </a:solidFill>
            <a:prstDash val="solid"/>
          </a:ln>
        </p:spPr>
      </p:sp>
      <p:sp>
        <p:nvSpPr>
          <p:cNvPr id="17" name="Shape 15"/>
          <p:cNvSpPr/>
          <p:nvPr/>
        </p:nvSpPr>
        <p:spPr>
          <a:xfrm>
            <a:off x="594360" y="1847088"/>
            <a:ext cx="10698480" cy="493776"/>
          </a:xfrm>
          <a:prstGeom prst="rect">
            <a:avLst/>
          </a:prstGeom>
          <a:solidFill>
            <a:srgbClr val="FFFFFF"/>
          </a:solidFill>
          <a:ln w="6350">
            <a:solidFill>
              <a:srgbClr val="D7E6F2"/>
            </a:solidFill>
            <a:prstDash val="solid"/>
          </a:ln>
        </p:spPr>
      </p:sp>
      <p:sp>
        <p:nvSpPr>
          <p:cNvPr id="18" name="Text 16"/>
          <p:cNvSpPr/>
          <p:nvPr/>
        </p:nvSpPr>
        <p:spPr>
          <a:xfrm>
            <a:off x="649224" y="1920240"/>
            <a:ext cx="1810512" cy="384048"/>
          </a:xfrm>
          <a:prstGeom prst="rect">
            <a:avLst/>
          </a:prstGeom>
          <a:noFill/>
          <a:ln/>
        </p:spPr>
        <p:txBody>
          <a:bodyPr wrap="square" lIns="0" tIns="0" rIns="0" bIns="0" rtlCol="0" anchor="ctr">
            <a:normAutofit/>
          </a:bodyPr>
          <a:lstStyle/>
          <a:p>
            <a:pPr algn="l" indent="0" marL="0">
              <a:buNone/>
            </a:pPr>
            <a:r>
              <a:rPr lang="en-US" sz="830" b="1" dirty="0">
                <a:solidFill>
                  <a:srgbClr val="123452"/>
                </a:solidFill>
              </a:rPr>
              <a:t>Data shape</a:t>
            </a:r>
            <a:endParaRPr lang="en-US" sz="830" dirty="0"/>
          </a:p>
        </p:txBody>
      </p:sp>
      <p:sp>
        <p:nvSpPr>
          <p:cNvPr id="19" name="Text 17"/>
          <p:cNvSpPr/>
          <p:nvPr/>
        </p:nvSpPr>
        <p:spPr>
          <a:xfrm>
            <a:off x="2569464" y="1920240"/>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Endpoint decides representation</a:t>
            </a:r>
            <a:endParaRPr lang="en-US" sz="830" dirty="0"/>
          </a:p>
        </p:txBody>
      </p:sp>
      <p:sp>
        <p:nvSpPr>
          <p:cNvPr id="20" name="Text 18"/>
          <p:cNvSpPr/>
          <p:nvPr/>
        </p:nvSpPr>
        <p:spPr>
          <a:xfrm>
            <a:off x="5495544" y="1920240"/>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Client selects fields</a:t>
            </a:r>
            <a:endParaRPr lang="en-US" sz="830" dirty="0"/>
          </a:p>
        </p:txBody>
      </p:sp>
      <p:sp>
        <p:nvSpPr>
          <p:cNvPr id="21" name="Text 19"/>
          <p:cNvSpPr/>
          <p:nvPr/>
        </p:nvSpPr>
        <p:spPr>
          <a:xfrm>
            <a:off x="8421624" y="1920240"/>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Proto message decides schema</a:t>
            </a:r>
            <a:endParaRPr lang="en-US" sz="830" dirty="0"/>
          </a:p>
        </p:txBody>
      </p:sp>
      <p:sp>
        <p:nvSpPr>
          <p:cNvPr id="22" name="Shape 20"/>
          <p:cNvSpPr/>
          <p:nvPr/>
        </p:nvSpPr>
        <p:spPr>
          <a:xfrm>
            <a:off x="594360" y="2340864"/>
            <a:ext cx="10698480" cy="493776"/>
          </a:xfrm>
          <a:prstGeom prst="rect">
            <a:avLst/>
          </a:prstGeom>
          <a:solidFill>
            <a:srgbClr val="F8FAFC"/>
          </a:solidFill>
          <a:ln w="6350">
            <a:solidFill>
              <a:srgbClr val="D7E6F2"/>
            </a:solidFill>
            <a:prstDash val="solid"/>
          </a:ln>
        </p:spPr>
      </p:sp>
      <p:sp>
        <p:nvSpPr>
          <p:cNvPr id="23" name="Text 21"/>
          <p:cNvSpPr/>
          <p:nvPr/>
        </p:nvSpPr>
        <p:spPr>
          <a:xfrm>
            <a:off x="649224" y="2414016"/>
            <a:ext cx="1810512" cy="384048"/>
          </a:xfrm>
          <a:prstGeom prst="rect">
            <a:avLst/>
          </a:prstGeom>
          <a:noFill/>
          <a:ln/>
        </p:spPr>
        <p:txBody>
          <a:bodyPr wrap="square" lIns="0" tIns="0" rIns="0" bIns="0" rtlCol="0" anchor="ctr">
            <a:normAutofit/>
          </a:bodyPr>
          <a:lstStyle/>
          <a:p>
            <a:pPr algn="l" indent="0" marL="0">
              <a:buNone/>
            </a:pPr>
            <a:r>
              <a:rPr lang="en-US" sz="830" b="1" dirty="0">
                <a:solidFill>
                  <a:srgbClr val="123452"/>
                </a:solidFill>
              </a:rPr>
              <a:t>Interaction</a:t>
            </a:r>
            <a:endParaRPr lang="en-US" sz="830" dirty="0"/>
          </a:p>
        </p:txBody>
      </p:sp>
      <p:sp>
        <p:nvSpPr>
          <p:cNvPr id="24" name="Text 22"/>
          <p:cNvSpPr/>
          <p:nvPr/>
        </p:nvSpPr>
        <p:spPr>
          <a:xfrm>
            <a:off x="2569464" y="2414016"/>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HTTP methods over resources</a:t>
            </a:r>
            <a:endParaRPr lang="en-US" sz="830" dirty="0"/>
          </a:p>
        </p:txBody>
      </p:sp>
      <p:sp>
        <p:nvSpPr>
          <p:cNvPr id="25" name="Text 23"/>
          <p:cNvSpPr/>
          <p:nvPr/>
        </p:nvSpPr>
        <p:spPr>
          <a:xfrm>
            <a:off x="5495544" y="2414016"/>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Query/mutation/subscription</a:t>
            </a:r>
            <a:endParaRPr lang="en-US" sz="830" dirty="0"/>
          </a:p>
        </p:txBody>
      </p:sp>
      <p:sp>
        <p:nvSpPr>
          <p:cNvPr id="26" name="Text 24"/>
          <p:cNvSpPr/>
          <p:nvPr/>
        </p:nvSpPr>
        <p:spPr>
          <a:xfrm>
            <a:off x="8421624" y="2414016"/>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Remote method calls + streams</a:t>
            </a:r>
            <a:endParaRPr lang="en-US" sz="830" dirty="0"/>
          </a:p>
        </p:txBody>
      </p:sp>
      <p:sp>
        <p:nvSpPr>
          <p:cNvPr id="27" name="Shape 25"/>
          <p:cNvSpPr/>
          <p:nvPr/>
        </p:nvSpPr>
        <p:spPr>
          <a:xfrm>
            <a:off x="594360" y="2834640"/>
            <a:ext cx="10698480" cy="493776"/>
          </a:xfrm>
          <a:prstGeom prst="rect">
            <a:avLst/>
          </a:prstGeom>
          <a:solidFill>
            <a:srgbClr val="FFFFFF"/>
          </a:solidFill>
          <a:ln w="6350">
            <a:solidFill>
              <a:srgbClr val="D7E6F2"/>
            </a:solidFill>
            <a:prstDash val="solid"/>
          </a:ln>
        </p:spPr>
      </p:sp>
      <p:sp>
        <p:nvSpPr>
          <p:cNvPr id="28" name="Text 26"/>
          <p:cNvSpPr/>
          <p:nvPr/>
        </p:nvSpPr>
        <p:spPr>
          <a:xfrm>
            <a:off x="649224" y="2907792"/>
            <a:ext cx="1810512" cy="384048"/>
          </a:xfrm>
          <a:prstGeom prst="rect">
            <a:avLst/>
          </a:prstGeom>
          <a:noFill/>
          <a:ln/>
        </p:spPr>
        <p:txBody>
          <a:bodyPr wrap="square" lIns="0" tIns="0" rIns="0" bIns="0" rtlCol="0" anchor="ctr">
            <a:normAutofit/>
          </a:bodyPr>
          <a:lstStyle/>
          <a:p>
            <a:pPr algn="l" indent="0" marL="0">
              <a:buNone/>
            </a:pPr>
            <a:r>
              <a:rPr lang="en-US" sz="830" b="1" dirty="0">
                <a:solidFill>
                  <a:srgbClr val="123452"/>
                </a:solidFill>
              </a:rPr>
              <a:t>Coupling</a:t>
            </a:r>
            <a:endParaRPr lang="en-US" sz="830" dirty="0"/>
          </a:p>
        </p:txBody>
      </p:sp>
      <p:sp>
        <p:nvSpPr>
          <p:cNvPr id="29" name="Text 27"/>
          <p:cNvSpPr/>
          <p:nvPr/>
        </p:nvSpPr>
        <p:spPr>
          <a:xfrm>
            <a:off x="2569464" y="2907792"/>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Low-to-medium</a:t>
            </a:r>
            <a:endParaRPr lang="en-US" sz="830" dirty="0"/>
          </a:p>
        </p:txBody>
      </p:sp>
      <p:sp>
        <p:nvSpPr>
          <p:cNvPr id="30" name="Text 28"/>
          <p:cNvSpPr/>
          <p:nvPr/>
        </p:nvSpPr>
        <p:spPr>
          <a:xfrm>
            <a:off x="5495544" y="2907792"/>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Schema graph coupling</a:t>
            </a:r>
            <a:endParaRPr lang="en-US" sz="830" dirty="0"/>
          </a:p>
        </p:txBody>
      </p:sp>
      <p:sp>
        <p:nvSpPr>
          <p:cNvPr id="31" name="Text 29"/>
          <p:cNvSpPr/>
          <p:nvPr/>
        </p:nvSpPr>
        <p:spPr>
          <a:xfrm>
            <a:off x="8421624" y="2907792"/>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Strong IDL coupling</a:t>
            </a:r>
            <a:endParaRPr lang="en-US" sz="830" dirty="0"/>
          </a:p>
        </p:txBody>
      </p:sp>
      <p:sp>
        <p:nvSpPr>
          <p:cNvPr id="32" name="Shape 30"/>
          <p:cNvSpPr/>
          <p:nvPr/>
        </p:nvSpPr>
        <p:spPr>
          <a:xfrm>
            <a:off x="594360" y="3328416"/>
            <a:ext cx="10698480" cy="493776"/>
          </a:xfrm>
          <a:prstGeom prst="rect">
            <a:avLst/>
          </a:prstGeom>
          <a:solidFill>
            <a:srgbClr val="F8FAFC"/>
          </a:solidFill>
          <a:ln w="6350">
            <a:solidFill>
              <a:srgbClr val="D7E6F2"/>
            </a:solidFill>
            <a:prstDash val="solid"/>
          </a:ln>
        </p:spPr>
      </p:sp>
      <p:sp>
        <p:nvSpPr>
          <p:cNvPr id="33" name="Text 31"/>
          <p:cNvSpPr/>
          <p:nvPr/>
        </p:nvSpPr>
        <p:spPr>
          <a:xfrm>
            <a:off x="649224" y="3401568"/>
            <a:ext cx="1810512" cy="384048"/>
          </a:xfrm>
          <a:prstGeom prst="rect">
            <a:avLst/>
          </a:prstGeom>
          <a:noFill/>
          <a:ln/>
        </p:spPr>
        <p:txBody>
          <a:bodyPr wrap="square" lIns="0" tIns="0" rIns="0" bIns="0" rtlCol="0" anchor="ctr">
            <a:normAutofit/>
          </a:bodyPr>
          <a:lstStyle/>
          <a:p>
            <a:pPr algn="l" indent="0" marL="0">
              <a:buNone/>
            </a:pPr>
            <a:r>
              <a:rPr lang="en-US" sz="830" b="1" dirty="0">
                <a:solidFill>
                  <a:srgbClr val="123452"/>
                </a:solidFill>
              </a:rPr>
              <a:t>Human inspectability</a:t>
            </a:r>
            <a:endParaRPr lang="en-US" sz="830" dirty="0"/>
          </a:p>
        </p:txBody>
      </p:sp>
      <p:sp>
        <p:nvSpPr>
          <p:cNvPr id="34" name="Text 32"/>
          <p:cNvSpPr/>
          <p:nvPr/>
        </p:nvSpPr>
        <p:spPr>
          <a:xfrm>
            <a:off x="2569464" y="3401568"/>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High</a:t>
            </a:r>
            <a:endParaRPr lang="en-US" sz="830" dirty="0"/>
          </a:p>
        </p:txBody>
      </p:sp>
      <p:sp>
        <p:nvSpPr>
          <p:cNvPr id="35" name="Text 33"/>
          <p:cNvSpPr/>
          <p:nvPr/>
        </p:nvSpPr>
        <p:spPr>
          <a:xfrm>
            <a:off x="5495544" y="3401568"/>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Medium-high</a:t>
            </a:r>
            <a:endParaRPr lang="en-US" sz="830" dirty="0"/>
          </a:p>
        </p:txBody>
      </p:sp>
      <p:sp>
        <p:nvSpPr>
          <p:cNvPr id="36" name="Text 34"/>
          <p:cNvSpPr/>
          <p:nvPr/>
        </p:nvSpPr>
        <p:spPr>
          <a:xfrm>
            <a:off x="8421624" y="3401568"/>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Lower</a:t>
            </a:r>
            <a:endParaRPr lang="en-US" sz="830" dirty="0"/>
          </a:p>
        </p:txBody>
      </p:sp>
      <p:sp>
        <p:nvSpPr>
          <p:cNvPr id="37" name="Shape 35"/>
          <p:cNvSpPr/>
          <p:nvPr/>
        </p:nvSpPr>
        <p:spPr>
          <a:xfrm>
            <a:off x="594360" y="3822192"/>
            <a:ext cx="10698480" cy="493776"/>
          </a:xfrm>
          <a:prstGeom prst="rect">
            <a:avLst/>
          </a:prstGeom>
          <a:solidFill>
            <a:srgbClr val="FFFFFF"/>
          </a:solidFill>
          <a:ln w="6350">
            <a:solidFill>
              <a:srgbClr val="D7E6F2"/>
            </a:solidFill>
            <a:prstDash val="solid"/>
          </a:ln>
        </p:spPr>
      </p:sp>
      <p:sp>
        <p:nvSpPr>
          <p:cNvPr id="38" name="Text 36"/>
          <p:cNvSpPr/>
          <p:nvPr/>
        </p:nvSpPr>
        <p:spPr>
          <a:xfrm>
            <a:off x="649224" y="3895344"/>
            <a:ext cx="1810512" cy="384048"/>
          </a:xfrm>
          <a:prstGeom prst="rect">
            <a:avLst/>
          </a:prstGeom>
          <a:noFill/>
          <a:ln/>
        </p:spPr>
        <p:txBody>
          <a:bodyPr wrap="square" lIns="0" tIns="0" rIns="0" bIns="0" rtlCol="0" anchor="ctr">
            <a:normAutofit/>
          </a:bodyPr>
          <a:lstStyle/>
          <a:p>
            <a:pPr algn="l" indent="0" marL="0">
              <a:buNone/>
            </a:pPr>
            <a:r>
              <a:rPr lang="en-US" sz="830" b="1" dirty="0">
                <a:solidFill>
                  <a:srgbClr val="123452"/>
                </a:solidFill>
              </a:rPr>
              <a:t>Tooling</a:t>
            </a:r>
            <a:endParaRPr lang="en-US" sz="830" dirty="0"/>
          </a:p>
        </p:txBody>
      </p:sp>
      <p:sp>
        <p:nvSpPr>
          <p:cNvPr id="39" name="Text 37"/>
          <p:cNvSpPr/>
          <p:nvPr/>
        </p:nvSpPr>
        <p:spPr>
          <a:xfrm>
            <a:off x="2569464" y="3895344"/>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Very broad</a:t>
            </a:r>
            <a:endParaRPr lang="en-US" sz="830" dirty="0"/>
          </a:p>
        </p:txBody>
      </p:sp>
      <p:sp>
        <p:nvSpPr>
          <p:cNvPr id="40" name="Text 38"/>
          <p:cNvSpPr/>
          <p:nvPr/>
        </p:nvSpPr>
        <p:spPr>
          <a:xfrm>
            <a:off x="5495544" y="3895344"/>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Strong schema tools</a:t>
            </a:r>
            <a:endParaRPr lang="en-US" sz="830" dirty="0"/>
          </a:p>
        </p:txBody>
      </p:sp>
      <p:sp>
        <p:nvSpPr>
          <p:cNvPr id="41" name="Text 39"/>
          <p:cNvSpPr/>
          <p:nvPr/>
        </p:nvSpPr>
        <p:spPr>
          <a:xfrm>
            <a:off x="8421624" y="3895344"/>
            <a:ext cx="2816352" cy="384048"/>
          </a:xfrm>
          <a:prstGeom prst="rect">
            <a:avLst/>
          </a:prstGeom>
          <a:noFill/>
          <a:ln/>
        </p:spPr>
        <p:txBody>
          <a:bodyPr wrap="square" lIns="0" tIns="0" rIns="0" bIns="0" rtlCol="0" anchor="ctr">
            <a:normAutofit/>
          </a:bodyPr>
          <a:lstStyle/>
          <a:p>
            <a:pPr algn="ctr" indent="0" marL="0">
              <a:buNone/>
            </a:pPr>
            <a:r>
              <a:rPr lang="en-US" sz="830" dirty="0">
                <a:solidFill>
                  <a:srgbClr val="1F2A37"/>
                </a:solidFill>
              </a:rPr>
              <a:t>Strong codegen</a:t>
            </a:r>
            <a:endParaRPr lang="en-US" sz="830" dirty="0"/>
          </a:p>
        </p:txBody>
      </p:sp>
      <p:sp>
        <p:nvSpPr>
          <p:cNvPr id="42" name="Shape 40"/>
          <p:cNvSpPr/>
          <p:nvPr/>
        </p:nvSpPr>
        <p:spPr>
          <a:xfrm>
            <a:off x="713232" y="4892040"/>
            <a:ext cx="10698480" cy="777240"/>
          </a:xfrm>
          <a:prstGeom prst="roundRect">
            <a:avLst>
              <a:gd name="adj" fmla="val 5882"/>
            </a:avLst>
          </a:prstGeom>
          <a:solidFill>
            <a:srgbClr val="F7FBFE"/>
          </a:solidFill>
          <a:ln w="12700">
            <a:solidFill>
              <a:srgbClr val="123452"/>
            </a:solidFill>
            <a:prstDash val="solid"/>
          </a:ln>
        </p:spPr>
      </p:sp>
      <p:sp>
        <p:nvSpPr>
          <p:cNvPr id="43" name="Shape 41"/>
          <p:cNvSpPr/>
          <p:nvPr/>
        </p:nvSpPr>
        <p:spPr>
          <a:xfrm>
            <a:off x="713232" y="4892040"/>
            <a:ext cx="73152" cy="777240"/>
          </a:xfrm>
          <a:prstGeom prst="rect">
            <a:avLst/>
          </a:prstGeom>
          <a:solidFill>
            <a:srgbClr val="123452"/>
          </a:solidFill>
          <a:ln w="12700">
            <a:solidFill>
              <a:srgbClr val="123452"/>
            </a:solidFill>
            <a:prstDash val="solid"/>
          </a:ln>
        </p:spPr>
      </p:sp>
      <p:sp>
        <p:nvSpPr>
          <p:cNvPr id="44" name="Text 42"/>
          <p:cNvSpPr/>
          <p:nvPr/>
        </p:nvSpPr>
        <p:spPr>
          <a:xfrm>
            <a:off x="877824" y="5020056"/>
            <a:ext cx="10442448" cy="228600"/>
          </a:xfrm>
          <a:prstGeom prst="rect">
            <a:avLst/>
          </a:prstGeom>
          <a:noFill/>
          <a:ln/>
        </p:spPr>
        <p:txBody>
          <a:bodyPr wrap="square" lIns="0" tIns="0" rIns="0" bIns="0" rtlCol="0" anchor="ctr">
            <a:normAutofit/>
          </a:bodyPr>
          <a:lstStyle/>
          <a:p>
            <a:pPr indent="0" marL="0">
              <a:buNone/>
            </a:pPr>
            <a:r>
              <a:rPr lang="en-US" sz="1350" b="1" dirty="0">
                <a:solidFill>
                  <a:srgbClr val="123452"/>
                </a:solidFill>
              </a:rPr>
              <a:t>Teaching point</a:t>
            </a:r>
            <a:endParaRPr lang="en-US" sz="1350" dirty="0"/>
          </a:p>
        </p:txBody>
      </p:sp>
      <p:sp>
        <p:nvSpPr>
          <p:cNvPr id="45" name="Text 43"/>
          <p:cNvSpPr/>
          <p:nvPr/>
        </p:nvSpPr>
        <p:spPr>
          <a:xfrm>
            <a:off x="877824" y="5349240"/>
            <a:ext cx="10442448" cy="210312"/>
          </a:xfrm>
          <a:prstGeom prst="rect">
            <a:avLst/>
          </a:prstGeom>
          <a:noFill/>
          <a:ln/>
        </p:spPr>
        <p:txBody>
          <a:bodyPr wrap="square" lIns="254" tIns="254" rIns="254" bIns="254" rtlCol="0" anchor="t">
            <a:normAutofit/>
          </a:bodyPr>
          <a:lstStyle/>
          <a:p>
            <a:pPr indent="0" marL="0">
              <a:buNone/>
            </a:pPr>
            <a:r>
              <a:rPr lang="en-US" sz="1280" dirty="0">
                <a:solidFill>
                  <a:srgbClr val="1F2A37"/>
                </a:solidFill>
              </a:rPr>
              <a:t>API choice is already a design decision. Do not jump to MCP or A2A until you know the desired contract, caller, runtime autonomy, and lifecycle.</a:t>
            </a:r>
            <a:endParaRPr lang="en-US" sz="12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0A9B9B"/>
          </a:solidFill>
          <a:ln w="12700">
            <a:solidFill>
              <a:srgbClr val="0A9B9B"/>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0A9B9B"/>
                </a:solidFill>
                <a:latin typeface="Aptos" pitchFamily="34" charset="0"/>
                <a:ea typeface="Aptos" pitchFamily="34" charset="-122"/>
                <a:cs typeface="Aptos" pitchFamily="34" charset="-120"/>
              </a:rPr>
              <a:t>APIS</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APIs win when business capability is stable, bounded, and directly testable</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10</a:t>
            </a:r>
            <a:endParaRPr lang="en-US" sz="800" dirty="0"/>
          </a:p>
        </p:txBody>
      </p:sp>
      <p:sp>
        <p:nvSpPr>
          <p:cNvPr id="9" name="Shape 7"/>
          <p:cNvSpPr/>
          <p:nvPr/>
        </p:nvSpPr>
        <p:spPr>
          <a:xfrm>
            <a:off x="640080" y="1417320"/>
            <a:ext cx="3337560" cy="1463040"/>
          </a:xfrm>
          <a:prstGeom prst="roundRect">
            <a:avLst>
              <a:gd name="adj" fmla="val 3125"/>
            </a:avLst>
          </a:prstGeom>
          <a:solidFill>
            <a:srgbClr val="F7FBFE"/>
          </a:solidFill>
          <a:ln w="12700">
            <a:solidFill>
              <a:srgbClr val="0A9B9B"/>
            </a:solidFill>
            <a:prstDash val="solid"/>
          </a:ln>
        </p:spPr>
      </p:sp>
      <p:sp>
        <p:nvSpPr>
          <p:cNvPr id="10" name="Shape 8"/>
          <p:cNvSpPr/>
          <p:nvPr/>
        </p:nvSpPr>
        <p:spPr>
          <a:xfrm>
            <a:off x="640080" y="1417320"/>
            <a:ext cx="73152" cy="1463040"/>
          </a:xfrm>
          <a:prstGeom prst="rect">
            <a:avLst/>
          </a:prstGeom>
          <a:solidFill>
            <a:srgbClr val="0A9B9B"/>
          </a:solidFill>
          <a:ln w="12700">
            <a:solidFill>
              <a:srgbClr val="0A9B9B"/>
            </a:solidFill>
            <a:prstDash val="solid"/>
          </a:ln>
        </p:spPr>
      </p:sp>
      <p:sp>
        <p:nvSpPr>
          <p:cNvPr id="11" name="Text 9"/>
          <p:cNvSpPr/>
          <p:nvPr/>
        </p:nvSpPr>
        <p:spPr>
          <a:xfrm>
            <a:off x="804672" y="1545336"/>
            <a:ext cx="308152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Use APIs when…</a:t>
            </a:r>
            <a:endParaRPr lang="en-US" sz="1300" dirty="0"/>
          </a:p>
        </p:txBody>
      </p:sp>
      <p:sp>
        <p:nvSpPr>
          <p:cNvPr id="12" name="Text 10"/>
          <p:cNvSpPr/>
          <p:nvPr/>
        </p:nvSpPr>
        <p:spPr>
          <a:xfrm>
            <a:off x="804672" y="1874520"/>
            <a:ext cx="3081528" cy="89611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 Inputs and outputs are known</a:t>
            </a:r>
            <a:endParaRPr lang="en-US" sz="1080" dirty="0"/>
          </a:p>
          <a:p>
            <a:pPr indent="0" marL="0">
              <a:buNone/>
            </a:pPr>
            <a:r>
              <a:rPr lang="en-US" sz="1080" dirty="0">
                <a:solidFill>
                  <a:srgbClr val="1F2A37"/>
                </a:solidFill>
              </a:rPr>
              <a:t>• Caller owns orchestration</a:t>
            </a:r>
            <a:endParaRPr lang="en-US" sz="1080" dirty="0"/>
          </a:p>
          <a:p>
            <a:pPr indent="0" marL="0">
              <a:buNone/>
            </a:pPr>
            <a:r>
              <a:rPr lang="en-US" sz="1080" dirty="0">
                <a:solidFill>
                  <a:srgbClr val="1F2A37"/>
                </a:solidFill>
              </a:rPr>
              <a:t>• Determinism and SLAs matter</a:t>
            </a:r>
            <a:endParaRPr lang="en-US" sz="1080" dirty="0"/>
          </a:p>
          <a:p>
            <a:pPr indent="0" marL="0">
              <a:buNone/>
            </a:pPr>
            <a:r>
              <a:rPr lang="en-US" sz="1080" dirty="0">
                <a:solidFill>
                  <a:srgbClr val="1F2A37"/>
                </a:solidFill>
              </a:rPr>
              <a:t>• Human approval is not central to every step</a:t>
            </a:r>
            <a:endParaRPr lang="en-US" sz="1080" dirty="0"/>
          </a:p>
        </p:txBody>
      </p:sp>
      <p:sp>
        <p:nvSpPr>
          <p:cNvPr id="13" name="Shape 11"/>
          <p:cNvSpPr/>
          <p:nvPr/>
        </p:nvSpPr>
        <p:spPr>
          <a:xfrm>
            <a:off x="4389120" y="1417320"/>
            <a:ext cx="3337560" cy="1463040"/>
          </a:xfrm>
          <a:prstGeom prst="roundRect">
            <a:avLst>
              <a:gd name="adj" fmla="val 3125"/>
            </a:avLst>
          </a:prstGeom>
          <a:solidFill>
            <a:srgbClr val="F7FBFE"/>
          </a:solidFill>
          <a:ln w="12700">
            <a:solidFill>
              <a:srgbClr val="D99A3D"/>
            </a:solidFill>
            <a:prstDash val="solid"/>
          </a:ln>
        </p:spPr>
      </p:sp>
      <p:sp>
        <p:nvSpPr>
          <p:cNvPr id="14" name="Shape 12"/>
          <p:cNvSpPr/>
          <p:nvPr/>
        </p:nvSpPr>
        <p:spPr>
          <a:xfrm>
            <a:off x="4389120" y="1417320"/>
            <a:ext cx="73152" cy="1463040"/>
          </a:xfrm>
          <a:prstGeom prst="rect">
            <a:avLst/>
          </a:prstGeom>
          <a:solidFill>
            <a:srgbClr val="D99A3D"/>
          </a:solidFill>
          <a:ln w="12700">
            <a:solidFill>
              <a:srgbClr val="D99A3D"/>
            </a:solidFill>
            <a:prstDash val="solid"/>
          </a:ln>
        </p:spPr>
      </p:sp>
      <p:sp>
        <p:nvSpPr>
          <p:cNvPr id="15" name="Text 13"/>
          <p:cNvSpPr/>
          <p:nvPr/>
        </p:nvSpPr>
        <p:spPr>
          <a:xfrm>
            <a:off x="4553712" y="1545336"/>
            <a:ext cx="3081528" cy="228600"/>
          </a:xfrm>
          <a:prstGeom prst="rect">
            <a:avLst/>
          </a:prstGeom>
          <a:noFill/>
          <a:ln/>
        </p:spPr>
        <p:txBody>
          <a:bodyPr wrap="square" lIns="0" tIns="0" rIns="0" bIns="0" rtlCol="0" anchor="ctr">
            <a:normAutofit/>
          </a:bodyPr>
          <a:lstStyle/>
          <a:p>
            <a:pPr indent="0" marL="0">
              <a:buNone/>
            </a:pPr>
            <a:r>
              <a:rPr lang="en-US" sz="1300" b="1" dirty="0">
                <a:solidFill>
                  <a:srgbClr val="D99A3D"/>
                </a:solidFill>
              </a:rPr>
              <a:t>Do not overcomplicate when…</a:t>
            </a:r>
            <a:endParaRPr lang="en-US" sz="1300" dirty="0"/>
          </a:p>
        </p:txBody>
      </p:sp>
      <p:sp>
        <p:nvSpPr>
          <p:cNvPr id="16" name="Text 14"/>
          <p:cNvSpPr/>
          <p:nvPr/>
        </p:nvSpPr>
        <p:spPr>
          <a:xfrm>
            <a:off x="4553712" y="1874520"/>
            <a:ext cx="3081528" cy="89611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 The flow is CRUD or simple RPC</a:t>
            </a:r>
            <a:endParaRPr lang="en-US" sz="1080" dirty="0"/>
          </a:p>
          <a:p>
            <a:pPr indent="0" marL="0">
              <a:buNone/>
            </a:pPr>
            <a:r>
              <a:rPr lang="en-US" sz="1080" dirty="0">
                <a:solidFill>
                  <a:srgbClr val="1F2A37"/>
                </a:solidFill>
              </a:rPr>
              <a:t>• The domain has strict compliance boundaries</a:t>
            </a:r>
            <a:endParaRPr lang="en-US" sz="1080" dirty="0"/>
          </a:p>
          <a:p>
            <a:pPr indent="0" marL="0">
              <a:buNone/>
            </a:pPr>
            <a:r>
              <a:rPr lang="en-US" sz="1080" dirty="0">
                <a:solidFill>
                  <a:srgbClr val="1F2A37"/>
                </a:solidFill>
              </a:rPr>
              <a:t>• You need high-throughput service calls</a:t>
            </a:r>
            <a:endParaRPr lang="en-US" sz="1080" dirty="0"/>
          </a:p>
          <a:p>
            <a:pPr indent="0" marL="0">
              <a:buNone/>
            </a:pPr>
            <a:r>
              <a:rPr lang="en-US" sz="1080" dirty="0">
                <a:solidFill>
                  <a:srgbClr val="1F2A37"/>
                </a:solidFill>
              </a:rPr>
              <a:t>• The result must be identical for the same input</a:t>
            </a:r>
            <a:endParaRPr lang="en-US" sz="1080" dirty="0"/>
          </a:p>
        </p:txBody>
      </p:sp>
      <p:sp>
        <p:nvSpPr>
          <p:cNvPr id="17" name="Shape 15"/>
          <p:cNvSpPr/>
          <p:nvPr/>
        </p:nvSpPr>
        <p:spPr>
          <a:xfrm>
            <a:off x="8138160" y="1417320"/>
            <a:ext cx="3337560" cy="1463040"/>
          </a:xfrm>
          <a:prstGeom prst="roundRect">
            <a:avLst>
              <a:gd name="adj" fmla="val 3125"/>
            </a:avLst>
          </a:prstGeom>
          <a:solidFill>
            <a:srgbClr val="F7FBFE"/>
          </a:solidFill>
          <a:ln w="12700">
            <a:solidFill>
              <a:srgbClr val="B65F62"/>
            </a:solidFill>
            <a:prstDash val="solid"/>
          </a:ln>
        </p:spPr>
      </p:sp>
      <p:sp>
        <p:nvSpPr>
          <p:cNvPr id="18" name="Shape 16"/>
          <p:cNvSpPr/>
          <p:nvPr/>
        </p:nvSpPr>
        <p:spPr>
          <a:xfrm>
            <a:off x="8138160" y="1417320"/>
            <a:ext cx="73152" cy="1463040"/>
          </a:xfrm>
          <a:prstGeom prst="rect">
            <a:avLst/>
          </a:prstGeom>
          <a:solidFill>
            <a:srgbClr val="B65F62"/>
          </a:solidFill>
          <a:ln w="12700">
            <a:solidFill>
              <a:srgbClr val="B65F62"/>
            </a:solidFill>
            <a:prstDash val="solid"/>
          </a:ln>
        </p:spPr>
      </p:sp>
      <p:sp>
        <p:nvSpPr>
          <p:cNvPr id="19" name="Text 17"/>
          <p:cNvSpPr/>
          <p:nvPr/>
        </p:nvSpPr>
        <p:spPr>
          <a:xfrm>
            <a:off x="8302752" y="1545336"/>
            <a:ext cx="3081528" cy="228600"/>
          </a:xfrm>
          <a:prstGeom prst="rect">
            <a:avLst/>
          </a:prstGeom>
          <a:noFill/>
          <a:ln/>
        </p:spPr>
        <p:txBody>
          <a:bodyPr wrap="square" lIns="0" tIns="0" rIns="0" bIns="0" rtlCol="0" anchor="ctr">
            <a:normAutofit/>
          </a:bodyPr>
          <a:lstStyle/>
          <a:p>
            <a:pPr indent="0" marL="0">
              <a:buNone/>
            </a:pPr>
            <a:r>
              <a:rPr lang="en-US" sz="1300" b="1" dirty="0">
                <a:solidFill>
                  <a:srgbClr val="B65F62"/>
                </a:solidFill>
              </a:rPr>
              <a:t>API failure modes</a:t>
            </a:r>
            <a:endParaRPr lang="en-US" sz="1300" dirty="0"/>
          </a:p>
        </p:txBody>
      </p:sp>
      <p:sp>
        <p:nvSpPr>
          <p:cNvPr id="20" name="Text 18"/>
          <p:cNvSpPr/>
          <p:nvPr/>
        </p:nvSpPr>
        <p:spPr>
          <a:xfrm>
            <a:off x="8302752" y="1874520"/>
            <a:ext cx="3081528" cy="89611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 Undocumented behavior</a:t>
            </a:r>
            <a:endParaRPr lang="en-US" sz="1080" dirty="0"/>
          </a:p>
          <a:p>
            <a:pPr indent="0" marL="0">
              <a:buNone/>
            </a:pPr>
            <a:r>
              <a:rPr lang="en-US" sz="1080" dirty="0">
                <a:solidFill>
                  <a:srgbClr val="1F2A37"/>
                </a:solidFill>
              </a:rPr>
              <a:t>• Version drift</a:t>
            </a:r>
            <a:endParaRPr lang="en-US" sz="1080" dirty="0"/>
          </a:p>
          <a:p>
            <a:pPr indent="0" marL="0">
              <a:buNone/>
            </a:pPr>
            <a:r>
              <a:rPr lang="en-US" sz="1080" dirty="0">
                <a:solidFill>
                  <a:srgbClr val="1F2A37"/>
                </a:solidFill>
              </a:rPr>
              <a:t>• Contract ambiguity</a:t>
            </a:r>
            <a:endParaRPr lang="en-US" sz="1080" dirty="0"/>
          </a:p>
          <a:p>
            <a:pPr indent="0" marL="0">
              <a:buNone/>
            </a:pPr>
            <a:r>
              <a:rPr lang="en-US" sz="1080" dirty="0">
                <a:solidFill>
                  <a:srgbClr val="1F2A37"/>
                </a:solidFill>
              </a:rPr>
              <a:t>• Leaky authorization</a:t>
            </a:r>
            <a:endParaRPr lang="en-US" sz="1080" dirty="0"/>
          </a:p>
          <a:p>
            <a:pPr indent="0" marL="0">
              <a:buNone/>
            </a:pPr>
            <a:r>
              <a:rPr lang="en-US" sz="1080" dirty="0">
                <a:solidFill>
                  <a:srgbClr val="1F2A37"/>
                </a:solidFill>
              </a:rPr>
              <a:t>• Chatty integration</a:t>
            </a:r>
            <a:endParaRPr lang="en-US" sz="1080" dirty="0"/>
          </a:p>
          <a:p>
            <a:pPr indent="0" marL="0">
              <a:buNone/>
            </a:pPr>
            <a:r>
              <a:rPr lang="en-US" sz="1080" dirty="0">
                <a:solidFill>
                  <a:srgbClr val="1F2A37"/>
                </a:solidFill>
              </a:rPr>
              <a:t>• Poor idempotency</a:t>
            </a:r>
            <a:endParaRPr lang="en-US" sz="1080" dirty="0"/>
          </a:p>
        </p:txBody>
      </p:sp>
      <p:sp>
        <p:nvSpPr>
          <p:cNvPr id="21" name="Text 19"/>
          <p:cNvSpPr/>
          <p:nvPr/>
        </p:nvSpPr>
        <p:spPr>
          <a:xfrm>
            <a:off x="658368" y="3310128"/>
            <a:ext cx="2011680" cy="256032"/>
          </a:xfrm>
          <a:prstGeom prst="rect">
            <a:avLst/>
          </a:prstGeom>
          <a:noFill/>
          <a:ln/>
        </p:spPr>
        <p:txBody>
          <a:bodyPr wrap="square" lIns="0" tIns="0" rIns="0" bIns="0" rtlCol="0" anchor="ctr"/>
          <a:lstStyle/>
          <a:p>
            <a:pPr indent="0" marL="0">
              <a:buNone/>
            </a:pPr>
            <a:r>
              <a:rPr lang="en-US" sz="1600" b="1" dirty="0">
                <a:solidFill>
                  <a:srgbClr val="123452"/>
                </a:solidFill>
              </a:rPr>
              <a:t>Design checklist</a:t>
            </a:r>
            <a:endParaRPr lang="en-US" sz="1600" dirty="0"/>
          </a:p>
        </p:txBody>
      </p:sp>
      <p:sp>
        <p:nvSpPr>
          <p:cNvPr id="22" name="Text 20"/>
          <p:cNvSpPr/>
          <p:nvPr/>
        </p:nvSpPr>
        <p:spPr>
          <a:xfrm>
            <a:off x="758952" y="3685032"/>
            <a:ext cx="10241280" cy="1554480"/>
          </a:xfrm>
          <a:prstGeom prst="rect">
            <a:avLst/>
          </a:prstGeom>
          <a:noFill/>
          <a:ln/>
        </p:spPr>
        <p:txBody>
          <a:bodyPr wrap="square" lIns="508" tIns="508" rIns="508" bIns="508" rtlCol="0" anchor="t">
            <a:normAutofit/>
          </a:bodyPr>
          <a:lstStyle/>
          <a:p>
            <a:r>
              <a:rPr lang="en-US" sz="1300" dirty="0">
                <a:solidFill>
                  <a:srgbClr val="1F2A37"/>
                </a:solidFill>
              </a:rPr>
              <a:t>Define the contract artifact: OpenAPI, GraphQL schema, proto, AsyncAPI, or equivalent</a:t>
            </a:r>
            <a:endParaRPr lang="en-US" sz="1300" dirty="0"/>
          </a:p>
          <a:p>
            <a:r>
              <a:rPr lang="en-US" sz="1300" dirty="0">
                <a:solidFill>
                  <a:srgbClr val="1F2A37"/>
                </a:solidFill>
              </a:rPr>
              <a:t>Specify idempotency, pagination, error models, retries, rate limits, authentication, and authorization</a:t>
            </a:r>
            <a:endParaRPr lang="en-US" sz="1300" dirty="0"/>
          </a:p>
          <a:p>
            <a:r>
              <a:rPr lang="en-US" sz="1300" dirty="0">
                <a:solidFill>
                  <a:srgbClr val="1F2A37"/>
                </a:solidFill>
              </a:rPr>
              <a:t>Create sandbox data, contract tests, and golden examples before adding AI orchestration</a:t>
            </a:r>
            <a:endParaRPr lang="en-US" sz="1300" dirty="0"/>
          </a:p>
          <a:p>
            <a:r>
              <a:rPr lang="en-US" sz="1300" dirty="0">
                <a:solidFill>
                  <a:srgbClr val="1F2A37"/>
                </a:solidFill>
              </a:rPr>
              <a:t>Expose only meaningful business capabilities—not implementation tables or internal object leakage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0A9B9B"/>
          </a:solidFill>
          <a:ln w="12700">
            <a:solidFill>
              <a:srgbClr val="0A9B9B"/>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0A9B9B"/>
                </a:solidFill>
                <a:latin typeface="Aptos" pitchFamily="34" charset="0"/>
                <a:ea typeface="Aptos" pitchFamily="34" charset="-122"/>
                <a:cs typeface="Aptos" pitchFamily="34" charset="-120"/>
              </a:rPr>
              <a:t>APIS</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In the demo, the API path is fastest and easiest to govern—but least adaptive</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11</a:t>
            </a:r>
            <a:endParaRPr lang="en-US" sz="800" dirty="0"/>
          </a:p>
        </p:txBody>
      </p:sp>
      <p:sp>
        <p:nvSpPr>
          <p:cNvPr id="9" name="Text 7"/>
          <p:cNvSpPr/>
          <p:nvPr/>
        </p:nvSpPr>
        <p:spPr>
          <a:xfrm>
            <a:off x="658368" y="1417320"/>
            <a:ext cx="2926080" cy="274320"/>
          </a:xfrm>
          <a:prstGeom prst="rect">
            <a:avLst/>
          </a:prstGeom>
          <a:noFill/>
          <a:ln/>
        </p:spPr>
        <p:txBody>
          <a:bodyPr wrap="square" lIns="0" tIns="0" rIns="0" bIns="0" rtlCol="0" anchor="ctr"/>
          <a:lstStyle/>
          <a:p>
            <a:pPr indent="0" marL="0">
              <a:buNone/>
            </a:pPr>
            <a:r>
              <a:rPr lang="en-US" sz="1700" b="1" dirty="0">
                <a:solidFill>
                  <a:srgbClr val="123452"/>
                </a:solidFill>
              </a:rPr>
              <a:t>API demo architecture</a:t>
            </a:r>
            <a:endParaRPr lang="en-US" sz="1700" dirty="0"/>
          </a:p>
        </p:txBody>
      </p:sp>
      <p:sp>
        <p:nvSpPr>
          <p:cNvPr id="10" name="Shape 8"/>
          <p:cNvSpPr/>
          <p:nvPr/>
        </p:nvSpPr>
        <p:spPr>
          <a:xfrm>
            <a:off x="2423160" y="2788920"/>
            <a:ext cx="1143000" cy="0"/>
          </a:xfrm>
          <a:prstGeom prst="line">
            <a:avLst/>
          </a:prstGeom>
          <a:noFill/>
          <a:ln w="25400">
            <a:solidFill>
              <a:srgbClr val="D7E6F2"/>
            </a:solidFill>
            <a:prstDash val="solid"/>
            <a:tailEnd type="triangle"/>
          </a:ln>
        </p:spPr>
      </p:sp>
      <p:sp>
        <p:nvSpPr>
          <p:cNvPr id="11" name="Shape 9"/>
          <p:cNvSpPr/>
          <p:nvPr/>
        </p:nvSpPr>
        <p:spPr>
          <a:xfrm>
            <a:off x="5806440" y="2788920"/>
            <a:ext cx="1143000" cy="0"/>
          </a:xfrm>
          <a:prstGeom prst="line">
            <a:avLst/>
          </a:prstGeom>
          <a:noFill/>
          <a:ln w="25400">
            <a:solidFill>
              <a:srgbClr val="D7E6F2"/>
            </a:solidFill>
            <a:prstDash val="solid"/>
            <a:tailEnd type="triangle"/>
          </a:ln>
        </p:spPr>
      </p:sp>
      <p:sp>
        <p:nvSpPr>
          <p:cNvPr id="12" name="Shape 10"/>
          <p:cNvSpPr/>
          <p:nvPr/>
        </p:nvSpPr>
        <p:spPr>
          <a:xfrm>
            <a:off x="685800" y="2240280"/>
            <a:ext cx="2468880" cy="1097280"/>
          </a:xfrm>
          <a:prstGeom prst="roundRect">
            <a:avLst>
              <a:gd name="adj" fmla="val 6667"/>
            </a:avLst>
          </a:prstGeom>
          <a:solidFill>
            <a:srgbClr val="FFFFFF"/>
          </a:solidFill>
          <a:ln w="19050">
            <a:solidFill>
              <a:srgbClr val="123452"/>
            </a:solidFill>
            <a:prstDash val="solid"/>
          </a:ln>
        </p:spPr>
      </p:sp>
      <p:sp>
        <p:nvSpPr>
          <p:cNvPr id="13" name="Text 11"/>
          <p:cNvSpPr/>
          <p:nvPr/>
        </p:nvSpPr>
        <p:spPr>
          <a:xfrm>
            <a:off x="822960" y="2450592"/>
            <a:ext cx="2194560" cy="210312"/>
          </a:xfrm>
          <a:prstGeom prst="rect">
            <a:avLst/>
          </a:prstGeom>
          <a:noFill/>
          <a:ln/>
        </p:spPr>
        <p:txBody>
          <a:bodyPr wrap="square" lIns="0" tIns="0" rIns="0" bIns="0" rtlCol="0" anchor="ctr">
            <a:normAutofit/>
          </a:bodyPr>
          <a:lstStyle/>
          <a:p>
            <a:pPr algn="ctr" indent="0" marL="0">
              <a:buNone/>
            </a:pPr>
            <a:r>
              <a:rPr lang="en-US" sz="1400" b="1" dirty="0">
                <a:solidFill>
                  <a:srgbClr val="123452"/>
                </a:solidFill>
              </a:rPr>
              <a:t>Local app</a:t>
            </a:r>
            <a:endParaRPr lang="en-US" sz="1400" dirty="0"/>
          </a:p>
        </p:txBody>
      </p:sp>
      <p:sp>
        <p:nvSpPr>
          <p:cNvPr id="14" name="Text 12"/>
          <p:cNvSpPr/>
          <p:nvPr/>
        </p:nvSpPr>
        <p:spPr>
          <a:xfrm>
            <a:off x="822960" y="2816352"/>
            <a:ext cx="2194560" cy="219456"/>
          </a:xfrm>
          <a:prstGeom prst="rect">
            <a:avLst/>
          </a:prstGeom>
          <a:noFill/>
          <a:ln/>
        </p:spPr>
        <p:txBody>
          <a:bodyPr wrap="square" lIns="0" tIns="0" rIns="0" bIns="0" rtlCol="0" anchor="ctr">
            <a:normAutofit/>
          </a:bodyPr>
          <a:lstStyle/>
          <a:p>
            <a:pPr algn="ctr" indent="0" marL="0">
              <a:buNone/>
            </a:pPr>
            <a:r>
              <a:rPr lang="en-US" sz="1050" dirty="0">
                <a:solidFill>
                  <a:srgbClr val="617184"/>
                </a:solidFill>
              </a:rPr>
              <a:t>calls known endpoints</a:t>
            </a:r>
            <a:endParaRPr lang="en-US" sz="1050" dirty="0"/>
          </a:p>
        </p:txBody>
      </p:sp>
      <p:sp>
        <p:nvSpPr>
          <p:cNvPr id="15" name="Shape 13"/>
          <p:cNvSpPr/>
          <p:nvPr/>
        </p:nvSpPr>
        <p:spPr>
          <a:xfrm>
            <a:off x="3657600" y="2240280"/>
            <a:ext cx="2468880" cy="1097280"/>
          </a:xfrm>
          <a:prstGeom prst="roundRect">
            <a:avLst>
              <a:gd name="adj" fmla="val 6667"/>
            </a:avLst>
          </a:prstGeom>
          <a:solidFill>
            <a:srgbClr val="FFFFFF"/>
          </a:solidFill>
          <a:ln w="19050">
            <a:solidFill>
              <a:srgbClr val="0A9B9B"/>
            </a:solidFill>
            <a:prstDash val="solid"/>
          </a:ln>
        </p:spPr>
      </p:sp>
      <p:sp>
        <p:nvSpPr>
          <p:cNvPr id="16" name="Text 14"/>
          <p:cNvSpPr/>
          <p:nvPr/>
        </p:nvSpPr>
        <p:spPr>
          <a:xfrm>
            <a:off x="3794760" y="2450592"/>
            <a:ext cx="2194560" cy="210312"/>
          </a:xfrm>
          <a:prstGeom prst="rect">
            <a:avLst/>
          </a:prstGeom>
          <a:noFill/>
          <a:ln/>
        </p:spPr>
        <p:txBody>
          <a:bodyPr wrap="square" lIns="0" tIns="0" rIns="0" bIns="0" rtlCol="0" anchor="ctr">
            <a:normAutofit/>
          </a:bodyPr>
          <a:lstStyle/>
          <a:p>
            <a:pPr algn="ctr" indent="0" marL="0">
              <a:buNone/>
            </a:pPr>
            <a:r>
              <a:rPr lang="en-US" sz="1400" b="1" dirty="0">
                <a:solidFill>
                  <a:srgbClr val="0A9B9B"/>
                </a:solidFill>
              </a:rPr>
              <a:t>Mock APIs</a:t>
            </a:r>
            <a:endParaRPr lang="en-US" sz="1400" dirty="0"/>
          </a:p>
        </p:txBody>
      </p:sp>
      <p:sp>
        <p:nvSpPr>
          <p:cNvPr id="17" name="Text 15"/>
          <p:cNvSpPr/>
          <p:nvPr/>
        </p:nvSpPr>
        <p:spPr>
          <a:xfrm>
            <a:off x="3794760" y="2816352"/>
            <a:ext cx="2194560" cy="219456"/>
          </a:xfrm>
          <a:prstGeom prst="rect">
            <a:avLst/>
          </a:prstGeom>
          <a:noFill/>
          <a:ln/>
        </p:spPr>
        <p:txBody>
          <a:bodyPr wrap="square" lIns="0" tIns="0" rIns="0" bIns="0" rtlCol="0" anchor="ctr">
            <a:normAutofit/>
          </a:bodyPr>
          <a:lstStyle/>
          <a:p>
            <a:pPr algn="ctr" indent="0" marL="0">
              <a:buNone/>
            </a:pPr>
            <a:r>
              <a:rPr lang="en-US" sz="1050" dirty="0">
                <a:solidFill>
                  <a:srgbClr val="617184"/>
                </a:solidFill>
              </a:rPr>
              <a:t>crm / usage / support</a:t>
            </a:r>
            <a:endParaRPr lang="en-US" sz="1050" dirty="0"/>
          </a:p>
        </p:txBody>
      </p:sp>
      <p:sp>
        <p:nvSpPr>
          <p:cNvPr id="18" name="Shape 16"/>
          <p:cNvSpPr/>
          <p:nvPr/>
        </p:nvSpPr>
        <p:spPr>
          <a:xfrm>
            <a:off x="7086600" y="2240280"/>
            <a:ext cx="2468880" cy="1097280"/>
          </a:xfrm>
          <a:prstGeom prst="roundRect">
            <a:avLst>
              <a:gd name="adj" fmla="val 6667"/>
            </a:avLst>
          </a:prstGeom>
          <a:solidFill>
            <a:srgbClr val="FFFFFF"/>
          </a:solidFill>
          <a:ln w="19050">
            <a:solidFill>
              <a:srgbClr val="D99A3D"/>
            </a:solidFill>
            <a:prstDash val="solid"/>
          </a:ln>
        </p:spPr>
      </p:sp>
      <p:sp>
        <p:nvSpPr>
          <p:cNvPr id="19" name="Text 17"/>
          <p:cNvSpPr/>
          <p:nvPr/>
        </p:nvSpPr>
        <p:spPr>
          <a:xfrm>
            <a:off x="7223760" y="2450592"/>
            <a:ext cx="2194560" cy="210312"/>
          </a:xfrm>
          <a:prstGeom prst="rect">
            <a:avLst/>
          </a:prstGeom>
          <a:noFill/>
          <a:ln/>
        </p:spPr>
        <p:txBody>
          <a:bodyPr wrap="square" lIns="0" tIns="0" rIns="0" bIns="0" rtlCol="0" anchor="ctr">
            <a:normAutofit/>
          </a:bodyPr>
          <a:lstStyle/>
          <a:p>
            <a:pPr algn="ctr" indent="0" marL="0">
              <a:buNone/>
            </a:pPr>
            <a:r>
              <a:rPr lang="en-US" sz="1400" b="1" dirty="0">
                <a:solidFill>
                  <a:srgbClr val="D99A3D"/>
                </a:solidFill>
              </a:rPr>
              <a:t>Recommendation</a:t>
            </a:r>
            <a:endParaRPr lang="en-US" sz="1400" dirty="0"/>
          </a:p>
        </p:txBody>
      </p:sp>
      <p:sp>
        <p:nvSpPr>
          <p:cNvPr id="20" name="Text 18"/>
          <p:cNvSpPr/>
          <p:nvPr/>
        </p:nvSpPr>
        <p:spPr>
          <a:xfrm>
            <a:off x="7223760" y="2816352"/>
            <a:ext cx="2194560" cy="219456"/>
          </a:xfrm>
          <a:prstGeom prst="rect">
            <a:avLst/>
          </a:prstGeom>
          <a:noFill/>
          <a:ln/>
        </p:spPr>
        <p:txBody>
          <a:bodyPr wrap="square" lIns="0" tIns="0" rIns="0" bIns="0" rtlCol="0" anchor="ctr">
            <a:normAutofit/>
          </a:bodyPr>
          <a:lstStyle/>
          <a:p>
            <a:pPr algn="ctr" indent="0" marL="0">
              <a:buNone/>
            </a:pPr>
            <a:r>
              <a:rPr lang="en-US" sz="1050" dirty="0">
                <a:solidFill>
                  <a:srgbClr val="617184"/>
                </a:solidFill>
              </a:rPr>
              <a:t>risk score + next action</a:t>
            </a:r>
            <a:endParaRPr lang="en-US" sz="1050" dirty="0"/>
          </a:p>
        </p:txBody>
      </p:sp>
      <p:sp>
        <p:nvSpPr>
          <p:cNvPr id="21" name="Shape 19"/>
          <p:cNvSpPr/>
          <p:nvPr/>
        </p:nvSpPr>
        <p:spPr>
          <a:xfrm>
            <a:off x="749808" y="4160520"/>
            <a:ext cx="3383280" cy="960120"/>
          </a:xfrm>
          <a:prstGeom prst="roundRect">
            <a:avLst>
              <a:gd name="adj" fmla="val 4762"/>
            </a:avLst>
          </a:prstGeom>
          <a:solidFill>
            <a:srgbClr val="F7FBFE"/>
          </a:solidFill>
          <a:ln w="12700">
            <a:solidFill>
              <a:srgbClr val="0A9B9B"/>
            </a:solidFill>
            <a:prstDash val="solid"/>
          </a:ln>
        </p:spPr>
      </p:sp>
      <p:sp>
        <p:nvSpPr>
          <p:cNvPr id="22" name="Shape 20"/>
          <p:cNvSpPr/>
          <p:nvPr/>
        </p:nvSpPr>
        <p:spPr>
          <a:xfrm>
            <a:off x="749808" y="4160520"/>
            <a:ext cx="73152" cy="960120"/>
          </a:xfrm>
          <a:prstGeom prst="rect">
            <a:avLst/>
          </a:prstGeom>
          <a:solidFill>
            <a:srgbClr val="0A9B9B"/>
          </a:solidFill>
          <a:ln w="12700">
            <a:solidFill>
              <a:srgbClr val="0A9B9B"/>
            </a:solidFill>
            <a:prstDash val="solid"/>
          </a:ln>
        </p:spPr>
      </p:sp>
      <p:sp>
        <p:nvSpPr>
          <p:cNvPr id="23" name="Text 21"/>
          <p:cNvSpPr/>
          <p:nvPr/>
        </p:nvSpPr>
        <p:spPr>
          <a:xfrm>
            <a:off x="914400" y="4288536"/>
            <a:ext cx="312724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What audience sees</a:t>
            </a:r>
            <a:endParaRPr lang="en-US" sz="1300" dirty="0"/>
          </a:p>
        </p:txBody>
      </p:sp>
      <p:sp>
        <p:nvSpPr>
          <p:cNvPr id="24" name="Text 22"/>
          <p:cNvSpPr/>
          <p:nvPr/>
        </p:nvSpPr>
        <p:spPr>
          <a:xfrm>
            <a:off x="914400" y="4617720"/>
            <a:ext cx="3127248" cy="393192"/>
          </a:xfrm>
          <a:prstGeom prst="rect">
            <a:avLst/>
          </a:prstGeom>
          <a:noFill/>
          <a:ln/>
        </p:spPr>
        <p:txBody>
          <a:bodyPr wrap="square" lIns="254" tIns="254" rIns="254" bIns="254" rtlCol="0" anchor="t">
            <a:normAutofit/>
          </a:bodyPr>
          <a:lstStyle/>
          <a:p>
            <a:pPr indent="0" marL="0">
              <a:buNone/>
            </a:pPr>
            <a:r>
              <a:rPr lang="en-US" sz="1150" dirty="0">
                <a:solidFill>
                  <a:srgbClr val="1F2A37"/>
                </a:solidFill>
              </a:rPr>
              <a:t>Predictable API calls and deterministic output. Easy to trace and test.</a:t>
            </a:r>
            <a:endParaRPr lang="en-US" sz="1150" dirty="0"/>
          </a:p>
        </p:txBody>
      </p:sp>
      <p:sp>
        <p:nvSpPr>
          <p:cNvPr id="25" name="Shape 23"/>
          <p:cNvSpPr/>
          <p:nvPr/>
        </p:nvSpPr>
        <p:spPr>
          <a:xfrm>
            <a:off x="4434840" y="4160520"/>
            <a:ext cx="3383280" cy="960120"/>
          </a:xfrm>
          <a:prstGeom prst="roundRect">
            <a:avLst>
              <a:gd name="adj" fmla="val 4762"/>
            </a:avLst>
          </a:prstGeom>
          <a:solidFill>
            <a:srgbClr val="F7FBFE"/>
          </a:solidFill>
          <a:ln w="12700">
            <a:solidFill>
              <a:srgbClr val="123452"/>
            </a:solidFill>
            <a:prstDash val="solid"/>
          </a:ln>
        </p:spPr>
      </p:sp>
      <p:sp>
        <p:nvSpPr>
          <p:cNvPr id="26" name="Shape 24"/>
          <p:cNvSpPr/>
          <p:nvPr/>
        </p:nvSpPr>
        <p:spPr>
          <a:xfrm>
            <a:off x="4434840" y="4160520"/>
            <a:ext cx="73152" cy="960120"/>
          </a:xfrm>
          <a:prstGeom prst="rect">
            <a:avLst/>
          </a:prstGeom>
          <a:solidFill>
            <a:srgbClr val="123452"/>
          </a:solidFill>
          <a:ln w="12700">
            <a:solidFill>
              <a:srgbClr val="123452"/>
            </a:solidFill>
            <a:prstDash val="solid"/>
          </a:ln>
        </p:spPr>
      </p:sp>
      <p:sp>
        <p:nvSpPr>
          <p:cNvPr id="27" name="Text 25"/>
          <p:cNvSpPr/>
          <p:nvPr/>
        </p:nvSpPr>
        <p:spPr>
          <a:xfrm>
            <a:off x="4599432" y="4288536"/>
            <a:ext cx="312724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What it proves</a:t>
            </a:r>
            <a:endParaRPr lang="en-US" sz="1300" dirty="0"/>
          </a:p>
        </p:txBody>
      </p:sp>
      <p:sp>
        <p:nvSpPr>
          <p:cNvPr id="28" name="Text 26"/>
          <p:cNvSpPr/>
          <p:nvPr/>
        </p:nvSpPr>
        <p:spPr>
          <a:xfrm>
            <a:off x="4599432" y="4617720"/>
            <a:ext cx="3127248" cy="393192"/>
          </a:xfrm>
          <a:prstGeom prst="rect">
            <a:avLst/>
          </a:prstGeom>
          <a:noFill/>
          <a:ln/>
        </p:spPr>
        <p:txBody>
          <a:bodyPr wrap="square" lIns="254" tIns="254" rIns="254" bIns="254" rtlCol="0" anchor="t">
            <a:normAutofit/>
          </a:bodyPr>
          <a:lstStyle/>
          <a:p>
            <a:pPr indent="0" marL="0">
              <a:buNone/>
            </a:pPr>
            <a:r>
              <a:rPr lang="en-US" sz="1150" dirty="0">
                <a:solidFill>
                  <a:srgbClr val="1F2A37"/>
                </a:solidFill>
              </a:rPr>
              <a:t>When capabilities are known, agents are not required for value.</a:t>
            </a:r>
            <a:endParaRPr lang="en-US" sz="1150" dirty="0"/>
          </a:p>
        </p:txBody>
      </p:sp>
      <p:sp>
        <p:nvSpPr>
          <p:cNvPr id="29" name="Shape 27"/>
          <p:cNvSpPr/>
          <p:nvPr/>
        </p:nvSpPr>
        <p:spPr>
          <a:xfrm>
            <a:off x="8138160" y="4160520"/>
            <a:ext cx="3383280" cy="960120"/>
          </a:xfrm>
          <a:prstGeom prst="roundRect">
            <a:avLst>
              <a:gd name="adj" fmla="val 4762"/>
            </a:avLst>
          </a:prstGeom>
          <a:solidFill>
            <a:srgbClr val="F7FBFE"/>
          </a:solidFill>
          <a:ln w="12700">
            <a:solidFill>
              <a:srgbClr val="B65F62"/>
            </a:solidFill>
            <a:prstDash val="solid"/>
          </a:ln>
        </p:spPr>
      </p:sp>
      <p:sp>
        <p:nvSpPr>
          <p:cNvPr id="30" name="Shape 28"/>
          <p:cNvSpPr/>
          <p:nvPr/>
        </p:nvSpPr>
        <p:spPr>
          <a:xfrm>
            <a:off x="8138160" y="4160520"/>
            <a:ext cx="73152" cy="960120"/>
          </a:xfrm>
          <a:prstGeom prst="rect">
            <a:avLst/>
          </a:prstGeom>
          <a:solidFill>
            <a:srgbClr val="B65F62"/>
          </a:solidFill>
          <a:ln w="12700">
            <a:solidFill>
              <a:srgbClr val="B65F62"/>
            </a:solidFill>
            <a:prstDash val="solid"/>
          </a:ln>
        </p:spPr>
      </p:sp>
      <p:sp>
        <p:nvSpPr>
          <p:cNvPr id="31" name="Text 29"/>
          <p:cNvSpPr/>
          <p:nvPr/>
        </p:nvSpPr>
        <p:spPr>
          <a:xfrm>
            <a:off x="8302752" y="4288536"/>
            <a:ext cx="3127248" cy="228600"/>
          </a:xfrm>
          <a:prstGeom prst="rect">
            <a:avLst/>
          </a:prstGeom>
          <a:noFill/>
          <a:ln/>
        </p:spPr>
        <p:txBody>
          <a:bodyPr wrap="square" lIns="0" tIns="0" rIns="0" bIns="0" rtlCol="0" anchor="ctr">
            <a:normAutofit/>
          </a:bodyPr>
          <a:lstStyle/>
          <a:p>
            <a:pPr indent="0" marL="0">
              <a:buNone/>
            </a:pPr>
            <a:r>
              <a:rPr lang="en-US" sz="1300" b="1" dirty="0">
                <a:solidFill>
                  <a:srgbClr val="B65F62"/>
                </a:solidFill>
              </a:rPr>
              <a:t>Limit</a:t>
            </a:r>
            <a:endParaRPr lang="en-US" sz="1300" dirty="0"/>
          </a:p>
        </p:txBody>
      </p:sp>
      <p:sp>
        <p:nvSpPr>
          <p:cNvPr id="32" name="Text 30"/>
          <p:cNvSpPr/>
          <p:nvPr/>
        </p:nvSpPr>
        <p:spPr>
          <a:xfrm>
            <a:off x="8302752" y="4617720"/>
            <a:ext cx="3127248" cy="393192"/>
          </a:xfrm>
          <a:prstGeom prst="rect">
            <a:avLst/>
          </a:prstGeom>
          <a:noFill/>
          <a:ln/>
        </p:spPr>
        <p:txBody>
          <a:bodyPr wrap="square" lIns="254" tIns="254" rIns="254" bIns="254" rtlCol="0" anchor="t">
            <a:normAutofit/>
          </a:bodyPr>
          <a:lstStyle/>
          <a:p>
            <a:pPr indent="0" marL="0">
              <a:buNone/>
            </a:pPr>
            <a:r>
              <a:rPr lang="en-US" sz="1150" dirty="0">
                <a:solidFill>
                  <a:srgbClr val="1F2A37"/>
                </a:solidFill>
              </a:rPr>
              <a:t>No dynamic tool discovery; changing data sources requires app changes.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5A9C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5A9C7"/>
          </a:solidFill>
          <a:ln w="12700">
            <a:solidFill>
              <a:srgbClr val="25A9C7"/>
            </a:solidFill>
            <a:prstDash val="solid"/>
          </a:ln>
        </p:spPr>
      </p:sp>
      <p:sp>
        <p:nvSpPr>
          <p:cNvPr id="3" name="Text 1"/>
          <p:cNvSpPr/>
          <p:nvPr/>
        </p:nvSpPr>
        <p:spPr>
          <a:xfrm>
            <a:off x="640080" y="658368"/>
            <a:ext cx="4754880" cy="228600"/>
          </a:xfrm>
          <a:prstGeom prst="rect">
            <a:avLst/>
          </a:prstGeom>
          <a:noFill/>
          <a:ln/>
        </p:spPr>
        <p:txBody>
          <a:bodyPr wrap="square" lIns="0" tIns="0" rIns="0" bIns="0" rtlCol="0" anchor="ctr"/>
          <a:lstStyle/>
          <a:p>
            <a:pPr indent="0" marL="0">
              <a:buNone/>
            </a:pPr>
            <a:r>
              <a:rPr lang="en-US" sz="1000" b="1" dirty="0">
                <a:solidFill>
                  <a:srgbClr val="FFFFFF"/>
                </a:solidFill>
              </a:rPr>
              <a:t>MCP</a:t>
            </a:r>
            <a:endParaRPr lang="en-US" sz="1000" dirty="0"/>
          </a:p>
        </p:txBody>
      </p:sp>
      <p:sp>
        <p:nvSpPr>
          <p:cNvPr id="4" name="Text 2"/>
          <p:cNvSpPr/>
          <p:nvPr/>
        </p:nvSpPr>
        <p:spPr>
          <a:xfrm>
            <a:off x="640080" y="1325880"/>
            <a:ext cx="9875520" cy="105156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MCP: a standard bridge between AI applications and external context</a:t>
            </a:r>
            <a:endParaRPr lang="en-US" sz="3200" dirty="0"/>
          </a:p>
        </p:txBody>
      </p:sp>
      <p:sp>
        <p:nvSpPr>
          <p:cNvPr id="5" name="Text 3"/>
          <p:cNvSpPr/>
          <p:nvPr/>
        </p:nvSpPr>
        <p:spPr>
          <a:xfrm>
            <a:off x="658368" y="2788920"/>
            <a:ext cx="8778240" cy="548640"/>
          </a:xfrm>
          <a:prstGeom prst="rect">
            <a:avLst/>
          </a:prstGeom>
          <a:noFill/>
          <a:ln/>
        </p:spPr>
        <p:txBody>
          <a:bodyPr wrap="square" lIns="0" tIns="0" rIns="0" bIns="0" rtlCol="0" anchor="ctr">
            <a:normAutofit/>
          </a:bodyPr>
          <a:lstStyle/>
          <a:p>
            <a:pPr indent="0" marL="0">
              <a:buNone/>
            </a:pPr>
            <a:r>
              <a:rPr lang="en-US" sz="1800" dirty="0">
                <a:solidFill>
                  <a:srgbClr val="F8FAFC"/>
                </a:solidFill>
              </a:rPr>
              <a:t>Use MCP when an AI host needs discoverable tools, resources, or prompts without bespoke integrations per client.</a:t>
            </a:r>
            <a:endParaRPr lang="en-US" sz="1800" dirty="0"/>
          </a:p>
        </p:txBody>
      </p:sp>
      <p:sp>
        <p:nvSpPr>
          <p:cNvPr id="6" name="Shape 4"/>
          <p:cNvSpPr/>
          <p:nvPr/>
        </p:nvSpPr>
        <p:spPr>
          <a:xfrm>
            <a:off x="658368" y="6163056"/>
            <a:ext cx="10881360" cy="0"/>
          </a:xfrm>
          <a:prstGeom prst="line">
            <a:avLst/>
          </a:prstGeom>
          <a:noFill/>
          <a:ln w="10160">
            <a:solidFill>
              <a:srgbClr val="FFFFFF">
                <a:alpha val="60000"/>
              </a:srgbClr>
            </a:solidFill>
            <a:prstDash val="solid"/>
          </a:ln>
        </p:spPr>
      </p:sp>
      <p:sp>
        <p:nvSpPr>
          <p:cNvPr id="7" name="Text 5"/>
          <p:cNvSpPr/>
          <p:nvPr/>
        </p:nvSpPr>
        <p:spPr>
          <a:xfrm>
            <a:off x="10899648" y="6236208"/>
            <a:ext cx="640080" cy="182880"/>
          </a:xfrm>
          <a:prstGeom prst="rect">
            <a:avLst/>
          </a:prstGeom>
          <a:noFill/>
          <a:ln/>
        </p:spPr>
        <p:txBody>
          <a:bodyPr wrap="square" lIns="0" tIns="0" rIns="0" bIns="0" rtlCol="0" anchor="ctr"/>
          <a:lstStyle/>
          <a:p>
            <a:pPr algn="r" indent="0" marL="0">
              <a:buNone/>
            </a:pPr>
            <a:r>
              <a:rPr lang="en-US" sz="850" dirty="0">
                <a:solidFill>
                  <a:srgbClr val="FFFFFF">
                    <a:alpha val="80000"/>
                  </a:srgbClr>
                </a:solidFill>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5A9C7"/>
          </a:solidFill>
          <a:ln w="12700">
            <a:solidFill>
              <a:srgbClr val="25A9C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5A9C7"/>
                </a:solidFill>
                <a:latin typeface="Aptos" pitchFamily="34" charset="0"/>
                <a:ea typeface="Aptos" pitchFamily="34" charset="-122"/>
                <a:cs typeface="Aptos" pitchFamily="34" charset="-120"/>
              </a:rPr>
              <a:t>MCP</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MCP equips an AI host with discoverable tools, resources, and prompts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Sources: Model Context Protocol docs and specification</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13</a:t>
            </a:r>
            <a:endParaRPr lang="en-US" sz="800" dirty="0"/>
          </a:p>
        </p:txBody>
      </p:sp>
      <p:sp>
        <p:nvSpPr>
          <p:cNvPr id="9" name="Shape 7"/>
          <p:cNvSpPr/>
          <p:nvPr/>
        </p:nvSpPr>
        <p:spPr>
          <a:xfrm>
            <a:off x="640080" y="1371600"/>
            <a:ext cx="3291840" cy="1325880"/>
          </a:xfrm>
          <a:prstGeom prst="roundRect">
            <a:avLst>
              <a:gd name="adj" fmla="val 3448"/>
            </a:avLst>
          </a:prstGeom>
          <a:solidFill>
            <a:srgbClr val="F7FBFE"/>
          </a:solidFill>
          <a:ln w="12700">
            <a:solidFill>
              <a:srgbClr val="25A9C7"/>
            </a:solidFill>
            <a:prstDash val="solid"/>
          </a:ln>
        </p:spPr>
      </p:sp>
      <p:sp>
        <p:nvSpPr>
          <p:cNvPr id="10" name="Shape 8"/>
          <p:cNvSpPr/>
          <p:nvPr/>
        </p:nvSpPr>
        <p:spPr>
          <a:xfrm>
            <a:off x="640080" y="1371600"/>
            <a:ext cx="73152" cy="1325880"/>
          </a:xfrm>
          <a:prstGeom prst="rect">
            <a:avLst/>
          </a:prstGeom>
          <a:solidFill>
            <a:srgbClr val="25A9C7"/>
          </a:solidFill>
          <a:ln w="12700">
            <a:solidFill>
              <a:srgbClr val="25A9C7"/>
            </a:solidFill>
            <a:prstDash val="solid"/>
          </a:ln>
        </p:spPr>
      </p:sp>
      <p:sp>
        <p:nvSpPr>
          <p:cNvPr id="11" name="Text 9"/>
          <p:cNvSpPr/>
          <p:nvPr/>
        </p:nvSpPr>
        <p:spPr>
          <a:xfrm>
            <a:off x="804672" y="1499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Plain-English definition</a:t>
            </a:r>
            <a:endParaRPr lang="en-US" sz="1300" dirty="0"/>
          </a:p>
        </p:txBody>
      </p:sp>
      <p:sp>
        <p:nvSpPr>
          <p:cNvPr id="12" name="Text 10"/>
          <p:cNvSpPr/>
          <p:nvPr/>
        </p:nvSpPr>
        <p:spPr>
          <a:xfrm>
            <a:off x="804672" y="1828800"/>
            <a:ext cx="3035808" cy="75895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MCP is a standard interface for AI applications to connect to external systems such as local files, databases, APIs, tools, and reusable prompts.</a:t>
            </a:r>
            <a:endParaRPr lang="en-US" sz="1100" dirty="0"/>
          </a:p>
        </p:txBody>
      </p:sp>
      <p:sp>
        <p:nvSpPr>
          <p:cNvPr id="13" name="Shape 11"/>
          <p:cNvSpPr/>
          <p:nvPr/>
        </p:nvSpPr>
        <p:spPr>
          <a:xfrm>
            <a:off x="4434840" y="1371600"/>
            <a:ext cx="3291840" cy="1325880"/>
          </a:xfrm>
          <a:prstGeom prst="roundRect">
            <a:avLst>
              <a:gd name="adj" fmla="val 3448"/>
            </a:avLst>
          </a:prstGeom>
          <a:solidFill>
            <a:srgbClr val="F7FBFE"/>
          </a:solidFill>
          <a:ln w="12700">
            <a:solidFill>
              <a:srgbClr val="2F79B7"/>
            </a:solidFill>
            <a:prstDash val="solid"/>
          </a:ln>
        </p:spPr>
      </p:sp>
      <p:sp>
        <p:nvSpPr>
          <p:cNvPr id="14" name="Shape 12"/>
          <p:cNvSpPr/>
          <p:nvPr/>
        </p:nvSpPr>
        <p:spPr>
          <a:xfrm>
            <a:off x="4434840" y="1371600"/>
            <a:ext cx="73152" cy="1325880"/>
          </a:xfrm>
          <a:prstGeom prst="rect">
            <a:avLst/>
          </a:prstGeom>
          <a:solidFill>
            <a:srgbClr val="2F79B7"/>
          </a:solidFill>
          <a:ln w="12700">
            <a:solidFill>
              <a:srgbClr val="2F79B7"/>
            </a:solidFill>
            <a:prstDash val="solid"/>
          </a:ln>
        </p:spPr>
      </p:sp>
      <p:sp>
        <p:nvSpPr>
          <p:cNvPr id="15" name="Text 13"/>
          <p:cNvSpPr/>
          <p:nvPr/>
        </p:nvSpPr>
        <p:spPr>
          <a:xfrm>
            <a:off x="4599432" y="1499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2F79B7"/>
                </a:solidFill>
              </a:rPr>
              <a:t>What changes vs API</a:t>
            </a:r>
            <a:endParaRPr lang="en-US" sz="1300" dirty="0"/>
          </a:p>
        </p:txBody>
      </p:sp>
      <p:sp>
        <p:nvSpPr>
          <p:cNvPr id="16" name="Text 14"/>
          <p:cNvSpPr/>
          <p:nvPr/>
        </p:nvSpPr>
        <p:spPr>
          <a:xfrm>
            <a:off x="4599432" y="1828800"/>
            <a:ext cx="3035808" cy="75895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The AI app can discover capabilities at runtime and decide which tool/resource to use during a conversation or task.</a:t>
            </a:r>
            <a:endParaRPr lang="en-US" sz="1100" dirty="0"/>
          </a:p>
        </p:txBody>
      </p:sp>
      <p:sp>
        <p:nvSpPr>
          <p:cNvPr id="17" name="Shape 15"/>
          <p:cNvSpPr/>
          <p:nvPr/>
        </p:nvSpPr>
        <p:spPr>
          <a:xfrm>
            <a:off x="8229600" y="1371600"/>
            <a:ext cx="3291840" cy="1325880"/>
          </a:xfrm>
          <a:prstGeom prst="roundRect">
            <a:avLst>
              <a:gd name="adj" fmla="val 3448"/>
            </a:avLst>
          </a:prstGeom>
          <a:solidFill>
            <a:srgbClr val="F7FBFE"/>
          </a:solidFill>
          <a:ln w="12700">
            <a:solidFill>
              <a:srgbClr val="0A9B9B"/>
            </a:solidFill>
            <a:prstDash val="solid"/>
          </a:ln>
        </p:spPr>
      </p:sp>
      <p:sp>
        <p:nvSpPr>
          <p:cNvPr id="18" name="Shape 16"/>
          <p:cNvSpPr/>
          <p:nvPr/>
        </p:nvSpPr>
        <p:spPr>
          <a:xfrm>
            <a:off x="8229600" y="1371600"/>
            <a:ext cx="73152" cy="1325880"/>
          </a:xfrm>
          <a:prstGeom prst="rect">
            <a:avLst/>
          </a:prstGeom>
          <a:solidFill>
            <a:srgbClr val="0A9B9B"/>
          </a:solidFill>
          <a:ln w="12700">
            <a:solidFill>
              <a:srgbClr val="0A9B9B"/>
            </a:solidFill>
            <a:prstDash val="solid"/>
          </a:ln>
        </p:spPr>
      </p:sp>
      <p:sp>
        <p:nvSpPr>
          <p:cNvPr id="19" name="Text 17"/>
          <p:cNvSpPr/>
          <p:nvPr/>
        </p:nvSpPr>
        <p:spPr>
          <a:xfrm>
            <a:off x="8394192" y="1499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What does not change</a:t>
            </a:r>
            <a:endParaRPr lang="en-US" sz="1300" dirty="0"/>
          </a:p>
        </p:txBody>
      </p:sp>
      <p:sp>
        <p:nvSpPr>
          <p:cNvPr id="20" name="Text 18"/>
          <p:cNvSpPr/>
          <p:nvPr/>
        </p:nvSpPr>
        <p:spPr>
          <a:xfrm>
            <a:off x="8394192" y="1828800"/>
            <a:ext cx="3035808" cy="75895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MCP does not replace underlying business APIs; servers often wrap APIs, databases, CLIs, or files.</a:t>
            </a:r>
            <a:endParaRPr lang="en-US" sz="1100" dirty="0"/>
          </a:p>
        </p:txBody>
      </p:sp>
      <p:sp>
        <p:nvSpPr>
          <p:cNvPr id="21" name="Text 19"/>
          <p:cNvSpPr/>
          <p:nvPr/>
        </p:nvSpPr>
        <p:spPr>
          <a:xfrm>
            <a:off x="658368" y="3246120"/>
            <a:ext cx="1920240" cy="228600"/>
          </a:xfrm>
          <a:prstGeom prst="rect">
            <a:avLst/>
          </a:prstGeom>
          <a:noFill/>
          <a:ln/>
        </p:spPr>
        <p:txBody>
          <a:bodyPr wrap="square" lIns="0" tIns="0" rIns="0" bIns="0" rtlCol="0" anchor="ctr"/>
          <a:lstStyle/>
          <a:p>
            <a:pPr indent="0" marL="0">
              <a:buNone/>
            </a:pPr>
            <a:r>
              <a:rPr lang="en-US" sz="1600" b="1" dirty="0">
                <a:solidFill>
                  <a:srgbClr val="123452"/>
                </a:solidFill>
              </a:rPr>
              <a:t>Core primitives</a:t>
            </a:r>
            <a:endParaRPr lang="en-US" sz="1600" dirty="0"/>
          </a:p>
        </p:txBody>
      </p:sp>
      <p:sp>
        <p:nvSpPr>
          <p:cNvPr id="22" name="Shape 20"/>
          <p:cNvSpPr/>
          <p:nvPr/>
        </p:nvSpPr>
        <p:spPr>
          <a:xfrm>
            <a:off x="713232" y="3685032"/>
            <a:ext cx="3154680" cy="292608"/>
          </a:xfrm>
          <a:prstGeom prst="roundRect">
            <a:avLst>
              <a:gd name="adj" fmla="val 37500"/>
            </a:avLst>
          </a:prstGeom>
          <a:solidFill>
            <a:srgbClr val="25A9C7">
              <a:alpha val="15000"/>
            </a:srgbClr>
          </a:solidFill>
          <a:ln w="10160">
            <a:solidFill>
              <a:srgbClr val="25A9C7"/>
            </a:solidFill>
            <a:prstDash val="solid"/>
          </a:ln>
        </p:spPr>
      </p:sp>
      <p:sp>
        <p:nvSpPr>
          <p:cNvPr id="23" name="Text 21"/>
          <p:cNvSpPr/>
          <p:nvPr/>
        </p:nvSpPr>
        <p:spPr>
          <a:xfrm>
            <a:off x="758952" y="3758184"/>
            <a:ext cx="3063240" cy="137160"/>
          </a:xfrm>
          <a:prstGeom prst="rect">
            <a:avLst/>
          </a:prstGeom>
          <a:noFill/>
          <a:ln/>
        </p:spPr>
        <p:txBody>
          <a:bodyPr wrap="square" lIns="0" tIns="0" rIns="0" bIns="0" rtlCol="0" anchor="ctr">
            <a:normAutofit/>
          </a:bodyPr>
          <a:lstStyle/>
          <a:p>
            <a:pPr algn="ctr" indent="0" marL="0">
              <a:buNone/>
            </a:pPr>
            <a:r>
              <a:rPr lang="en-US" sz="930" b="1" dirty="0">
                <a:solidFill>
                  <a:srgbClr val="25A9C7"/>
                </a:solidFill>
              </a:rPr>
              <a:t>Tools — Executable functions</a:t>
            </a:r>
            <a:endParaRPr lang="en-US" sz="930" dirty="0"/>
          </a:p>
        </p:txBody>
      </p:sp>
      <p:sp>
        <p:nvSpPr>
          <p:cNvPr id="24" name="Shape 22"/>
          <p:cNvSpPr/>
          <p:nvPr/>
        </p:nvSpPr>
        <p:spPr>
          <a:xfrm>
            <a:off x="4462272" y="3685032"/>
            <a:ext cx="3154680" cy="292608"/>
          </a:xfrm>
          <a:prstGeom prst="roundRect">
            <a:avLst>
              <a:gd name="adj" fmla="val 37500"/>
            </a:avLst>
          </a:prstGeom>
          <a:solidFill>
            <a:srgbClr val="25A9C7">
              <a:alpha val="15000"/>
            </a:srgbClr>
          </a:solidFill>
          <a:ln w="10160">
            <a:solidFill>
              <a:srgbClr val="25A9C7"/>
            </a:solidFill>
            <a:prstDash val="solid"/>
          </a:ln>
        </p:spPr>
      </p:sp>
      <p:sp>
        <p:nvSpPr>
          <p:cNvPr id="25" name="Text 23"/>
          <p:cNvSpPr/>
          <p:nvPr/>
        </p:nvSpPr>
        <p:spPr>
          <a:xfrm>
            <a:off x="4507992" y="3758184"/>
            <a:ext cx="3063240" cy="137160"/>
          </a:xfrm>
          <a:prstGeom prst="rect">
            <a:avLst/>
          </a:prstGeom>
          <a:noFill/>
          <a:ln/>
        </p:spPr>
        <p:txBody>
          <a:bodyPr wrap="square" lIns="0" tIns="0" rIns="0" bIns="0" rtlCol="0" anchor="ctr">
            <a:normAutofit/>
          </a:bodyPr>
          <a:lstStyle/>
          <a:p>
            <a:pPr algn="ctr" indent="0" marL="0">
              <a:buNone/>
            </a:pPr>
            <a:r>
              <a:rPr lang="en-US" sz="930" b="1" dirty="0">
                <a:solidFill>
                  <a:srgbClr val="25A9C7"/>
                </a:solidFill>
              </a:rPr>
              <a:t>Resources — Context/data</a:t>
            </a:r>
            <a:endParaRPr lang="en-US" sz="930" dirty="0"/>
          </a:p>
        </p:txBody>
      </p:sp>
      <p:sp>
        <p:nvSpPr>
          <p:cNvPr id="26" name="Shape 24"/>
          <p:cNvSpPr/>
          <p:nvPr/>
        </p:nvSpPr>
        <p:spPr>
          <a:xfrm>
            <a:off x="8211312" y="3685032"/>
            <a:ext cx="3154680" cy="292608"/>
          </a:xfrm>
          <a:prstGeom prst="roundRect">
            <a:avLst>
              <a:gd name="adj" fmla="val 37500"/>
            </a:avLst>
          </a:prstGeom>
          <a:solidFill>
            <a:srgbClr val="25A9C7">
              <a:alpha val="15000"/>
            </a:srgbClr>
          </a:solidFill>
          <a:ln w="10160">
            <a:solidFill>
              <a:srgbClr val="25A9C7"/>
            </a:solidFill>
            <a:prstDash val="solid"/>
          </a:ln>
        </p:spPr>
      </p:sp>
      <p:sp>
        <p:nvSpPr>
          <p:cNvPr id="27" name="Text 25"/>
          <p:cNvSpPr/>
          <p:nvPr/>
        </p:nvSpPr>
        <p:spPr>
          <a:xfrm>
            <a:off x="8257032" y="3758184"/>
            <a:ext cx="3063240" cy="137160"/>
          </a:xfrm>
          <a:prstGeom prst="rect">
            <a:avLst/>
          </a:prstGeom>
          <a:noFill/>
          <a:ln/>
        </p:spPr>
        <p:txBody>
          <a:bodyPr wrap="square" lIns="0" tIns="0" rIns="0" bIns="0" rtlCol="0" anchor="ctr">
            <a:normAutofit/>
          </a:bodyPr>
          <a:lstStyle/>
          <a:p>
            <a:pPr algn="ctr" indent="0" marL="0">
              <a:buNone/>
            </a:pPr>
            <a:r>
              <a:rPr lang="en-US" sz="930" b="1" dirty="0">
                <a:solidFill>
                  <a:srgbClr val="25A9C7"/>
                </a:solidFill>
              </a:rPr>
              <a:t>Prompts — Reusable workflows</a:t>
            </a:r>
            <a:endParaRPr lang="en-US" sz="930" dirty="0"/>
          </a:p>
        </p:txBody>
      </p:sp>
      <p:sp>
        <p:nvSpPr>
          <p:cNvPr id="28" name="Shape 26"/>
          <p:cNvSpPr/>
          <p:nvPr/>
        </p:nvSpPr>
        <p:spPr>
          <a:xfrm>
            <a:off x="713232" y="4251960"/>
            <a:ext cx="3154680" cy="292608"/>
          </a:xfrm>
          <a:prstGeom prst="roundRect">
            <a:avLst>
              <a:gd name="adj" fmla="val 37500"/>
            </a:avLst>
          </a:prstGeom>
          <a:solidFill>
            <a:srgbClr val="446CA8">
              <a:alpha val="15000"/>
            </a:srgbClr>
          </a:solidFill>
          <a:ln w="10160">
            <a:solidFill>
              <a:srgbClr val="446CA8"/>
            </a:solidFill>
            <a:prstDash val="solid"/>
          </a:ln>
        </p:spPr>
      </p:sp>
      <p:sp>
        <p:nvSpPr>
          <p:cNvPr id="29" name="Text 27"/>
          <p:cNvSpPr/>
          <p:nvPr/>
        </p:nvSpPr>
        <p:spPr>
          <a:xfrm>
            <a:off x="758952" y="4325112"/>
            <a:ext cx="3063240" cy="137160"/>
          </a:xfrm>
          <a:prstGeom prst="rect">
            <a:avLst/>
          </a:prstGeom>
          <a:noFill/>
          <a:ln/>
        </p:spPr>
        <p:txBody>
          <a:bodyPr wrap="square" lIns="0" tIns="0" rIns="0" bIns="0" rtlCol="0" anchor="ctr">
            <a:normAutofit/>
          </a:bodyPr>
          <a:lstStyle/>
          <a:p>
            <a:pPr algn="ctr" indent="0" marL="0">
              <a:buNone/>
            </a:pPr>
            <a:r>
              <a:rPr lang="en-US" sz="930" b="1" dirty="0">
                <a:solidFill>
                  <a:srgbClr val="446CA8"/>
                </a:solidFill>
              </a:rPr>
              <a:t>Sampling — Client-side LLM completions</a:t>
            </a:r>
            <a:endParaRPr lang="en-US" sz="930" dirty="0"/>
          </a:p>
        </p:txBody>
      </p:sp>
      <p:sp>
        <p:nvSpPr>
          <p:cNvPr id="30" name="Shape 28"/>
          <p:cNvSpPr/>
          <p:nvPr/>
        </p:nvSpPr>
        <p:spPr>
          <a:xfrm>
            <a:off x="4462272" y="4251960"/>
            <a:ext cx="3154680" cy="292608"/>
          </a:xfrm>
          <a:prstGeom prst="roundRect">
            <a:avLst>
              <a:gd name="adj" fmla="val 37500"/>
            </a:avLst>
          </a:prstGeom>
          <a:solidFill>
            <a:srgbClr val="446CA8">
              <a:alpha val="15000"/>
            </a:srgbClr>
          </a:solidFill>
          <a:ln w="10160">
            <a:solidFill>
              <a:srgbClr val="446CA8"/>
            </a:solidFill>
            <a:prstDash val="solid"/>
          </a:ln>
        </p:spPr>
      </p:sp>
      <p:sp>
        <p:nvSpPr>
          <p:cNvPr id="31" name="Text 29"/>
          <p:cNvSpPr/>
          <p:nvPr/>
        </p:nvSpPr>
        <p:spPr>
          <a:xfrm>
            <a:off x="4507992" y="4325112"/>
            <a:ext cx="3063240" cy="137160"/>
          </a:xfrm>
          <a:prstGeom prst="rect">
            <a:avLst/>
          </a:prstGeom>
          <a:noFill/>
          <a:ln/>
        </p:spPr>
        <p:txBody>
          <a:bodyPr wrap="square" lIns="0" tIns="0" rIns="0" bIns="0" rtlCol="0" anchor="ctr">
            <a:normAutofit/>
          </a:bodyPr>
          <a:lstStyle/>
          <a:p>
            <a:pPr algn="ctr" indent="0" marL="0">
              <a:buNone/>
            </a:pPr>
            <a:r>
              <a:rPr lang="en-US" sz="930" b="1" dirty="0">
                <a:solidFill>
                  <a:srgbClr val="446CA8"/>
                </a:solidFill>
              </a:rPr>
              <a:t>Elicitation — Ask user for input</a:t>
            </a:r>
            <a:endParaRPr lang="en-US" sz="9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5A9C7"/>
          </a:solidFill>
          <a:ln w="12700">
            <a:solidFill>
              <a:srgbClr val="25A9C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5A9C7"/>
                </a:solidFill>
                <a:latin typeface="Aptos" pitchFamily="34" charset="0"/>
                <a:ea typeface="Aptos" pitchFamily="34" charset="-122"/>
                <a:cs typeface="Aptos" pitchFamily="34" charset="-120"/>
              </a:rPr>
              <a:t>MCP</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MCP has a host–client–server architecture, not a direct “model calls API” shortcut</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Source: MCP architecture docs</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14</a:t>
            </a:r>
            <a:endParaRPr lang="en-US" sz="800" dirty="0"/>
          </a:p>
        </p:txBody>
      </p:sp>
      <p:sp>
        <p:nvSpPr>
          <p:cNvPr id="9" name="Shape 7"/>
          <p:cNvSpPr/>
          <p:nvPr/>
        </p:nvSpPr>
        <p:spPr>
          <a:xfrm>
            <a:off x="749808" y="2167128"/>
            <a:ext cx="2057400" cy="1143000"/>
          </a:xfrm>
          <a:prstGeom prst="roundRect">
            <a:avLst>
              <a:gd name="adj" fmla="val 6400"/>
            </a:avLst>
          </a:prstGeom>
          <a:solidFill>
            <a:srgbClr val="123452"/>
          </a:solidFill>
          <a:ln w="12700">
            <a:solidFill>
              <a:srgbClr val="123452"/>
            </a:solidFill>
            <a:prstDash val="solid"/>
          </a:ln>
        </p:spPr>
      </p:sp>
      <p:sp>
        <p:nvSpPr>
          <p:cNvPr id="10" name="Text 8"/>
          <p:cNvSpPr/>
          <p:nvPr/>
        </p:nvSpPr>
        <p:spPr>
          <a:xfrm>
            <a:off x="914400" y="2468880"/>
            <a:ext cx="1737360" cy="201168"/>
          </a:xfrm>
          <a:prstGeom prst="rect">
            <a:avLst/>
          </a:prstGeom>
          <a:noFill/>
          <a:ln/>
        </p:spPr>
        <p:txBody>
          <a:bodyPr wrap="square" lIns="0" tIns="0" rIns="0" bIns="0" rtlCol="0" anchor="ctr"/>
          <a:lstStyle/>
          <a:p>
            <a:pPr algn="ctr" indent="0" marL="0">
              <a:buNone/>
            </a:pPr>
            <a:r>
              <a:rPr lang="en-US" sz="1600" b="1" dirty="0">
                <a:solidFill>
                  <a:srgbClr val="FFFFFF"/>
                </a:solidFill>
              </a:rPr>
              <a:t>MCP Host</a:t>
            </a:r>
            <a:endParaRPr lang="en-US" sz="1600" dirty="0"/>
          </a:p>
        </p:txBody>
      </p:sp>
      <p:sp>
        <p:nvSpPr>
          <p:cNvPr id="11" name="Text 9"/>
          <p:cNvSpPr/>
          <p:nvPr/>
        </p:nvSpPr>
        <p:spPr>
          <a:xfrm>
            <a:off x="914400" y="2816352"/>
            <a:ext cx="1737360" cy="182880"/>
          </a:xfrm>
          <a:prstGeom prst="rect">
            <a:avLst/>
          </a:prstGeom>
          <a:noFill/>
          <a:ln/>
        </p:spPr>
        <p:txBody>
          <a:bodyPr wrap="square" lIns="0" tIns="0" rIns="0" bIns="0" rtlCol="0" anchor="ctr"/>
          <a:lstStyle/>
          <a:p>
            <a:pPr algn="ctr" indent="0" marL="0">
              <a:buNone/>
            </a:pPr>
            <a:r>
              <a:rPr lang="en-US" sz="1000" dirty="0">
                <a:solidFill>
                  <a:srgbClr val="D9E2F2"/>
                </a:solidFill>
              </a:rPr>
              <a:t>AI application</a:t>
            </a:r>
            <a:endParaRPr lang="en-US" sz="1000" dirty="0"/>
          </a:p>
        </p:txBody>
      </p:sp>
      <p:sp>
        <p:nvSpPr>
          <p:cNvPr id="12" name="Shape 10"/>
          <p:cNvSpPr/>
          <p:nvPr/>
        </p:nvSpPr>
        <p:spPr>
          <a:xfrm>
            <a:off x="4160520" y="1554480"/>
            <a:ext cx="2148840" cy="438912"/>
          </a:xfrm>
          <a:prstGeom prst="roundRect">
            <a:avLst>
              <a:gd name="adj" fmla="val 10417"/>
            </a:avLst>
          </a:prstGeom>
          <a:solidFill>
            <a:srgbClr val="FFFFFF"/>
          </a:solidFill>
          <a:ln w="15240">
            <a:solidFill>
              <a:srgbClr val="25A9C7"/>
            </a:solidFill>
            <a:prstDash val="solid"/>
          </a:ln>
        </p:spPr>
      </p:sp>
      <p:sp>
        <p:nvSpPr>
          <p:cNvPr id="13" name="Text 11"/>
          <p:cNvSpPr/>
          <p:nvPr/>
        </p:nvSpPr>
        <p:spPr>
          <a:xfrm>
            <a:off x="4297680" y="1691640"/>
            <a:ext cx="1874520" cy="137160"/>
          </a:xfrm>
          <a:prstGeom prst="rect">
            <a:avLst/>
          </a:prstGeom>
          <a:noFill/>
          <a:ln/>
        </p:spPr>
        <p:txBody>
          <a:bodyPr wrap="square" lIns="0" tIns="0" rIns="0" bIns="0" rtlCol="0" anchor="ctr"/>
          <a:lstStyle/>
          <a:p>
            <a:pPr algn="ctr" indent="0" marL="0">
              <a:buNone/>
            </a:pPr>
            <a:r>
              <a:rPr lang="en-US" sz="1050" b="1" dirty="0">
                <a:solidFill>
                  <a:srgbClr val="25A9C7"/>
                </a:solidFill>
              </a:rPr>
              <a:t>MCP Client 1</a:t>
            </a:r>
            <a:endParaRPr lang="en-US" sz="1050" dirty="0"/>
          </a:p>
        </p:txBody>
      </p:sp>
      <p:sp>
        <p:nvSpPr>
          <p:cNvPr id="14" name="Shape 12"/>
          <p:cNvSpPr/>
          <p:nvPr/>
        </p:nvSpPr>
        <p:spPr>
          <a:xfrm>
            <a:off x="4160520" y="2194560"/>
            <a:ext cx="2148840" cy="438912"/>
          </a:xfrm>
          <a:prstGeom prst="roundRect">
            <a:avLst>
              <a:gd name="adj" fmla="val 10417"/>
            </a:avLst>
          </a:prstGeom>
          <a:solidFill>
            <a:srgbClr val="FFFFFF"/>
          </a:solidFill>
          <a:ln w="15240">
            <a:solidFill>
              <a:srgbClr val="25A9C7"/>
            </a:solidFill>
            <a:prstDash val="solid"/>
          </a:ln>
        </p:spPr>
      </p:sp>
      <p:sp>
        <p:nvSpPr>
          <p:cNvPr id="15" name="Text 13"/>
          <p:cNvSpPr/>
          <p:nvPr/>
        </p:nvSpPr>
        <p:spPr>
          <a:xfrm>
            <a:off x="4297680" y="2331720"/>
            <a:ext cx="1874520" cy="137160"/>
          </a:xfrm>
          <a:prstGeom prst="rect">
            <a:avLst/>
          </a:prstGeom>
          <a:noFill/>
          <a:ln/>
        </p:spPr>
        <p:txBody>
          <a:bodyPr wrap="square" lIns="0" tIns="0" rIns="0" bIns="0" rtlCol="0" anchor="ctr"/>
          <a:lstStyle/>
          <a:p>
            <a:pPr algn="ctr" indent="0" marL="0">
              <a:buNone/>
            </a:pPr>
            <a:r>
              <a:rPr lang="en-US" sz="1050" b="1" dirty="0">
                <a:solidFill>
                  <a:srgbClr val="25A9C7"/>
                </a:solidFill>
              </a:rPr>
              <a:t>MCP Client 2</a:t>
            </a:r>
            <a:endParaRPr lang="en-US" sz="1050" dirty="0"/>
          </a:p>
        </p:txBody>
      </p:sp>
      <p:sp>
        <p:nvSpPr>
          <p:cNvPr id="16" name="Shape 14"/>
          <p:cNvSpPr/>
          <p:nvPr/>
        </p:nvSpPr>
        <p:spPr>
          <a:xfrm>
            <a:off x="4160520" y="2834640"/>
            <a:ext cx="2148840" cy="438912"/>
          </a:xfrm>
          <a:prstGeom prst="roundRect">
            <a:avLst>
              <a:gd name="adj" fmla="val 10417"/>
            </a:avLst>
          </a:prstGeom>
          <a:solidFill>
            <a:srgbClr val="FFFFFF"/>
          </a:solidFill>
          <a:ln w="15240">
            <a:solidFill>
              <a:srgbClr val="25A9C7"/>
            </a:solidFill>
            <a:prstDash val="solid"/>
          </a:ln>
        </p:spPr>
      </p:sp>
      <p:sp>
        <p:nvSpPr>
          <p:cNvPr id="17" name="Text 15"/>
          <p:cNvSpPr/>
          <p:nvPr/>
        </p:nvSpPr>
        <p:spPr>
          <a:xfrm>
            <a:off x="4297680" y="2971800"/>
            <a:ext cx="1874520" cy="137160"/>
          </a:xfrm>
          <a:prstGeom prst="rect">
            <a:avLst/>
          </a:prstGeom>
          <a:noFill/>
          <a:ln/>
        </p:spPr>
        <p:txBody>
          <a:bodyPr wrap="square" lIns="0" tIns="0" rIns="0" bIns="0" rtlCol="0" anchor="ctr"/>
          <a:lstStyle/>
          <a:p>
            <a:pPr algn="ctr" indent="0" marL="0">
              <a:buNone/>
            </a:pPr>
            <a:r>
              <a:rPr lang="en-US" sz="1050" b="1" dirty="0">
                <a:solidFill>
                  <a:srgbClr val="25A9C7"/>
                </a:solidFill>
              </a:rPr>
              <a:t>MCP Client 3</a:t>
            </a:r>
            <a:endParaRPr lang="en-US" sz="1050" dirty="0"/>
          </a:p>
        </p:txBody>
      </p:sp>
      <p:sp>
        <p:nvSpPr>
          <p:cNvPr id="18" name="Shape 16"/>
          <p:cNvSpPr/>
          <p:nvPr/>
        </p:nvSpPr>
        <p:spPr>
          <a:xfrm>
            <a:off x="7543800" y="1554480"/>
            <a:ext cx="2926080" cy="438912"/>
          </a:xfrm>
          <a:prstGeom prst="roundRect">
            <a:avLst>
              <a:gd name="adj" fmla="val 10417"/>
            </a:avLst>
          </a:prstGeom>
          <a:solidFill>
            <a:srgbClr val="FFFFFF"/>
          </a:solidFill>
          <a:ln w="15240">
            <a:solidFill>
              <a:srgbClr val="0A9B9B"/>
            </a:solidFill>
            <a:prstDash val="solid"/>
          </a:ln>
        </p:spPr>
      </p:sp>
      <p:sp>
        <p:nvSpPr>
          <p:cNvPr id="19" name="Text 17"/>
          <p:cNvSpPr/>
          <p:nvPr/>
        </p:nvSpPr>
        <p:spPr>
          <a:xfrm>
            <a:off x="7644384" y="1618488"/>
            <a:ext cx="1691640" cy="146304"/>
          </a:xfrm>
          <a:prstGeom prst="rect">
            <a:avLst/>
          </a:prstGeom>
          <a:noFill/>
          <a:ln/>
        </p:spPr>
        <p:txBody>
          <a:bodyPr wrap="square" lIns="0" tIns="0" rIns="0" bIns="0" rtlCol="0" anchor="ctr">
            <a:normAutofit/>
          </a:bodyPr>
          <a:lstStyle/>
          <a:p>
            <a:pPr indent="0" marL="0">
              <a:buNone/>
            </a:pPr>
            <a:r>
              <a:rPr lang="en-US" sz="980" b="1" dirty="0">
                <a:solidFill>
                  <a:srgbClr val="0A9B9B"/>
                </a:solidFill>
              </a:rPr>
              <a:t>Filesystem server</a:t>
            </a:r>
            <a:endParaRPr lang="en-US" sz="980" dirty="0"/>
          </a:p>
        </p:txBody>
      </p:sp>
      <p:sp>
        <p:nvSpPr>
          <p:cNvPr id="20" name="Text 18"/>
          <p:cNvSpPr/>
          <p:nvPr/>
        </p:nvSpPr>
        <p:spPr>
          <a:xfrm>
            <a:off x="9372600" y="1618488"/>
            <a:ext cx="960120" cy="146304"/>
          </a:xfrm>
          <a:prstGeom prst="rect">
            <a:avLst/>
          </a:prstGeom>
          <a:noFill/>
          <a:ln/>
        </p:spPr>
        <p:txBody>
          <a:bodyPr wrap="square" lIns="0" tIns="0" rIns="0" bIns="0" rtlCol="0" anchor="ctr">
            <a:normAutofit/>
          </a:bodyPr>
          <a:lstStyle/>
          <a:p>
            <a:pPr algn="r" indent="0" marL="0">
              <a:buNone/>
            </a:pPr>
            <a:r>
              <a:rPr lang="en-US" sz="780" dirty="0">
                <a:solidFill>
                  <a:srgbClr val="617184"/>
                </a:solidFill>
              </a:rPr>
              <a:t>STDIO</a:t>
            </a:r>
            <a:endParaRPr lang="en-US" sz="780" dirty="0"/>
          </a:p>
        </p:txBody>
      </p:sp>
      <p:sp>
        <p:nvSpPr>
          <p:cNvPr id="21" name="Shape 19"/>
          <p:cNvSpPr/>
          <p:nvPr/>
        </p:nvSpPr>
        <p:spPr>
          <a:xfrm>
            <a:off x="7543800" y="2194560"/>
            <a:ext cx="2926080" cy="438912"/>
          </a:xfrm>
          <a:prstGeom prst="roundRect">
            <a:avLst>
              <a:gd name="adj" fmla="val 10417"/>
            </a:avLst>
          </a:prstGeom>
          <a:solidFill>
            <a:srgbClr val="FFFFFF"/>
          </a:solidFill>
          <a:ln w="15240">
            <a:solidFill>
              <a:srgbClr val="0A9B9B"/>
            </a:solidFill>
            <a:prstDash val="solid"/>
          </a:ln>
        </p:spPr>
      </p:sp>
      <p:sp>
        <p:nvSpPr>
          <p:cNvPr id="22" name="Text 20"/>
          <p:cNvSpPr/>
          <p:nvPr/>
        </p:nvSpPr>
        <p:spPr>
          <a:xfrm>
            <a:off x="7644384" y="2258568"/>
            <a:ext cx="1691640" cy="146304"/>
          </a:xfrm>
          <a:prstGeom prst="rect">
            <a:avLst/>
          </a:prstGeom>
          <a:noFill/>
          <a:ln/>
        </p:spPr>
        <p:txBody>
          <a:bodyPr wrap="square" lIns="0" tIns="0" rIns="0" bIns="0" rtlCol="0" anchor="ctr">
            <a:normAutofit/>
          </a:bodyPr>
          <a:lstStyle/>
          <a:p>
            <a:pPr indent="0" marL="0">
              <a:buNone/>
            </a:pPr>
            <a:r>
              <a:rPr lang="en-US" sz="980" b="1" dirty="0">
                <a:solidFill>
                  <a:srgbClr val="0A9B9B"/>
                </a:solidFill>
              </a:rPr>
              <a:t>CRM tool server</a:t>
            </a:r>
            <a:endParaRPr lang="en-US" sz="980" dirty="0"/>
          </a:p>
        </p:txBody>
      </p:sp>
      <p:sp>
        <p:nvSpPr>
          <p:cNvPr id="23" name="Text 21"/>
          <p:cNvSpPr/>
          <p:nvPr/>
        </p:nvSpPr>
        <p:spPr>
          <a:xfrm>
            <a:off x="9372600" y="2258568"/>
            <a:ext cx="960120" cy="146304"/>
          </a:xfrm>
          <a:prstGeom prst="rect">
            <a:avLst/>
          </a:prstGeom>
          <a:noFill/>
          <a:ln/>
        </p:spPr>
        <p:txBody>
          <a:bodyPr wrap="square" lIns="0" tIns="0" rIns="0" bIns="0" rtlCol="0" anchor="ctr">
            <a:normAutofit/>
          </a:bodyPr>
          <a:lstStyle/>
          <a:p>
            <a:pPr algn="r" indent="0" marL="0">
              <a:buNone/>
            </a:pPr>
            <a:r>
              <a:rPr lang="en-US" sz="780" dirty="0">
                <a:solidFill>
                  <a:srgbClr val="617184"/>
                </a:solidFill>
              </a:rPr>
              <a:t>Streamable HTTP</a:t>
            </a:r>
            <a:endParaRPr lang="en-US" sz="780" dirty="0"/>
          </a:p>
        </p:txBody>
      </p:sp>
      <p:sp>
        <p:nvSpPr>
          <p:cNvPr id="24" name="Shape 22"/>
          <p:cNvSpPr/>
          <p:nvPr/>
        </p:nvSpPr>
        <p:spPr>
          <a:xfrm>
            <a:off x="7543800" y="2834640"/>
            <a:ext cx="2926080" cy="438912"/>
          </a:xfrm>
          <a:prstGeom prst="roundRect">
            <a:avLst>
              <a:gd name="adj" fmla="val 10417"/>
            </a:avLst>
          </a:prstGeom>
          <a:solidFill>
            <a:srgbClr val="FFFFFF"/>
          </a:solidFill>
          <a:ln w="15240">
            <a:solidFill>
              <a:srgbClr val="0A9B9B"/>
            </a:solidFill>
            <a:prstDash val="solid"/>
          </a:ln>
        </p:spPr>
      </p:sp>
      <p:sp>
        <p:nvSpPr>
          <p:cNvPr id="25" name="Text 23"/>
          <p:cNvSpPr/>
          <p:nvPr/>
        </p:nvSpPr>
        <p:spPr>
          <a:xfrm>
            <a:off x="7644384" y="2898648"/>
            <a:ext cx="1691640" cy="146304"/>
          </a:xfrm>
          <a:prstGeom prst="rect">
            <a:avLst/>
          </a:prstGeom>
          <a:noFill/>
          <a:ln/>
        </p:spPr>
        <p:txBody>
          <a:bodyPr wrap="square" lIns="0" tIns="0" rIns="0" bIns="0" rtlCol="0" anchor="ctr">
            <a:normAutofit/>
          </a:bodyPr>
          <a:lstStyle/>
          <a:p>
            <a:pPr indent="0" marL="0">
              <a:buNone/>
            </a:pPr>
            <a:r>
              <a:rPr lang="en-US" sz="980" b="1" dirty="0">
                <a:solidFill>
                  <a:srgbClr val="0A9B9B"/>
                </a:solidFill>
              </a:rPr>
              <a:t>Data warehouse server</a:t>
            </a:r>
            <a:endParaRPr lang="en-US" sz="980" dirty="0"/>
          </a:p>
        </p:txBody>
      </p:sp>
      <p:sp>
        <p:nvSpPr>
          <p:cNvPr id="26" name="Text 24"/>
          <p:cNvSpPr/>
          <p:nvPr/>
        </p:nvSpPr>
        <p:spPr>
          <a:xfrm>
            <a:off x="9372600" y="2898648"/>
            <a:ext cx="960120" cy="146304"/>
          </a:xfrm>
          <a:prstGeom prst="rect">
            <a:avLst/>
          </a:prstGeom>
          <a:noFill/>
          <a:ln/>
        </p:spPr>
        <p:txBody>
          <a:bodyPr wrap="square" lIns="0" tIns="0" rIns="0" bIns="0" rtlCol="0" anchor="ctr">
            <a:normAutofit/>
          </a:bodyPr>
          <a:lstStyle/>
          <a:p>
            <a:pPr algn="r" indent="0" marL="0">
              <a:buNone/>
            </a:pPr>
            <a:r>
              <a:rPr lang="en-US" sz="780" dirty="0">
                <a:solidFill>
                  <a:srgbClr val="617184"/>
                </a:solidFill>
              </a:rPr>
              <a:t>Streamable HTTP</a:t>
            </a:r>
            <a:endParaRPr lang="en-US" sz="780" dirty="0"/>
          </a:p>
        </p:txBody>
      </p:sp>
      <p:sp>
        <p:nvSpPr>
          <p:cNvPr id="27" name="Shape 25"/>
          <p:cNvSpPr/>
          <p:nvPr/>
        </p:nvSpPr>
        <p:spPr>
          <a:xfrm>
            <a:off x="749808" y="4251960"/>
            <a:ext cx="4572000" cy="1005840"/>
          </a:xfrm>
          <a:prstGeom prst="roundRect">
            <a:avLst>
              <a:gd name="adj" fmla="val 4545"/>
            </a:avLst>
          </a:prstGeom>
          <a:solidFill>
            <a:srgbClr val="F7FBFE"/>
          </a:solidFill>
          <a:ln w="12700">
            <a:solidFill>
              <a:srgbClr val="25A9C7"/>
            </a:solidFill>
            <a:prstDash val="solid"/>
          </a:ln>
        </p:spPr>
      </p:sp>
      <p:sp>
        <p:nvSpPr>
          <p:cNvPr id="28" name="Shape 26"/>
          <p:cNvSpPr/>
          <p:nvPr/>
        </p:nvSpPr>
        <p:spPr>
          <a:xfrm>
            <a:off x="749808" y="4251960"/>
            <a:ext cx="73152" cy="1005840"/>
          </a:xfrm>
          <a:prstGeom prst="rect">
            <a:avLst/>
          </a:prstGeom>
          <a:solidFill>
            <a:srgbClr val="25A9C7"/>
          </a:solidFill>
          <a:ln w="12700">
            <a:solidFill>
              <a:srgbClr val="25A9C7"/>
            </a:solidFill>
            <a:prstDash val="solid"/>
          </a:ln>
        </p:spPr>
      </p:sp>
      <p:sp>
        <p:nvSpPr>
          <p:cNvPr id="29" name="Text 27"/>
          <p:cNvSpPr/>
          <p:nvPr/>
        </p:nvSpPr>
        <p:spPr>
          <a:xfrm>
            <a:off x="914400" y="4379976"/>
            <a:ext cx="431596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Protocol layer</a:t>
            </a:r>
            <a:endParaRPr lang="en-US" sz="1300" dirty="0"/>
          </a:p>
        </p:txBody>
      </p:sp>
      <p:sp>
        <p:nvSpPr>
          <p:cNvPr id="30" name="Text 28"/>
          <p:cNvSpPr/>
          <p:nvPr/>
        </p:nvSpPr>
        <p:spPr>
          <a:xfrm>
            <a:off x="914400" y="4709160"/>
            <a:ext cx="4315968" cy="438912"/>
          </a:xfrm>
          <a:prstGeom prst="rect">
            <a:avLst/>
          </a:prstGeom>
          <a:noFill/>
          <a:ln/>
        </p:spPr>
        <p:txBody>
          <a:bodyPr wrap="square" lIns="254" tIns="254" rIns="254" bIns="254" rtlCol="0" anchor="t">
            <a:normAutofit/>
          </a:bodyPr>
          <a:lstStyle/>
          <a:p>
            <a:pPr indent="0" marL="0">
              <a:buNone/>
            </a:pPr>
            <a:r>
              <a:rPr lang="en-US" sz="1120" dirty="0">
                <a:solidFill>
                  <a:srgbClr val="1F2A37"/>
                </a:solidFill>
              </a:rPr>
              <a:t>JSON-RPC based data layer with lifecycle, capability negotiation, tools/resources/prompts, notifications, and progress.</a:t>
            </a:r>
            <a:endParaRPr lang="en-US" sz="1120" dirty="0"/>
          </a:p>
        </p:txBody>
      </p:sp>
      <p:sp>
        <p:nvSpPr>
          <p:cNvPr id="31" name="Shape 29"/>
          <p:cNvSpPr/>
          <p:nvPr/>
        </p:nvSpPr>
        <p:spPr>
          <a:xfrm>
            <a:off x="5852160" y="4251960"/>
            <a:ext cx="4572000" cy="1005840"/>
          </a:xfrm>
          <a:prstGeom prst="roundRect">
            <a:avLst>
              <a:gd name="adj" fmla="val 4545"/>
            </a:avLst>
          </a:prstGeom>
          <a:solidFill>
            <a:srgbClr val="F7FBFE"/>
          </a:solidFill>
          <a:ln w="12700">
            <a:solidFill>
              <a:srgbClr val="2F79B7"/>
            </a:solidFill>
            <a:prstDash val="solid"/>
          </a:ln>
        </p:spPr>
      </p:sp>
      <p:sp>
        <p:nvSpPr>
          <p:cNvPr id="32" name="Shape 30"/>
          <p:cNvSpPr/>
          <p:nvPr/>
        </p:nvSpPr>
        <p:spPr>
          <a:xfrm>
            <a:off x="5852160" y="4251960"/>
            <a:ext cx="73152" cy="1005840"/>
          </a:xfrm>
          <a:prstGeom prst="rect">
            <a:avLst/>
          </a:prstGeom>
          <a:solidFill>
            <a:srgbClr val="2F79B7"/>
          </a:solidFill>
          <a:ln w="12700">
            <a:solidFill>
              <a:srgbClr val="2F79B7"/>
            </a:solidFill>
            <a:prstDash val="solid"/>
          </a:ln>
        </p:spPr>
      </p:sp>
      <p:sp>
        <p:nvSpPr>
          <p:cNvPr id="33" name="Text 31"/>
          <p:cNvSpPr/>
          <p:nvPr/>
        </p:nvSpPr>
        <p:spPr>
          <a:xfrm>
            <a:off x="6016752" y="4379976"/>
            <a:ext cx="4315968" cy="228600"/>
          </a:xfrm>
          <a:prstGeom prst="rect">
            <a:avLst/>
          </a:prstGeom>
          <a:noFill/>
          <a:ln/>
        </p:spPr>
        <p:txBody>
          <a:bodyPr wrap="square" lIns="0" tIns="0" rIns="0" bIns="0" rtlCol="0" anchor="ctr">
            <a:normAutofit/>
          </a:bodyPr>
          <a:lstStyle/>
          <a:p>
            <a:pPr indent="0" marL="0">
              <a:buNone/>
            </a:pPr>
            <a:r>
              <a:rPr lang="en-US" sz="1300" b="1" dirty="0">
                <a:solidFill>
                  <a:srgbClr val="2F79B7"/>
                </a:solidFill>
              </a:rPr>
              <a:t>Transport layer</a:t>
            </a:r>
            <a:endParaRPr lang="en-US" sz="1300" dirty="0"/>
          </a:p>
        </p:txBody>
      </p:sp>
      <p:sp>
        <p:nvSpPr>
          <p:cNvPr id="34" name="Text 32"/>
          <p:cNvSpPr/>
          <p:nvPr/>
        </p:nvSpPr>
        <p:spPr>
          <a:xfrm>
            <a:off x="6016752" y="4709160"/>
            <a:ext cx="4315968" cy="438912"/>
          </a:xfrm>
          <a:prstGeom prst="rect">
            <a:avLst/>
          </a:prstGeom>
          <a:noFill/>
          <a:ln/>
        </p:spPr>
        <p:txBody>
          <a:bodyPr wrap="square" lIns="254" tIns="254" rIns="254" bIns="254" rtlCol="0" anchor="t">
            <a:normAutofit/>
          </a:bodyPr>
          <a:lstStyle/>
          <a:p>
            <a:pPr indent="0" marL="0">
              <a:buNone/>
            </a:pPr>
            <a:r>
              <a:rPr lang="en-US" sz="1120" dirty="0">
                <a:solidFill>
                  <a:srgbClr val="1F2A37"/>
                </a:solidFill>
              </a:rPr>
              <a:t>Local STDIO for process communication; Streamable HTTP for remote servers and standard authentication patterns.</a:t>
            </a:r>
            <a:endParaRPr lang="en-US" sz="11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5A9C7"/>
          </a:solidFill>
          <a:ln w="12700">
            <a:solidFill>
              <a:srgbClr val="25A9C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5A9C7"/>
                </a:solidFill>
                <a:latin typeface="Aptos" pitchFamily="34" charset="0"/>
                <a:ea typeface="Aptos" pitchFamily="34" charset="-122"/>
                <a:cs typeface="Aptos" pitchFamily="34" charset="-120"/>
              </a:rPr>
              <a:t>MCP</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MCP interaction flow: initialize, discover capabilities, then call tools or read resources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15</a:t>
            </a:r>
            <a:endParaRPr lang="en-US" sz="800" dirty="0"/>
          </a:p>
        </p:txBody>
      </p:sp>
      <p:sp>
        <p:nvSpPr>
          <p:cNvPr id="9" name="Shape 7"/>
          <p:cNvSpPr/>
          <p:nvPr/>
        </p:nvSpPr>
        <p:spPr>
          <a:xfrm>
            <a:off x="2743200" y="2240280"/>
            <a:ext cx="594360" cy="0"/>
          </a:xfrm>
          <a:prstGeom prst="line">
            <a:avLst/>
          </a:prstGeom>
          <a:noFill/>
          <a:ln w="20320">
            <a:solidFill>
              <a:srgbClr val="D7E6F2"/>
            </a:solidFill>
            <a:prstDash val="solid"/>
            <a:tailEnd type="triangle"/>
          </a:ln>
        </p:spPr>
      </p:sp>
      <p:sp>
        <p:nvSpPr>
          <p:cNvPr id="10" name="Shape 8"/>
          <p:cNvSpPr/>
          <p:nvPr/>
        </p:nvSpPr>
        <p:spPr>
          <a:xfrm>
            <a:off x="5486400" y="2240280"/>
            <a:ext cx="594360" cy="0"/>
          </a:xfrm>
          <a:prstGeom prst="line">
            <a:avLst/>
          </a:prstGeom>
          <a:noFill/>
          <a:ln w="20320">
            <a:solidFill>
              <a:srgbClr val="D7E6F2"/>
            </a:solidFill>
            <a:prstDash val="solid"/>
            <a:tailEnd type="triangle"/>
          </a:ln>
        </p:spPr>
      </p:sp>
      <p:sp>
        <p:nvSpPr>
          <p:cNvPr id="11" name="Shape 9"/>
          <p:cNvSpPr/>
          <p:nvPr/>
        </p:nvSpPr>
        <p:spPr>
          <a:xfrm>
            <a:off x="8229600" y="2240280"/>
            <a:ext cx="594360" cy="0"/>
          </a:xfrm>
          <a:prstGeom prst="line">
            <a:avLst/>
          </a:prstGeom>
          <a:noFill/>
          <a:ln w="20320">
            <a:solidFill>
              <a:srgbClr val="D7E6F2"/>
            </a:solidFill>
            <a:prstDash val="solid"/>
            <a:tailEnd type="triangle"/>
          </a:ln>
        </p:spPr>
      </p:sp>
      <p:sp>
        <p:nvSpPr>
          <p:cNvPr id="12" name="Shape 10"/>
          <p:cNvSpPr/>
          <p:nvPr/>
        </p:nvSpPr>
        <p:spPr>
          <a:xfrm>
            <a:off x="685800" y="1645920"/>
            <a:ext cx="2057400" cy="1188720"/>
          </a:xfrm>
          <a:prstGeom prst="roundRect">
            <a:avLst>
              <a:gd name="adj" fmla="val 6154"/>
            </a:avLst>
          </a:prstGeom>
          <a:solidFill>
            <a:srgbClr val="FFFFFF"/>
          </a:solidFill>
          <a:ln w="17780">
            <a:solidFill>
              <a:srgbClr val="25A9C7"/>
            </a:solidFill>
            <a:prstDash val="solid"/>
          </a:ln>
        </p:spPr>
      </p:sp>
      <p:sp>
        <p:nvSpPr>
          <p:cNvPr id="13" name="Text 11"/>
          <p:cNvSpPr/>
          <p:nvPr/>
        </p:nvSpPr>
        <p:spPr>
          <a:xfrm>
            <a:off x="822960" y="1874520"/>
            <a:ext cx="320040" cy="274320"/>
          </a:xfrm>
          <a:prstGeom prst="rect">
            <a:avLst/>
          </a:prstGeom>
          <a:noFill/>
          <a:ln/>
        </p:spPr>
        <p:txBody>
          <a:bodyPr wrap="square" lIns="0" tIns="0" rIns="0" bIns="0" rtlCol="0" anchor="ctr"/>
          <a:lstStyle/>
          <a:p>
            <a:pPr indent="0" marL="0">
              <a:buNone/>
            </a:pPr>
            <a:r>
              <a:rPr lang="en-US" sz="1700" b="1" dirty="0">
                <a:solidFill>
                  <a:srgbClr val="25A9C7"/>
                </a:solidFill>
              </a:rPr>
              <a:t>1</a:t>
            </a:r>
            <a:endParaRPr lang="en-US" sz="1700" dirty="0"/>
          </a:p>
        </p:txBody>
      </p:sp>
      <p:sp>
        <p:nvSpPr>
          <p:cNvPr id="14" name="Text 12"/>
          <p:cNvSpPr/>
          <p:nvPr/>
        </p:nvSpPr>
        <p:spPr>
          <a:xfrm>
            <a:off x="1188720" y="1847088"/>
            <a:ext cx="1371600" cy="219456"/>
          </a:xfrm>
          <a:prstGeom prst="rect">
            <a:avLst/>
          </a:prstGeom>
          <a:noFill/>
          <a:ln/>
        </p:spPr>
        <p:txBody>
          <a:bodyPr wrap="square" lIns="0" tIns="0" rIns="0" bIns="0" rtlCol="0" anchor="ctr">
            <a:normAutofit/>
          </a:bodyPr>
          <a:lstStyle/>
          <a:p>
            <a:pPr indent="0" marL="0">
              <a:buNone/>
            </a:pPr>
            <a:r>
              <a:rPr lang="en-US" sz="1400" b="1" dirty="0">
                <a:solidFill>
                  <a:srgbClr val="123452"/>
                </a:solidFill>
              </a:rPr>
              <a:t>Initialize</a:t>
            </a:r>
            <a:endParaRPr lang="en-US" sz="1400" dirty="0"/>
          </a:p>
        </p:txBody>
      </p:sp>
      <p:sp>
        <p:nvSpPr>
          <p:cNvPr id="15" name="Text 13"/>
          <p:cNvSpPr/>
          <p:nvPr/>
        </p:nvSpPr>
        <p:spPr>
          <a:xfrm>
            <a:off x="868680" y="2258568"/>
            <a:ext cx="1691640" cy="274320"/>
          </a:xfrm>
          <a:prstGeom prst="rect">
            <a:avLst/>
          </a:prstGeom>
          <a:noFill/>
          <a:ln/>
        </p:spPr>
        <p:txBody>
          <a:bodyPr wrap="square" lIns="0" tIns="0" rIns="0" bIns="0" rtlCol="0" anchor="ctr">
            <a:normAutofit/>
          </a:bodyPr>
          <a:lstStyle/>
          <a:p>
            <a:pPr algn="ctr" indent="0" marL="0">
              <a:buNone/>
            </a:pPr>
            <a:r>
              <a:rPr lang="en-US" sz="950" dirty="0">
                <a:solidFill>
                  <a:srgbClr val="1F2A37"/>
                </a:solidFill>
              </a:rPr>
              <a:t>Version negotiation + capability exchange</a:t>
            </a:r>
            <a:endParaRPr lang="en-US" sz="950" dirty="0"/>
          </a:p>
        </p:txBody>
      </p:sp>
      <p:sp>
        <p:nvSpPr>
          <p:cNvPr id="16" name="Shape 14"/>
          <p:cNvSpPr/>
          <p:nvPr/>
        </p:nvSpPr>
        <p:spPr>
          <a:xfrm>
            <a:off x="3429000" y="1645920"/>
            <a:ext cx="2057400" cy="1188720"/>
          </a:xfrm>
          <a:prstGeom prst="roundRect">
            <a:avLst>
              <a:gd name="adj" fmla="val 6154"/>
            </a:avLst>
          </a:prstGeom>
          <a:solidFill>
            <a:srgbClr val="FFFFFF"/>
          </a:solidFill>
          <a:ln w="17780">
            <a:solidFill>
              <a:srgbClr val="25A9C7"/>
            </a:solidFill>
            <a:prstDash val="solid"/>
          </a:ln>
        </p:spPr>
      </p:sp>
      <p:sp>
        <p:nvSpPr>
          <p:cNvPr id="17" name="Text 15"/>
          <p:cNvSpPr/>
          <p:nvPr/>
        </p:nvSpPr>
        <p:spPr>
          <a:xfrm>
            <a:off x="3566160" y="1874520"/>
            <a:ext cx="320040" cy="274320"/>
          </a:xfrm>
          <a:prstGeom prst="rect">
            <a:avLst/>
          </a:prstGeom>
          <a:noFill/>
          <a:ln/>
        </p:spPr>
        <p:txBody>
          <a:bodyPr wrap="square" lIns="0" tIns="0" rIns="0" bIns="0" rtlCol="0" anchor="ctr"/>
          <a:lstStyle/>
          <a:p>
            <a:pPr indent="0" marL="0">
              <a:buNone/>
            </a:pPr>
            <a:r>
              <a:rPr lang="en-US" sz="1700" b="1" dirty="0">
                <a:solidFill>
                  <a:srgbClr val="25A9C7"/>
                </a:solidFill>
              </a:rPr>
              <a:t>2</a:t>
            </a:r>
            <a:endParaRPr lang="en-US" sz="1700" dirty="0"/>
          </a:p>
        </p:txBody>
      </p:sp>
      <p:sp>
        <p:nvSpPr>
          <p:cNvPr id="18" name="Text 16"/>
          <p:cNvSpPr/>
          <p:nvPr/>
        </p:nvSpPr>
        <p:spPr>
          <a:xfrm>
            <a:off x="3931920" y="1847088"/>
            <a:ext cx="1371600" cy="219456"/>
          </a:xfrm>
          <a:prstGeom prst="rect">
            <a:avLst/>
          </a:prstGeom>
          <a:noFill/>
          <a:ln/>
        </p:spPr>
        <p:txBody>
          <a:bodyPr wrap="square" lIns="0" tIns="0" rIns="0" bIns="0" rtlCol="0" anchor="ctr">
            <a:normAutofit/>
          </a:bodyPr>
          <a:lstStyle/>
          <a:p>
            <a:pPr indent="0" marL="0">
              <a:buNone/>
            </a:pPr>
            <a:r>
              <a:rPr lang="en-US" sz="1400" b="1" dirty="0">
                <a:solidFill>
                  <a:srgbClr val="123452"/>
                </a:solidFill>
              </a:rPr>
              <a:t>List</a:t>
            </a:r>
            <a:endParaRPr lang="en-US" sz="1400" dirty="0"/>
          </a:p>
        </p:txBody>
      </p:sp>
      <p:sp>
        <p:nvSpPr>
          <p:cNvPr id="19" name="Text 17"/>
          <p:cNvSpPr/>
          <p:nvPr/>
        </p:nvSpPr>
        <p:spPr>
          <a:xfrm>
            <a:off x="3611880" y="2258568"/>
            <a:ext cx="1691640" cy="274320"/>
          </a:xfrm>
          <a:prstGeom prst="rect">
            <a:avLst/>
          </a:prstGeom>
          <a:noFill/>
          <a:ln/>
        </p:spPr>
        <p:txBody>
          <a:bodyPr wrap="square" lIns="0" tIns="0" rIns="0" bIns="0" rtlCol="0" anchor="ctr">
            <a:normAutofit/>
          </a:bodyPr>
          <a:lstStyle/>
          <a:p>
            <a:pPr algn="ctr" indent="0" marL="0">
              <a:buNone/>
            </a:pPr>
            <a:r>
              <a:rPr lang="en-US" sz="950" dirty="0">
                <a:solidFill>
                  <a:srgbClr val="1F2A37"/>
                </a:solidFill>
              </a:rPr>
              <a:t>tools/list, resources/list, prompts/list</a:t>
            </a:r>
            <a:endParaRPr lang="en-US" sz="950" dirty="0"/>
          </a:p>
        </p:txBody>
      </p:sp>
      <p:sp>
        <p:nvSpPr>
          <p:cNvPr id="20" name="Shape 18"/>
          <p:cNvSpPr/>
          <p:nvPr/>
        </p:nvSpPr>
        <p:spPr>
          <a:xfrm>
            <a:off x="6172200" y="1645920"/>
            <a:ext cx="2057400" cy="1188720"/>
          </a:xfrm>
          <a:prstGeom prst="roundRect">
            <a:avLst>
              <a:gd name="adj" fmla="val 6154"/>
            </a:avLst>
          </a:prstGeom>
          <a:solidFill>
            <a:srgbClr val="FFFFFF"/>
          </a:solidFill>
          <a:ln w="17780">
            <a:solidFill>
              <a:srgbClr val="25A9C7"/>
            </a:solidFill>
            <a:prstDash val="solid"/>
          </a:ln>
        </p:spPr>
      </p:sp>
      <p:sp>
        <p:nvSpPr>
          <p:cNvPr id="21" name="Text 19"/>
          <p:cNvSpPr/>
          <p:nvPr/>
        </p:nvSpPr>
        <p:spPr>
          <a:xfrm>
            <a:off x="6309360" y="1874520"/>
            <a:ext cx="320040" cy="274320"/>
          </a:xfrm>
          <a:prstGeom prst="rect">
            <a:avLst/>
          </a:prstGeom>
          <a:noFill/>
          <a:ln/>
        </p:spPr>
        <p:txBody>
          <a:bodyPr wrap="square" lIns="0" tIns="0" rIns="0" bIns="0" rtlCol="0" anchor="ctr"/>
          <a:lstStyle/>
          <a:p>
            <a:pPr indent="0" marL="0">
              <a:buNone/>
            </a:pPr>
            <a:r>
              <a:rPr lang="en-US" sz="1700" b="1" dirty="0">
                <a:solidFill>
                  <a:srgbClr val="25A9C7"/>
                </a:solidFill>
              </a:rPr>
              <a:t>3</a:t>
            </a:r>
            <a:endParaRPr lang="en-US" sz="1700" dirty="0"/>
          </a:p>
        </p:txBody>
      </p:sp>
      <p:sp>
        <p:nvSpPr>
          <p:cNvPr id="22" name="Text 20"/>
          <p:cNvSpPr/>
          <p:nvPr/>
        </p:nvSpPr>
        <p:spPr>
          <a:xfrm>
            <a:off x="6675120" y="1847088"/>
            <a:ext cx="1371600" cy="219456"/>
          </a:xfrm>
          <a:prstGeom prst="rect">
            <a:avLst/>
          </a:prstGeom>
          <a:noFill/>
          <a:ln/>
        </p:spPr>
        <p:txBody>
          <a:bodyPr wrap="square" lIns="0" tIns="0" rIns="0" bIns="0" rtlCol="0" anchor="ctr">
            <a:normAutofit/>
          </a:bodyPr>
          <a:lstStyle/>
          <a:p>
            <a:pPr indent="0" marL="0">
              <a:buNone/>
            </a:pPr>
            <a:r>
              <a:rPr lang="en-US" sz="1400" b="1" dirty="0">
                <a:solidFill>
                  <a:srgbClr val="123452"/>
                </a:solidFill>
              </a:rPr>
              <a:t>Use</a:t>
            </a:r>
            <a:endParaRPr lang="en-US" sz="1400" dirty="0"/>
          </a:p>
        </p:txBody>
      </p:sp>
      <p:sp>
        <p:nvSpPr>
          <p:cNvPr id="23" name="Text 21"/>
          <p:cNvSpPr/>
          <p:nvPr/>
        </p:nvSpPr>
        <p:spPr>
          <a:xfrm>
            <a:off x="6355080" y="2258568"/>
            <a:ext cx="1691640" cy="274320"/>
          </a:xfrm>
          <a:prstGeom prst="rect">
            <a:avLst/>
          </a:prstGeom>
          <a:noFill/>
          <a:ln/>
        </p:spPr>
        <p:txBody>
          <a:bodyPr wrap="square" lIns="0" tIns="0" rIns="0" bIns="0" rtlCol="0" anchor="ctr">
            <a:normAutofit/>
          </a:bodyPr>
          <a:lstStyle/>
          <a:p>
            <a:pPr algn="ctr" indent="0" marL="0">
              <a:buNone/>
            </a:pPr>
            <a:r>
              <a:rPr lang="en-US" sz="950" dirty="0">
                <a:solidFill>
                  <a:srgbClr val="1F2A37"/>
                </a:solidFill>
              </a:rPr>
              <a:t>tools/call or resources/read with structured params</a:t>
            </a:r>
            <a:endParaRPr lang="en-US" sz="950" dirty="0"/>
          </a:p>
        </p:txBody>
      </p:sp>
      <p:sp>
        <p:nvSpPr>
          <p:cNvPr id="24" name="Shape 22"/>
          <p:cNvSpPr/>
          <p:nvPr/>
        </p:nvSpPr>
        <p:spPr>
          <a:xfrm>
            <a:off x="8915400" y="1645920"/>
            <a:ext cx="2057400" cy="1188720"/>
          </a:xfrm>
          <a:prstGeom prst="roundRect">
            <a:avLst>
              <a:gd name="adj" fmla="val 6154"/>
            </a:avLst>
          </a:prstGeom>
          <a:solidFill>
            <a:srgbClr val="FFFFFF"/>
          </a:solidFill>
          <a:ln w="17780">
            <a:solidFill>
              <a:srgbClr val="25A9C7"/>
            </a:solidFill>
            <a:prstDash val="solid"/>
          </a:ln>
        </p:spPr>
      </p:sp>
      <p:sp>
        <p:nvSpPr>
          <p:cNvPr id="25" name="Text 23"/>
          <p:cNvSpPr/>
          <p:nvPr/>
        </p:nvSpPr>
        <p:spPr>
          <a:xfrm>
            <a:off x="9052560" y="1874520"/>
            <a:ext cx="320040" cy="274320"/>
          </a:xfrm>
          <a:prstGeom prst="rect">
            <a:avLst/>
          </a:prstGeom>
          <a:noFill/>
          <a:ln/>
        </p:spPr>
        <p:txBody>
          <a:bodyPr wrap="square" lIns="0" tIns="0" rIns="0" bIns="0" rtlCol="0" anchor="ctr"/>
          <a:lstStyle/>
          <a:p>
            <a:pPr indent="0" marL="0">
              <a:buNone/>
            </a:pPr>
            <a:r>
              <a:rPr lang="en-US" sz="1700" b="1" dirty="0">
                <a:solidFill>
                  <a:srgbClr val="25A9C7"/>
                </a:solidFill>
              </a:rPr>
              <a:t>4</a:t>
            </a:r>
            <a:endParaRPr lang="en-US" sz="1700" dirty="0"/>
          </a:p>
        </p:txBody>
      </p:sp>
      <p:sp>
        <p:nvSpPr>
          <p:cNvPr id="26" name="Text 24"/>
          <p:cNvSpPr/>
          <p:nvPr/>
        </p:nvSpPr>
        <p:spPr>
          <a:xfrm>
            <a:off x="9418320" y="1847088"/>
            <a:ext cx="1371600" cy="219456"/>
          </a:xfrm>
          <a:prstGeom prst="rect">
            <a:avLst/>
          </a:prstGeom>
          <a:noFill/>
          <a:ln/>
        </p:spPr>
        <p:txBody>
          <a:bodyPr wrap="square" lIns="0" tIns="0" rIns="0" bIns="0" rtlCol="0" anchor="ctr">
            <a:normAutofit/>
          </a:bodyPr>
          <a:lstStyle/>
          <a:p>
            <a:pPr indent="0" marL="0">
              <a:buNone/>
            </a:pPr>
            <a:r>
              <a:rPr lang="en-US" sz="1400" b="1" dirty="0">
                <a:solidFill>
                  <a:srgbClr val="123452"/>
                </a:solidFill>
              </a:rPr>
              <a:t>Update</a:t>
            </a:r>
            <a:endParaRPr lang="en-US" sz="1400" dirty="0"/>
          </a:p>
        </p:txBody>
      </p:sp>
      <p:sp>
        <p:nvSpPr>
          <p:cNvPr id="27" name="Text 25"/>
          <p:cNvSpPr/>
          <p:nvPr/>
        </p:nvSpPr>
        <p:spPr>
          <a:xfrm>
            <a:off x="9098280" y="2258568"/>
            <a:ext cx="1691640" cy="274320"/>
          </a:xfrm>
          <a:prstGeom prst="rect">
            <a:avLst/>
          </a:prstGeom>
          <a:noFill/>
          <a:ln/>
        </p:spPr>
        <p:txBody>
          <a:bodyPr wrap="square" lIns="0" tIns="0" rIns="0" bIns="0" rtlCol="0" anchor="ctr">
            <a:normAutofit/>
          </a:bodyPr>
          <a:lstStyle/>
          <a:p>
            <a:pPr algn="ctr" indent="0" marL="0">
              <a:buNone/>
            </a:pPr>
            <a:r>
              <a:rPr lang="en-US" sz="950" dirty="0">
                <a:solidFill>
                  <a:srgbClr val="1F2A37"/>
                </a:solidFill>
              </a:rPr>
              <a:t>notifications for list changes, progress, logs</a:t>
            </a:r>
            <a:endParaRPr lang="en-US" sz="950" dirty="0"/>
          </a:p>
        </p:txBody>
      </p:sp>
      <p:sp>
        <p:nvSpPr>
          <p:cNvPr id="28" name="Shape 26"/>
          <p:cNvSpPr/>
          <p:nvPr/>
        </p:nvSpPr>
        <p:spPr>
          <a:xfrm>
            <a:off x="731520" y="3703320"/>
            <a:ext cx="3200400" cy="1143000"/>
          </a:xfrm>
          <a:prstGeom prst="roundRect">
            <a:avLst>
              <a:gd name="adj" fmla="val 4000"/>
            </a:avLst>
          </a:prstGeom>
          <a:solidFill>
            <a:srgbClr val="F7FBFE"/>
          </a:solidFill>
          <a:ln w="12700">
            <a:solidFill>
              <a:srgbClr val="25A9C7"/>
            </a:solidFill>
            <a:prstDash val="solid"/>
          </a:ln>
        </p:spPr>
      </p:sp>
      <p:sp>
        <p:nvSpPr>
          <p:cNvPr id="29" name="Shape 27"/>
          <p:cNvSpPr/>
          <p:nvPr/>
        </p:nvSpPr>
        <p:spPr>
          <a:xfrm>
            <a:off x="731520" y="3703320"/>
            <a:ext cx="73152" cy="1143000"/>
          </a:xfrm>
          <a:prstGeom prst="rect">
            <a:avLst/>
          </a:prstGeom>
          <a:solidFill>
            <a:srgbClr val="25A9C7"/>
          </a:solidFill>
          <a:ln w="12700">
            <a:solidFill>
              <a:srgbClr val="25A9C7"/>
            </a:solidFill>
            <a:prstDash val="solid"/>
          </a:ln>
        </p:spPr>
      </p:sp>
      <p:sp>
        <p:nvSpPr>
          <p:cNvPr id="30" name="Text 28"/>
          <p:cNvSpPr/>
          <p:nvPr/>
        </p:nvSpPr>
        <p:spPr>
          <a:xfrm>
            <a:off x="896112" y="3831336"/>
            <a:ext cx="294436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Why this matters</a:t>
            </a:r>
            <a:endParaRPr lang="en-US" sz="1300" dirty="0"/>
          </a:p>
        </p:txBody>
      </p:sp>
      <p:sp>
        <p:nvSpPr>
          <p:cNvPr id="31" name="Text 29"/>
          <p:cNvSpPr/>
          <p:nvPr/>
        </p:nvSpPr>
        <p:spPr>
          <a:xfrm>
            <a:off x="896112" y="4160520"/>
            <a:ext cx="2944368" cy="57607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Tools are not hard-coded into every AI application. They can be discovered and refreshed through standardized messages.</a:t>
            </a:r>
            <a:endParaRPr lang="en-US" sz="1100" dirty="0"/>
          </a:p>
        </p:txBody>
      </p:sp>
      <p:sp>
        <p:nvSpPr>
          <p:cNvPr id="32" name="Shape 30"/>
          <p:cNvSpPr/>
          <p:nvPr/>
        </p:nvSpPr>
        <p:spPr>
          <a:xfrm>
            <a:off x="4434840" y="3703320"/>
            <a:ext cx="3200400" cy="1143000"/>
          </a:xfrm>
          <a:prstGeom prst="roundRect">
            <a:avLst>
              <a:gd name="adj" fmla="val 4000"/>
            </a:avLst>
          </a:prstGeom>
          <a:solidFill>
            <a:srgbClr val="F7FBFE"/>
          </a:solidFill>
          <a:ln w="12700">
            <a:solidFill>
              <a:srgbClr val="D99A3D"/>
            </a:solidFill>
            <a:prstDash val="solid"/>
          </a:ln>
        </p:spPr>
      </p:sp>
      <p:sp>
        <p:nvSpPr>
          <p:cNvPr id="33" name="Shape 31"/>
          <p:cNvSpPr/>
          <p:nvPr/>
        </p:nvSpPr>
        <p:spPr>
          <a:xfrm>
            <a:off x="4434840" y="3703320"/>
            <a:ext cx="73152" cy="1143000"/>
          </a:xfrm>
          <a:prstGeom prst="rect">
            <a:avLst/>
          </a:prstGeom>
          <a:solidFill>
            <a:srgbClr val="D99A3D"/>
          </a:solidFill>
          <a:ln w="12700">
            <a:solidFill>
              <a:srgbClr val="D99A3D"/>
            </a:solidFill>
            <a:prstDash val="solid"/>
          </a:ln>
        </p:spPr>
      </p:sp>
      <p:sp>
        <p:nvSpPr>
          <p:cNvPr id="34" name="Text 32"/>
          <p:cNvSpPr/>
          <p:nvPr/>
        </p:nvSpPr>
        <p:spPr>
          <a:xfrm>
            <a:off x="4599432" y="3831336"/>
            <a:ext cx="2944368" cy="228600"/>
          </a:xfrm>
          <a:prstGeom prst="rect">
            <a:avLst/>
          </a:prstGeom>
          <a:noFill/>
          <a:ln/>
        </p:spPr>
        <p:txBody>
          <a:bodyPr wrap="square" lIns="0" tIns="0" rIns="0" bIns="0" rtlCol="0" anchor="ctr">
            <a:normAutofit/>
          </a:bodyPr>
          <a:lstStyle/>
          <a:p>
            <a:pPr indent="0" marL="0">
              <a:buNone/>
            </a:pPr>
            <a:r>
              <a:rPr lang="en-US" sz="1300" b="1" dirty="0">
                <a:solidFill>
                  <a:srgbClr val="D99A3D"/>
                </a:solidFill>
              </a:rPr>
              <a:t>Demo moment</a:t>
            </a:r>
            <a:endParaRPr lang="en-US" sz="1300" dirty="0"/>
          </a:p>
        </p:txBody>
      </p:sp>
      <p:sp>
        <p:nvSpPr>
          <p:cNvPr id="35" name="Text 33"/>
          <p:cNvSpPr/>
          <p:nvPr/>
        </p:nvSpPr>
        <p:spPr>
          <a:xfrm>
            <a:off x="4599432" y="4160520"/>
            <a:ext cx="2944368" cy="57607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Show tool discovery before tool execution. This makes MCP feel different from a static API client.</a:t>
            </a:r>
            <a:endParaRPr lang="en-US" sz="1100" dirty="0"/>
          </a:p>
        </p:txBody>
      </p:sp>
      <p:sp>
        <p:nvSpPr>
          <p:cNvPr id="36" name="Shape 34"/>
          <p:cNvSpPr/>
          <p:nvPr/>
        </p:nvSpPr>
        <p:spPr>
          <a:xfrm>
            <a:off x="8138160" y="3703320"/>
            <a:ext cx="3200400" cy="1143000"/>
          </a:xfrm>
          <a:prstGeom prst="roundRect">
            <a:avLst>
              <a:gd name="adj" fmla="val 4000"/>
            </a:avLst>
          </a:prstGeom>
          <a:solidFill>
            <a:srgbClr val="F7FBFE"/>
          </a:solidFill>
          <a:ln w="12700">
            <a:solidFill>
              <a:srgbClr val="B65F62"/>
            </a:solidFill>
            <a:prstDash val="solid"/>
          </a:ln>
        </p:spPr>
      </p:sp>
      <p:sp>
        <p:nvSpPr>
          <p:cNvPr id="37" name="Shape 35"/>
          <p:cNvSpPr/>
          <p:nvPr/>
        </p:nvSpPr>
        <p:spPr>
          <a:xfrm>
            <a:off x="8138160" y="3703320"/>
            <a:ext cx="73152" cy="1143000"/>
          </a:xfrm>
          <a:prstGeom prst="rect">
            <a:avLst/>
          </a:prstGeom>
          <a:solidFill>
            <a:srgbClr val="B65F62"/>
          </a:solidFill>
          <a:ln w="12700">
            <a:solidFill>
              <a:srgbClr val="B65F62"/>
            </a:solidFill>
            <a:prstDash val="solid"/>
          </a:ln>
        </p:spPr>
      </p:sp>
      <p:sp>
        <p:nvSpPr>
          <p:cNvPr id="38" name="Text 36"/>
          <p:cNvSpPr/>
          <p:nvPr/>
        </p:nvSpPr>
        <p:spPr>
          <a:xfrm>
            <a:off x="8302752" y="3831336"/>
            <a:ext cx="2944368" cy="228600"/>
          </a:xfrm>
          <a:prstGeom prst="rect">
            <a:avLst/>
          </a:prstGeom>
          <a:noFill/>
          <a:ln/>
        </p:spPr>
        <p:txBody>
          <a:bodyPr wrap="square" lIns="0" tIns="0" rIns="0" bIns="0" rtlCol="0" anchor="ctr">
            <a:normAutofit/>
          </a:bodyPr>
          <a:lstStyle/>
          <a:p>
            <a:pPr indent="0" marL="0">
              <a:buNone/>
            </a:pPr>
            <a:r>
              <a:rPr lang="en-US" sz="1300" b="1" dirty="0">
                <a:solidFill>
                  <a:srgbClr val="B65F62"/>
                </a:solidFill>
              </a:rPr>
              <a:t>Caution</a:t>
            </a:r>
            <a:endParaRPr lang="en-US" sz="1300" dirty="0"/>
          </a:p>
        </p:txBody>
      </p:sp>
      <p:sp>
        <p:nvSpPr>
          <p:cNvPr id="39" name="Text 37"/>
          <p:cNvSpPr/>
          <p:nvPr/>
        </p:nvSpPr>
        <p:spPr>
          <a:xfrm>
            <a:off x="8302752" y="4160520"/>
            <a:ext cx="2944368" cy="57607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Tool descriptions, prompts, and outputs should be treated as untrusted unless they come from trusted servers.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5A9C7"/>
          </a:solidFill>
          <a:ln w="12700">
            <a:solidFill>
              <a:srgbClr val="25A9C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5A9C7"/>
                </a:solidFill>
                <a:latin typeface="Aptos" pitchFamily="34" charset="0"/>
                <a:ea typeface="Aptos" pitchFamily="34" charset="-122"/>
                <a:cs typeface="Aptos" pitchFamily="34" charset="-120"/>
              </a:rPr>
              <a:t>MCP</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MCP wins when AI needs governed access to changing context—not when a static API call is enough</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16</a:t>
            </a:r>
            <a:endParaRPr lang="en-US" sz="800" dirty="0"/>
          </a:p>
        </p:txBody>
      </p:sp>
      <p:sp>
        <p:nvSpPr>
          <p:cNvPr id="9" name="Shape 7"/>
          <p:cNvSpPr/>
          <p:nvPr/>
        </p:nvSpPr>
        <p:spPr>
          <a:xfrm>
            <a:off x="594360" y="1335024"/>
            <a:ext cx="11338560" cy="475488"/>
          </a:xfrm>
          <a:prstGeom prst="rect">
            <a:avLst/>
          </a:prstGeom>
          <a:solidFill>
            <a:srgbClr val="25A9C7"/>
          </a:solidFill>
          <a:ln w="12700">
            <a:solidFill>
              <a:srgbClr val="25A9C7"/>
            </a:solidFill>
            <a:prstDash val="solid"/>
          </a:ln>
        </p:spPr>
      </p:sp>
      <p:sp>
        <p:nvSpPr>
          <p:cNvPr id="10" name="Text 8"/>
          <p:cNvSpPr/>
          <p:nvPr/>
        </p:nvSpPr>
        <p:spPr>
          <a:xfrm>
            <a:off x="640080" y="1435608"/>
            <a:ext cx="1920240" cy="365760"/>
          </a:xfrm>
          <a:prstGeom prst="rect">
            <a:avLst/>
          </a:prstGeom>
          <a:noFill/>
          <a:ln/>
        </p:spPr>
        <p:txBody>
          <a:bodyPr wrap="square" lIns="0" tIns="0" rIns="0" bIns="0" rtlCol="0" anchor="ctr">
            <a:normAutofit/>
          </a:bodyPr>
          <a:lstStyle/>
          <a:p>
            <a:pPr algn="l" indent="0" marL="0">
              <a:buNone/>
            </a:pPr>
            <a:r>
              <a:rPr lang="en-US" sz="820" b="1" dirty="0">
                <a:solidFill>
                  <a:srgbClr val="FFFFFF"/>
                </a:solidFill>
              </a:rPr>
              <a:t>Situation</a:t>
            </a:r>
            <a:endParaRPr lang="en-US" sz="820" dirty="0"/>
          </a:p>
        </p:txBody>
      </p:sp>
      <p:sp>
        <p:nvSpPr>
          <p:cNvPr id="11" name="Text 9"/>
          <p:cNvSpPr/>
          <p:nvPr/>
        </p:nvSpPr>
        <p:spPr>
          <a:xfrm>
            <a:off x="2651760" y="1435608"/>
            <a:ext cx="3749040" cy="365760"/>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MCP fit</a:t>
            </a:r>
            <a:endParaRPr lang="en-US" sz="820" dirty="0"/>
          </a:p>
        </p:txBody>
      </p:sp>
      <p:sp>
        <p:nvSpPr>
          <p:cNvPr id="12" name="Shape 10"/>
          <p:cNvSpPr/>
          <p:nvPr/>
        </p:nvSpPr>
        <p:spPr>
          <a:xfrm>
            <a:off x="2606040" y="1335024"/>
            <a:ext cx="0" cy="2852928"/>
          </a:xfrm>
          <a:prstGeom prst="line">
            <a:avLst/>
          </a:prstGeom>
          <a:noFill/>
          <a:ln w="6350">
            <a:solidFill>
              <a:srgbClr val="FFFFFF">
                <a:alpha val="60000"/>
              </a:srgbClr>
            </a:solidFill>
            <a:prstDash val="solid"/>
          </a:ln>
        </p:spPr>
      </p:sp>
      <p:sp>
        <p:nvSpPr>
          <p:cNvPr id="13" name="Text 11"/>
          <p:cNvSpPr/>
          <p:nvPr/>
        </p:nvSpPr>
        <p:spPr>
          <a:xfrm>
            <a:off x="6492240" y="1435608"/>
            <a:ext cx="3749040" cy="365760"/>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Why</a:t>
            </a:r>
            <a:endParaRPr lang="en-US" sz="820" dirty="0"/>
          </a:p>
        </p:txBody>
      </p:sp>
      <p:sp>
        <p:nvSpPr>
          <p:cNvPr id="14" name="Shape 12"/>
          <p:cNvSpPr/>
          <p:nvPr/>
        </p:nvSpPr>
        <p:spPr>
          <a:xfrm>
            <a:off x="6446520" y="1335024"/>
            <a:ext cx="0" cy="2852928"/>
          </a:xfrm>
          <a:prstGeom prst="line">
            <a:avLst/>
          </a:prstGeom>
          <a:noFill/>
          <a:ln w="6350">
            <a:solidFill>
              <a:srgbClr val="FFFFFF">
                <a:alpha val="60000"/>
              </a:srgbClr>
            </a:solidFill>
            <a:prstDash val="solid"/>
          </a:ln>
        </p:spPr>
      </p:sp>
      <p:sp>
        <p:nvSpPr>
          <p:cNvPr id="15" name="Text 13"/>
          <p:cNvSpPr/>
          <p:nvPr/>
        </p:nvSpPr>
        <p:spPr>
          <a:xfrm>
            <a:off x="10332720" y="1435608"/>
            <a:ext cx="1554480" cy="365760"/>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Signal</a:t>
            </a:r>
            <a:endParaRPr lang="en-US" sz="820" dirty="0"/>
          </a:p>
        </p:txBody>
      </p:sp>
      <p:sp>
        <p:nvSpPr>
          <p:cNvPr id="16" name="Shape 14"/>
          <p:cNvSpPr/>
          <p:nvPr/>
        </p:nvSpPr>
        <p:spPr>
          <a:xfrm>
            <a:off x="10287000" y="1335024"/>
            <a:ext cx="0" cy="2852928"/>
          </a:xfrm>
          <a:prstGeom prst="line">
            <a:avLst/>
          </a:prstGeom>
          <a:noFill/>
          <a:ln w="6350">
            <a:solidFill>
              <a:srgbClr val="FFFFFF">
                <a:alpha val="60000"/>
              </a:srgbClr>
            </a:solidFill>
            <a:prstDash val="solid"/>
          </a:ln>
        </p:spPr>
      </p:sp>
      <p:sp>
        <p:nvSpPr>
          <p:cNvPr id="17" name="Shape 15"/>
          <p:cNvSpPr/>
          <p:nvPr/>
        </p:nvSpPr>
        <p:spPr>
          <a:xfrm>
            <a:off x="594360" y="1810512"/>
            <a:ext cx="11338560" cy="475488"/>
          </a:xfrm>
          <a:prstGeom prst="rect">
            <a:avLst/>
          </a:prstGeom>
          <a:solidFill>
            <a:srgbClr val="FFFFFF"/>
          </a:solidFill>
          <a:ln w="6350">
            <a:solidFill>
              <a:srgbClr val="D7E6F2"/>
            </a:solidFill>
            <a:prstDash val="solid"/>
          </a:ln>
        </p:spPr>
      </p:sp>
      <p:sp>
        <p:nvSpPr>
          <p:cNvPr id="18" name="Text 16"/>
          <p:cNvSpPr/>
          <p:nvPr/>
        </p:nvSpPr>
        <p:spPr>
          <a:xfrm>
            <a:off x="649224" y="1883664"/>
            <a:ext cx="1901952" cy="365760"/>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AI IDE / coding assistant</a:t>
            </a:r>
            <a:endParaRPr lang="en-US" sz="770" dirty="0"/>
          </a:p>
        </p:txBody>
      </p:sp>
      <p:sp>
        <p:nvSpPr>
          <p:cNvPr id="19" name="Text 17"/>
          <p:cNvSpPr/>
          <p:nvPr/>
        </p:nvSpPr>
        <p:spPr>
          <a:xfrm>
            <a:off x="2660904" y="1883664"/>
            <a:ext cx="373075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High</a:t>
            </a:r>
            <a:endParaRPr lang="en-US" sz="770" dirty="0"/>
          </a:p>
        </p:txBody>
      </p:sp>
      <p:sp>
        <p:nvSpPr>
          <p:cNvPr id="20" name="Text 18"/>
          <p:cNvSpPr/>
          <p:nvPr/>
        </p:nvSpPr>
        <p:spPr>
          <a:xfrm>
            <a:off x="6501384" y="1883664"/>
            <a:ext cx="373075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Local files, repo metadata, test runners, issue trackers are useful context</a:t>
            </a:r>
            <a:endParaRPr lang="en-US" sz="770" dirty="0"/>
          </a:p>
        </p:txBody>
      </p:sp>
      <p:sp>
        <p:nvSpPr>
          <p:cNvPr id="21" name="Text 19"/>
          <p:cNvSpPr/>
          <p:nvPr/>
        </p:nvSpPr>
        <p:spPr>
          <a:xfrm>
            <a:off x="10341864" y="1883664"/>
            <a:ext cx="153619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t>
            </a:r>
            <a:endParaRPr lang="en-US" sz="770" dirty="0"/>
          </a:p>
        </p:txBody>
      </p:sp>
      <p:sp>
        <p:nvSpPr>
          <p:cNvPr id="22" name="Shape 20"/>
          <p:cNvSpPr/>
          <p:nvPr/>
        </p:nvSpPr>
        <p:spPr>
          <a:xfrm>
            <a:off x="594360" y="2286000"/>
            <a:ext cx="11338560" cy="475488"/>
          </a:xfrm>
          <a:prstGeom prst="rect">
            <a:avLst/>
          </a:prstGeom>
          <a:solidFill>
            <a:srgbClr val="F8FAFC"/>
          </a:solidFill>
          <a:ln w="6350">
            <a:solidFill>
              <a:srgbClr val="D7E6F2"/>
            </a:solidFill>
            <a:prstDash val="solid"/>
          </a:ln>
        </p:spPr>
      </p:sp>
      <p:sp>
        <p:nvSpPr>
          <p:cNvPr id="23" name="Text 21"/>
          <p:cNvSpPr/>
          <p:nvPr/>
        </p:nvSpPr>
        <p:spPr>
          <a:xfrm>
            <a:off x="649224" y="2359152"/>
            <a:ext cx="1901952" cy="365760"/>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Enterprise assistant</a:t>
            </a:r>
            <a:endParaRPr lang="en-US" sz="770" dirty="0"/>
          </a:p>
        </p:txBody>
      </p:sp>
      <p:sp>
        <p:nvSpPr>
          <p:cNvPr id="24" name="Text 22"/>
          <p:cNvSpPr/>
          <p:nvPr/>
        </p:nvSpPr>
        <p:spPr>
          <a:xfrm>
            <a:off x="2660904" y="2359152"/>
            <a:ext cx="373075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High</a:t>
            </a:r>
            <a:endParaRPr lang="en-US" sz="770" dirty="0"/>
          </a:p>
        </p:txBody>
      </p:sp>
      <p:sp>
        <p:nvSpPr>
          <p:cNvPr id="25" name="Text 23"/>
          <p:cNvSpPr/>
          <p:nvPr/>
        </p:nvSpPr>
        <p:spPr>
          <a:xfrm>
            <a:off x="6501384" y="2359152"/>
            <a:ext cx="373075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Multiple private data sources and tools need governed access</a:t>
            </a:r>
            <a:endParaRPr lang="en-US" sz="770" dirty="0"/>
          </a:p>
        </p:txBody>
      </p:sp>
      <p:sp>
        <p:nvSpPr>
          <p:cNvPr id="26" name="Text 24"/>
          <p:cNvSpPr/>
          <p:nvPr/>
        </p:nvSpPr>
        <p:spPr>
          <a:xfrm>
            <a:off x="10341864" y="2359152"/>
            <a:ext cx="153619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t>
            </a:r>
            <a:endParaRPr lang="en-US" sz="770" dirty="0"/>
          </a:p>
        </p:txBody>
      </p:sp>
      <p:sp>
        <p:nvSpPr>
          <p:cNvPr id="27" name="Shape 25"/>
          <p:cNvSpPr/>
          <p:nvPr/>
        </p:nvSpPr>
        <p:spPr>
          <a:xfrm>
            <a:off x="594360" y="2761488"/>
            <a:ext cx="11338560" cy="475488"/>
          </a:xfrm>
          <a:prstGeom prst="rect">
            <a:avLst/>
          </a:prstGeom>
          <a:solidFill>
            <a:srgbClr val="FFFFFF"/>
          </a:solidFill>
          <a:ln w="6350">
            <a:solidFill>
              <a:srgbClr val="D7E6F2"/>
            </a:solidFill>
            <a:prstDash val="solid"/>
          </a:ln>
        </p:spPr>
      </p:sp>
      <p:sp>
        <p:nvSpPr>
          <p:cNvPr id="28" name="Text 26"/>
          <p:cNvSpPr/>
          <p:nvPr/>
        </p:nvSpPr>
        <p:spPr>
          <a:xfrm>
            <a:off x="649224" y="2834640"/>
            <a:ext cx="1901952" cy="365760"/>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Single deterministic action</a:t>
            </a:r>
            <a:endParaRPr lang="en-US" sz="770" dirty="0"/>
          </a:p>
        </p:txBody>
      </p:sp>
      <p:sp>
        <p:nvSpPr>
          <p:cNvPr id="29" name="Text 27"/>
          <p:cNvSpPr/>
          <p:nvPr/>
        </p:nvSpPr>
        <p:spPr>
          <a:xfrm>
            <a:off x="2660904" y="2834640"/>
            <a:ext cx="373075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Low</a:t>
            </a:r>
            <a:endParaRPr lang="en-US" sz="770" dirty="0"/>
          </a:p>
        </p:txBody>
      </p:sp>
      <p:sp>
        <p:nvSpPr>
          <p:cNvPr id="30" name="Text 28"/>
          <p:cNvSpPr/>
          <p:nvPr/>
        </p:nvSpPr>
        <p:spPr>
          <a:xfrm>
            <a:off x="6501384" y="2834640"/>
            <a:ext cx="373075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 direct API endpoint is simpler, testable, and cheaper</a:t>
            </a:r>
            <a:endParaRPr lang="en-US" sz="770" dirty="0"/>
          </a:p>
        </p:txBody>
      </p:sp>
      <p:sp>
        <p:nvSpPr>
          <p:cNvPr id="31" name="Text 29"/>
          <p:cNvSpPr/>
          <p:nvPr/>
        </p:nvSpPr>
        <p:spPr>
          <a:xfrm>
            <a:off x="10341864" y="2834640"/>
            <a:ext cx="153619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t>
            </a:r>
            <a:endParaRPr lang="en-US" sz="770" dirty="0"/>
          </a:p>
        </p:txBody>
      </p:sp>
      <p:sp>
        <p:nvSpPr>
          <p:cNvPr id="32" name="Shape 30"/>
          <p:cNvSpPr/>
          <p:nvPr/>
        </p:nvSpPr>
        <p:spPr>
          <a:xfrm>
            <a:off x="594360" y="3236976"/>
            <a:ext cx="11338560" cy="475488"/>
          </a:xfrm>
          <a:prstGeom prst="rect">
            <a:avLst/>
          </a:prstGeom>
          <a:solidFill>
            <a:srgbClr val="F8FAFC"/>
          </a:solidFill>
          <a:ln w="6350">
            <a:solidFill>
              <a:srgbClr val="D7E6F2"/>
            </a:solidFill>
            <a:prstDash val="solid"/>
          </a:ln>
        </p:spPr>
      </p:sp>
      <p:sp>
        <p:nvSpPr>
          <p:cNvPr id="33" name="Text 31"/>
          <p:cNvSpPr/>
          <p:nvPr/>
        </p:nvSpPr>
        <p:spPr>
          <a:xfrm>
            <a:off x="649224" y="3310128"/>
            <a:ext cx="1901952" cy="365760"/>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High-throughput service mesh</a:t>
            </a:r>
            <a:endParaRPr lang="en-US" sz="770" dirty="0"/>
          </a:p>
        </p:txBody>
      </p:sp>
      <p:sp>
        <p:nvSpPr>
          <p:cNvPr id="34" name="Text 32"/>
          <p:cNvSpPr/>
          <p:nvPr/>
        </p:nvSpPr>
        <p:spPr>
          <a:xfrm>
            <a:off x="2660904" y="3310128"/>
            <a:ext cx="373075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Low</a:t>
            </a:r>
            <a:endParaRPr lang="en-US" sz="770" dirty="0"/>
          </a:p>
        </p:txBody>
      </p:sp>
      <p:sp>
        <p:nvSpPr>
          <p:cNvPr id="35" name="Text 33"/>
          <p:cNvSpPr/>
          <p:nvPr/>
        </p:nvSpPr>
        <p:spPr>
          <a:xfrm>
            <a:off x="6501384" y="3310128"/>
            <a:ext cx="373075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MCP adds model-facing metadata and session overhead</a:t>
            </a:r>
            <a:endParaRPr lang="en-US" sz="770" dirty="0"/>
          </a:p>
        </p:txBody>
      </p:sp>
      <p:sp>
        <p:nvSpPr>
          <p:cNvPr id="36" name="Text 34"/>
          <p:cNvSpPr/>
          <p:nvPr/>
        </p:nvSpPr>
        <p:spPr>
          <a:xfrm>
            <a:off x="10341864" y="3310128"/>
            <a:ext cx="153619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t>
            </a:r>
            <a:endParaRPr lang="en-US" sz="770" dirty="0"/>
          </a:p>
        </p:txBody>
      </p:sp>
      <p:sp>
        <p:nvSpPr>
          <p:cNvPr id="37" name="Shape 35"/>
          <p:cNvSpPr/>
          <p:nvPr/>
        </p:nvSpPr>
        <p:spPr>
          <a:xfrm>
            <a:off x="594360" y="3712464"/>
            <a:ext cx="11338560" cy="475488"/>
          </a:xfrm>
          <a:prstGeom prst="rect">
            <a:avLst/>
          </a:prstGeom>
          <a:solidFill>
            <a:srgbClr val="FFFFFF"/>
          </a:solidFill>
          <a:ln w="6350">
            <a:solidFill>
              <a:srgbClr val="D7E6F2"/>
            </a:solidFill>
            <a:prstDash val="solid"/>
          </a:ln>
        </p:spPr>
      </p:sp>
      <p:sp>
        <p:nvSpPr>
          <p:cNvPr id="38" name="Text 36"/>
          <p:cNvSpPr/>
          <p:nvPr/>
        </p:nvSpPr>
        <p:spPr>
          <a:xfrm>
            <a:off x="649224" y="3785616"/>
            <a:ext cx="1901952" cy="365760"/>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Dynamic tool ecosystem</a:t>
            </a:r>
            <a:endParaRPr lang="en-US" sz="770" dirty="0"/>
          </a:p>
        </p:txBody>
      </p:sp>
      <p:sp>
        <p:nvSpPr>
          <p:cNvPr id="39" name="Text 37"/>
          <p:cNvSpPr/>
          <p:nvPr/>
        </p:nvSpPr>
        <p:spPr>
          <a:xfrm>
            <a:off x="2660904" y="3785616"/>
            <a:ext cx="373075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High</a:t>
            </a:r>
            <a:endParaRPr lang="en-US" sz="770" dirty="0"/>
          </a:p>
        </p:txBody>
      </p:sp>
      <p:sp>
        <p:nvSpPr>
          <p:cNvPr id="40" name="Text 38"/>
          <p:cNvSpPr/>
          <p:nvPr/>
        </p:nvSpPr>
        <p:spPr>
          <a:xfrm>
            <a:off x="6501384" y="3785616"/>
            <a:ext cx="373075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Tools can be listed, described, authorized, and updated</a:t>
            </a:r>
            <a:endParaRPr lang="en-US" sz="770" dirty="0"/>
          </a:p>
        </p:txBody>
      </p:sp>
      <p:sp>
        <p:nvSpPr>
          <p:cNvPr id="41" name="Text 39"/>
          <p:cNvSpPr/>
          <p:nvPr/>
        </p:nvSpPr>
        <p:spPr>
          <a:xfrm>
            <a:off x="10341864" y="3785616"/>
            <a:ext cx="1536192" cy="365760"/>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t>
            </a:r>
            <a:endParaRPr lang="en-US" sz="770" dirty="0"/>
          </a:p>
        </p:txBody>
      </p:sp>
      <p:sp>
        <p:nvSpPr>
          <p:cNvPr id="42" name="Shape 40"/>
          <p:cNvSpPr/>
          <p:nvPr/>
        </p:nvSpPr>
        <p:spPr>
          <a:xfrm>
            <a:off x="749808" y="4937760"/>
            <a:ext cx="10469880" cy="658368"/>
          </a:xfrm>
          <a:prstGeom prst="roundRect">
            <a:avLst>
              <a:gd name="adj" fmla="val 6944"/>
            </a:avLst>
          </a:prstGeom>
          <a:solidFill>
            <a:srgbClr val="F7FBFE"/>
          </a:solidFill>
          <a:ln w="12700">
            <a:solidFill>
              <a:srgbClr val="123452"/>
            </a:solidFill>
            <a:prstDash val="solid"/>
          </a:ln>
        </p:spPr>
      </p:sp>
      <p:sp>
        <p:nvSpPr>
          <p:cNvPr id="43" name="Shape 41"/>
          <p:cNvSpPr/>
          <p:nvPr/>
        </p:nvSpPr>
        <p:spPr>
          <a:xfrm>
            <a:off x="749808" y="4937760"/>
            <a:ext cx="73152" cy="658368"/>
          </a:xfrm>
          <a:prstGeom prst="rect">
            <a:avLst/>
          </a:prstGeom>
          <a:solidFill>
            <a:srgbClr val="123452"/>
          </a:solidFill>
          <a:ln w="12700">
            <a:solidFill>
              <a:srgbClr val="123452"/>
            </a:solidFill>
            <a:prstDash val="solid"/>
          </a:ln>
        </p:spPr>
      </p:sp>
      <p:sp>
        <p:nvSpPr>
          <p:cNvPr id="44" name="Text 42"/>
          <p:cNvSpPr/>
          <p:nvPr/>
        </p:nvSpPr>
        <p:spPr>
          <a:xfrm>
            <a:off x="914400" y="5065776"/>
            <a:ext cx="10213848" cy="228600"/>
          </a:xfrm>
          <a:prstGeom prst="rect">
            <a:avLst/>
          </a:prstGeom>
          <a:noFill/>
          <a:ln/>
        </p:spPr>
        <p:txBody>
          <a:bodyPr wrap="square" lIns="0" tIns="0" rIns="0" bIns="0" rtlCol="0" anchor="ctr">
            <a:normAutofit/>
          </a:bodyPr>
          <a:lstStyle/>
          <a:p>
            <a:pPr indent="0" marL="0">
              <a:buNone/>
            </a:pPr>
            <a:r>
              <a:rPr lang="en-US" sz="1280" b="1" dirty="0">
                <a:solidFill>
                  <a:srgbClr val="123452"/>
                </a:solidFill>
              </a:rPr>
              <a:t>Decision rule</a:t>
            </a:r>
            <a:endParaRPr lang="en-US" sz="1280" dirty="0"/>
          </a:p>
        </p:txBody>
      </p:sp>
      <p:sp>
        <p:nvSpPr>
          <p:cNvPr id="45" name="Text 43"/>
          <p:cNvSpPr/>
          <p:nvPr/>
        </p:nvSpPr>
        <p:spPr>
          <a:xfrm>
            <a:off x="914400" y="5394960"/>
            <a:ext cx="10213848" cy="91440"/>
          </a:xfrm>
          <a:prstGeom prst="rect">
            <a:avLst/>
          </a:prstGeom>
          <a:noFill/>
          <a:ln/>
        </p:spPr>
        <p:txBody>
          <a:bodyPr wrap="square" lIns="254" tIns="254" rIns="254" bIns="254" rtlCol="0" anchor="t">
            <a:normAutofit/>
          </a:bodyPr>
          <a:lstStyle/>
          <a:p>
            <a:pPr indent="0" marL="0">
              <a:buNone/>
            </a:pPr>
            <a:r>
              <a:rPr lang="en-US" sz="1230" dirty="0">
                <a:solidFill>
                  <a:srgbClr val="1F2A37"/>
                </a:solidFill>
              </a:rPr>
              <a:t>Choose MCP when the integration surface is a capability portfolio for an AI host, not merely a stable service endpoint for a traditional application.</a:t>
            </a:r>
            <a:endParaRPr lang="en-US" sz="12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5A9C7"/>
          </a:solidFill>
          <a:ln w="12700">
            <a:solidFill>
              <a:srgbClr val="25A9C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5A9C7"/>
                </a:solidFill>
                <a:latin typeface="Aptos" pitchFamily="34" charset="0"/>
                <a:ea typeface="Aptos" pitchFamily="34" charset="-122"/>
                <a:cs typeface="Aptos" pitchFamily="34" charset="-120"/>
              </a:rPr>
              <a:t>MCP</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MCP security starts with consent, least privilege, and prompt/tool-injection defenses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Sources: MCP spec; OWASP LLM Top 10; OWASP MCP Top 10</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17</a:t>
            </a:r>
            <a:endParaRPr lang="en-US" sz="800" dirty="0"/>
          </a:p>
        </p:txBody>
      </p:sp>
      <p:sp>
        <p:nvSpPr>
          <p:cNvPr id="9" name="Shape 7"/>
          <p:cNvSpPr/>
          <p:nvPr/>
        </p:nvSpPr>
        <p:spPr>
          <a:xfrm>
            <a:off x="594360" y="1353312"/>
            <a:ext cx="3200400" cy="1188720"/>
          </a:xfrm>
          <a:prstGeom prst="roundRect">
            <a:avLst>
              <a:gd name="adj" fmla="val 3846"/>
            </a:avLst>
          </a:prstGeom>
          <a:solidFill>
            <a:srgbClr val="F7FBFE"/>
          </a:solidFill>
          <a:ln w="12700">
            <a:solidFill>
              <a:srgbClr val="25A9C7"/>
            </a:solidFill>
            <a:prstDash val="solid"/>
          </a:ln>
        </p:spPr>
      </p:sp>
      <p:sp>
        <p:nvSpPr>
          <p:cNvPr id="10" name="Shape 8"/>
          <p:cNvSpPr/>
          <p:nvPr/>
        </p:nvSpPr>
        <p:spPr>
          <a:xfrm>
            <a:off x="594360" y="1353312"/>
            <a:ext cx="73152" cy="1188720"/>
          </a:xfrm>
          <a:prstGeom prst="rect">
            <a:avLst/>
          </a:prstGeom>
          <a:solidFill>
            <a:srgbClr val="25A9C7"/>
          </a:solidFill>
          <a:ln w="12700">
            <a:solidFill>
              <a:srgbClr val="25A9C7"/>
            </a:solidFill>
            <a:prstDash val="solid"/>
          </a:ln>
        </p:spPr>
      </p:sp>
      <p:sp>
        <p:nvSpPr>
          <p:cNvPr id="11" name="Text 9"/>
          <p:cNvSpPr/>
          <p:nvPr/>
        </p:nvSpPr>
        <p:spPr>
          <a:xfrm>
            <a:off x="758952" y="1481328"/>
            <a:ext cx="294436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Consent &amp; control</a:t>
            </a:r>
            <a:endParaRPr lang="en-US" sz="1300" dirty="0"/>
          </a:p>
        </p:txBody>
      </p:sp>
      <p:sp>
        <p:nvSpPr>
          <p:cNvPr id="12" name="Text 10"/>
          <p:cNvSpPr/>
          <p:nvPr/>
        </p:nvSpPr>
        <p:spPr>
          <a:xfrm>
            <a:off x="758952" y="1810512"/>
            <a:ext cx="2944368" cy="62179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Users should understand and approve data access and tool execution before sensitive actions occur.</a:t>
            </a:r>
            <a:endParaRPr lang="en-US" sz="1100" dirty="0"/>
          </a:p>
        </p:txBody>
      </p:sp>
      <p:sp>
        <p:nvSpPr>
          <p:cNvPr id="13" name="Shape 11"/>
          <p:cNvSpPr/>
          <p:nvPr/>
        </p:nvSpPr>
        <p:spPr>
          <a:xfrm>
            <a:off x="4480560" y="1353312"/>
            <a:ext cx="3200400" cy="1188720"/>
          </a:xfrm>
          <a:prstGeom prst="roundRect">
            <a:avLst>
              <a:gd name="adj" fmla="val 3846"/>
            </a:avLst>
          </a:prstGeom>
          <a:solidFill>
            <a:srgbClr val="F7FBFE"/>
          </a:solidFill>
          <a:ln w="12700">
            <a:solidFill>
              <a:srgbClr val="2F79B7"/>
            </a:solidFill>
            <a:prstDash val="solid"/>
          </a:ln>
        </p:spPr>
      </p:sp>
      <p:sp>
        <p:nvSpPr>
          <p:cNvPr id="14" name="Shape 12"/>
          <p:cNvSpPr/>
          <p:nvPr/>
        </p:nvSpPr>
        <p:spPr>
          <a:xfrm>
            <a:off x="4480560" y="1353312"/>
            <a:ext cx="73152" cy="1188720"/>
          </a:xfrm>
          <a:prstGeom prst="rect">
            <a:avLst/>
          </a:prstGeom>
          <a:solidFill>
            <a:srgbClr val="2F79B7"/>
          </a:solidFill>
          <a:ln w="12700">
            <a:solidFill>
              <a:srgbClr val="2F79B7"/>
            </a:solidFill>
            <a:prstDash val="solid"/>
          </a:ln>
        </p:spPr>
      </p:sp>
      <p:sp>
        <p:nvSpPr>
          <p:cNvPr id="15" name="Text 13"/>
          <p:cNvSpPr/>
          <p:nvPr/>
        </p:nvSpPr>
        <p:spPr>
          <a:xfrm>
            <a:off x="4645152" y="1481328"/>
            <a:ext cx="2944368" cy="228600"/>
          </a:xfrm>
          <a:prstGeom prst="rect">
            <a:avLst/>
          </a:prstGeom>
          <a:noFill/>
          <a:ln/>
        </p:spPr>
        <p:txBody>
          <a:bodyPr wrap="square" lIns="0" tIns="0" rIns="0" bIns="0" rtlCol="0" anchor="ctr">
            <a:normAutofit/>
          </a:bodyPr>
          <a:lstStyle/>
          <a:p>
            <a:pPr indent="0" marL="0">
              <a:buNone/>
            </a:pPr>
            <a:r>
              <a:rPr lang="en-US" sz="1300" b="1" dirty="0">
                <a:solidFill>
                  <a:srgbClr val="2F79B7"/>
                </a:solidFill>
              </a:rPr>
              <a:t>Data privacy</a:t>
            </a:r>
            <a:endParaRPr lang="en-US" sz="1300" dirty="0"/>
          </a:p>
        </p:txBody>
      </p:sp>
      <p:sp>
        <p:nvSpPr>
          <p:cNvPr id="16" name="Text 14"/>
          <p:cNvSpPr/>
          <p:nvPr/>
        </p:nvSpPr>
        <p:spPr>
          <a:xfrm>
            <a:off x="4645152" y="1810512"/>
            <a:ext cx="2944368" cy="62179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Hosts must protect user data and avoid transmitting resources without explicit consent and access controls.</a:t>
            </a:r>
            <a:endParaRPr lang="en-US" sz="1100" dirty="0"/>
          </a:p>
        </p:txBody>
      </p:sp>
      <p:sp>
        <p:nvSpPr>
          <p:cNvPr id="17" name="Shape 15"/>
          <p:cNvSpPr/>
          <p:nvPr/>
        </p:nvSpPr>
        <p:spPr>
          <a:xfrm>
            <a:off x="8321040" y="1353312"/>
            <a:ext cx="3200400" cy="1188720"/>
          </a:xfrm>
          <a:prstGeom prst="roundRect">
            <a:avLst>
              <a:gd name="adj" fmla="val 3846"/>
            </a:avLst>
          </a:prstGeom>
          <a:solidFill>
            <a:srgbClr val="F7FBFE"/>
          </a:solidFill>
          <a:ln w="12700">
            <a:solidFill>
              <a:srgbClr val="B65F62"/>
            </a:solidFill>
            <a:prstDash val="solid"/>
          </a:ln>
        </p:spPr>
      </p:sp>
      <p:sp>
        <p:nvSpPr>
          <p:cNvPr id="18" name="Shape 16"/>
          <p:cNvSpPr/>
          <p:nvPr/>
        </p:nvSpPr>
        <p:spPr>
          <a:xfrm>
            <a:off x="8321040" y="1353312"/>
            <a:ext cx="73152" cy="1188720"/>
          </a:xfrm>
          <a:prstGeom prst="rect">
            <a:avLst/>
          </a:prstGeom>
          <a:solidFill>
            <a:srgbClr val="B65F62"/>
          </a:solidFill>
          <a:ln w="12700">
            <a:solidFill>
              <a:srgbClr val="B65F62"/>
            </a:solidFill>
            <a:prstDash val="solid"/>
          </a:ln>
        </p:spPr>
      </p:sp>
      <p:sp>
        <p:nvSpPr>
          <p:cNvPr id="19" name="Text 17"/>
          <p:cNvSpPr/>
          <p:nvPr/>
        </p:nvSpPr>
        <p:spPr>
          <a:xfrm>
            <a:off x="8485632" y="1481328"/>
            <a:ext cx="2944368" cy="228600"/>
          </a:xfrm>
          <a:prstGeom prst="rect">
            <a:avLst/>
          </a:prstGeom>
          <a:noFill/>
          <a:ln/>
        </p:spPr>
        <p:txBody>
          <a:bodyPr wrap="square" lIns="0" tIns="0" rIns="0" bIns="0" rtlCol="0" anchor="ctr">
            <a:normAutofit/>
          </a:bodyPr>
          <a:lstStyle/>
          <a:p>
            <a:pPr indent="0" marL="0">
              <a:buNone/>
            </a:pPr>
            <a:r>
              <a:rPr lang="en-US" sz="1300" b="1" dirty="0">
                <a:solidFill>
                  <a:srgbClr val="B65F62"/>
                </a:solidFill>
              </a:rPr>
              <a:t>Tool safety</a:t>
            </a:r>
            <a:endParaRPr lang="en-US" sz="1300" dirty="0"/>
          </a:p>
        </p:txBody>
      </p:sp>
      <p:sp>
        <p:nvSpPr>
          <p:cNvPr id="20" name="Text 18"/>
          <p:cNvSpPr/>
          <p:nvPr/>
        </p:nvSpPr>
        <p:spPr>
          <a:xfrm>
            <a:off x="8485632" y="1810512"/>
            <a:ext cx="2944368" cy="62179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Tools can represent arbitrary code execution; tool descriptions, returned content, and remote context should be treated as untrusted.</a:t>
            </a:r>
            <a:endParaRPr lang="en-US" sz="1100" dirty="0"/>
          </a:p>
        </p:txBody>
      </p:sp>
      <p:sp>
        <p:nvSpPr>
          <p:cNvPr id="21" name="Text 19"/>
          <p:cNvSpPr/>
          <p:nvPr/>
        </p:nvSpPr>
        <p:spPr>
          <a:xfrm>
            <a:off x="658368" y="3154680"/>
            <a:ext cx="4754880" cy="274320"/>
          </a:xfrm>
          <a:prstGeom prst="rect">
            <a:avLst/>
          </a:prstGeom>
          <a:noFill/>
          <a:ln/>
        </p:spPr>
        <p:txBody>
          <a:bodyPr wrap="square" lIns="0" tIns="0" rIns="0" bIns="0" rtlCol="0" anchor="ctr"/>
          <a:lstStyle/>
          <a:p>
            <a:pPr indent="0" marL="0">
              <a:buNone/>
            </a:pPr>
            <a:r>
              <a:rPr lang="en-US" sz="1600" b="1" dirty="0">
                <a:solidFill>
                  <a:srgbClr val="123452"/>
                </a:solidFill>
              </a:rPr>
              <a:t>Governance controls to show in the demo</a:t>
            </a:r>
            <a:endParaRPr lang="en-US" sz="1600" dirty="0"/>
          </a:p>
        </p:txBody>
      </p:sp>
      <p:sp>
        <p:nvSpPr>
          <p:cNvPr id="22" name="Text 20"/>
          <p:cNvSpPr/>
          <p:nvPr/>
        </p:nvSpPr>
        <p:spPr>
          <a:xfrm>
            <a:off x="749808" y="3593592"/>
            <a:ext cx="9875520" cy="1600200"/>
          </a:xfrm>
          <a:prstGeom prst="rect">
            <a:avLst/>
          </a:prstGeom>
          <a:noFill/>
          <a:ln/>
        </p:spPr>
        <p:txBody>
          <a:bodyPr wrap="square" lIns="508" tIns="508" rIns="508" bIns="508" rtlCol="0" anchor="t">
            <a:normAutofit/>
          </a:bodyPr>
          <a:lstStyle/>
          <a:p>
            <a:r>
              <a:rPr lang="en-US" sz="1300" dirty="0">
                <a:solidFill>
                  <a:srgbClr val="1F2A37"/>
                </a:solidFill>
              </a:rPr>
              <a:t>Scope every MCP server to a narrow task and a bounded set of files, APIs, or database queries</a:t>
            </a:r>
            <a:endParaRPr lang="en-US" sz="1300" dirty="0"/>
          </a:p>
          <a:p>
            <a:r>
              <a:rPr lang="en-US" sz="1300" dirty="0">
                <a:solidFill>
                  <a:srgbClr val="1F2A37"/>
                </a:solidFill>
              </a:rPr>
              <a:t>Use allowlists for tools and actions; separate read-only and mutating tools</a:t>
            </a:r>
            <a:endParaRPr lang="en-US" sz="1300" dirty="0"/>
          </a:p>
          <a:p>
            <a:r>
              <a:rPr lang="en-US" sz="1300" dirty="0">
                <a:solidFill>
                  <a:srgbClr val="1F2A37"/>
                </a:solidFill>
              </a:rPr>
              <a:t>Log tool discovery, tool calls, arguments, output hashes, user approvals, and errors</a:t>
            </a:r>
            <a:endParaRPr lang="en-US" sz="1300" dirty="0"/>
          </a:p>
          <a:p>
            <a:r>
              <a:rPr lang="en-US" sz="1300" dirty="0">
                <a:solidFill>
                  <a:srgbClr val="1F2A37"/>
                </a:solidFill>
              </a:rPr>
              <a:t>Treat descriptions, tool outputs, remote pages, and resource content as untrusted inputs susceptible to prompt/tool injection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5A9C7"/>
          </a:solidFill>
          <a:ln w="12700">
            <a:solidFill>
              <a:srgbClr val="25A9C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5A9C7"/>
                </a:solidFill>
                <a:latin typeface="Aptos" pitchFamily="34" charset="0"/>
                <a:ea typeface="Aptos" pitchFamily="34" charset="-122"/>
                <a:cs typeface="Aptos" pitchFamily="34" charset="-120"/>
              </a:rPr>
              <a:t>MCP</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In the demo, MCP shows dynamic capability discovery and AI-guided tool selection</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18</a:t>
            </a:r>
            <a:endParaRPr lang="en-US" sz="800" dirty="0"/>
          </a:p>
        </p:txBody>
      </p:sp>
      <p:sp>
        <p:nvSpPr>
          <p:cNvPr id="9" name="Text 7"/>
          <p:cNvSpPr/>
          <p:nvPr/>
        </p:nvSpPr>
        <p:spPr>
          <a:xfrm>
            <a:off x="658368" y="1417320"/>
            <a:ext cx="2743200" cy="274320"/>
          </a:xfrm>
          <a:prstGeom prst="rect">
            <a:avLst/>
          </a:prstGeom>
          <a:noFill/>
          <a:ln/>
        </p:spPr>
        <p:txBody>
          <a:bodyPr wrap="square" lIns="0" tIns="0" rIns="0" bIns="0" rtlCol="0" anchor="ctr"/>
          <a:lstStyle/>
          <a:p>
            <a:pPr indent="0" marL="0">
              <a:buNone/>
            </a:pPr>
            <a:r>
              <a:rPr lang="en-US" sz="1700" b="1" dirty="0">
                <a:solidFill>
                  <a:srgbClr val="123452"/>
                </a:solidFill>
              </a:rPr>
              <a:t>MCP demo path</a:t>
            </a:r>
            <a:endParaRPr lang="en-US" sz="1700" dirty="0"/>
          </a:p>
        </p:txBody>
      </p:sp>
      <p:sp>
        <p:nvSpPr>
          <p:cNvPr id="10" name="Shape 8"/>
          <p:cNvSpPr/>
          <p:nvPr/>
        </p:nvSpPr>
        <p:spPr>
          <a:xfrm>
            <a:off x="2423160" y="2788920"/>
            <a:ext cx="914400" cy="0"/>
          </a:xfrm>
          <a:prstGeom prst="line">
            <a:avLst/>
          </a:prstGeom>
          <a:noFill/>
          <a:ln w="25400">
            <a:solidFill>
              <a:srgbClr val="D7E6F2"/>
            </a:solidFill>
            <a:prstDash val="solid"/>
            <a:tailEnd type="triangle"/>
          </a:ln>
        </p:spPr>
      </p:sp>
      <p:sp>
        <p:nvSpPr>
          <p:cNvPr id="11" name="Shape 9"/>
          <p:cNvSpPr/>
          <p:nvPr/>
        </p:nvSpPr>
        <p:spPr>
          <a:xfrm>
            <a:off x="5806440" y="2240280"/>
            <a:ext cx="914400" cy="-274320"/>
          </a:xfrm>
          <a:prstGeom prst="line">
            <a:avLst/>
          </a:prstGeom>
          <a:noFill/>
          <a:ln w="19050">
            <a:solidFill>
              <a:srgbClr val="D7E6F2"/>
            </a:solidFill>
            <a:prstDash val="solid"/>
            <a:tailEnd type="triangle"/>
          </a:ln>
        </p:spPr>
      </p:sp>
      <p:sp>
        <p:nvSpPr>
          <p:cNvPr id="12" name="Shape 10"/>
          <p:cNvSpPr/>
          <p:nvPr/>
        </p:nvSpPr>
        <p:spPr>
          <a:xfrm>
            <a:off x="5806440" y="2788920"/>
            <a:ext cx="914400" cy="0"/>
          </a:xfrm>
          <a:prstGeom prst="line">
            <a:avLst/>
          </a:prstGeom>
          <a:noFill/>
          <a:ln w="19050">
            <a:solidFill>
              <a:srgbClr val="D7E6F2"/>
            </a:solidFill>
            <a:prstDash val="solid"/>
            <a:tailEnd type="triangle"/>
          </a:ln>
        </p:spPr>
      </p:sp>
      <p:sp>
        <p:nvSpPr>
          <p:cNvPr id="13" name="Shape 11"/>
          <p:cNvSpPr/>
          <p:nvPr/>
        </p:nvSpPr>
        <p:spPr>
          <a:xfrm>
            <a:off x="5806440" y="3337560"/>
            <a:ext cx="914400" cy="274320"/>
          </a:xfrm>
          <a:prstGeom prst="line">
            <a:avLst/>
          </a:prstGeom>
          <a:noFill/>
          <a:ln w="19050">
            <a:solidFill>
              <a:srgbClr val="D7E6F2"/>
            </a:solidFill>
            <a:prstDash val="solid"/>
            <a:tailEnd type="triangle"/>
          </a:ln>
        </p:spPr>
      </p:sp>
      <p:sp>
        <p:nvSpPr>
          <p:cNvPr id="14" name="Shape 12"/>
          <p:cNvSpPr/>
          <p:nvPr/>
        </p:nvSpPr>
        <p:spPr>
          <a:xfrm>
            <a:off x="685800" y="2240280"/>
            <a:ext cx="2468880" cy="1097280"/>
          </a:xfrm>
          <a:prstGeom prst="roundRect">
            <a:avLst>
              <a:gd name="adj" fmla="val 6667"/>
            </a:avLst>
          </a:prstGeom>
          <a:solidFill>
            <a:srgbClr val="123452"/>
          </a:solidFill>
          <a:ln w="12700">
            <a:solidFill>
              <a:srgbClr val="123452"/>
            </a:solidFill>
            <a:prstDash val="solid"/>
          </a:ln>
        </p:spPr>
      </p:sp>
      <p:sp>
        <p:nvSpPr>
          <p:cNvPr id="15" name="Text 13"/>
          <p:cNvSpPr/>
          <p:nvPr/>
        </p:nvSpPr>
        <p:spPr>
          <a:xfrm>
            <a:off x="868680" y="2487168"/>
            <a:ext cx="2103120" cy="228600"/>
          </a:xfrm>
          <a:prstGeom prst="rect">
            <a:avLst/>
          </a:prstGeom>
          <a:noFill/>
          <a:ln/>
        </p:spPr>
        <p:txBody>
          <a:bodyPr wrap="square" lIns="0" tIns="0" rIns="0" bIns="0" rtlCol="0" anchor="ctr"/>
          <a:lstStyle/>
          <a:p>
            <a:pPr algn="ctr" indent="0" marL="0">
              <a:buNone/>
            </a:pPr>
            <a:r>
              <a:rPr lang="en-US" sz="1500" b="1" dirty="0">
                <a:solidFill>
                  <a:srgbClr val="FFFFFF"/>
                </a:solidFill>
              </a:rPr>
              <a:t>AI Host</a:t>
            </a:r>
            <a:endParaRPr lang="en-US" sz="1500" dirty="0"/>
          </a:p>
        </p:txBody>
      </p:sp>
      <p:sp>
        <p:nvSpPr>
          <p:cNvPr id="16" name="Text 14"/>
          <p:cNvSpPr/>
          <p:nvPr/>
        </p:nvSpPr>
        <p:spPr>
          <a:xfrm>
            <a:off x="868680" y="2834640"/>
            <a:ext cx="2103120" cy="182880"/>
          </a:xfrm>
          <a:prstGeom prst="rect">
            <a:avLst/>
          </a:prstGeom>
          <a:noFill/>
          <a:ln/>
        </p:spPr>
        <p:txBody>
          <a:bodyPr wrap="square" lIns="0" tIns="0" rIns="0" bIns="0" rtlCol="0" anchor="ctr"/>
          <a:lstStyle/>
          <a:p>
            <a:pPr algn="ctr" indent="0" marL="0">
              <a:buNone/>
            </a:pPr>
            <a:r>
              <a:rPr lang="en-US" sz="950" dirty="0">
                <a:solidFill>
                  <a:srgbClr val="D9E2F2"/>
                </a:solidFill>
              </a:rPr>
              <a:t>inspects tools, asks approval</a:t>
            </a:r>
            <a:endParaRPr lang="en-US" sz="950" dirty="0"/>
          </a:p>
        </p:txBody>
      </p:sp>
      <p:sp>
        <p:nvSpPr>
          <p:cNvPr id="17" name="Shape 15"/>
          <p:cNvSpPr/>
          <p:nvPr/>
        </p:nvSpPr>
        <p:spPr>
          <a:xfrm>
            <a:off x="3429000" y="2240280"/>
            <a:ext cx="2468880" cy="1097280"/>
          </a:xfrm>
          <a:prstGeom prst="roundRect">
            <a:avLst>
              <a:gd name="adj" fmla="val 6667"/>
            </a:avLst>
          </a:prstGeom>
          <a:solidFill>
            <a:srgbClr val="FFFFFF"/>
          </a:solidFill>
          <a:ln w="19050">
            <a:solidFill>
              <a:srgbClr val="25A9C7"/>
            </a:solidFill>
            <a:prstDash val="solid"/>
          </a:ln>
        </p:spPr>
      </p:sp>
      <p:sp>
        <p:nvSpPr>
          <p:cNvPr id="18" name="Text 16"/>
          <p:cNvSpPr/>
          <p:nvPr/>
        </p:nvSpPr>
        <p:spPr>
          <a:xfrm>
            <a:off x="3611880" y="2487168"/>
            <a:ext cx="2103120" cy="228600"/>
          </a:xfrm>
          <a:prstGeom prst="rect">
            <a:avLst/>
          </a:prstGeom>
          <a:noFill/>
          <a:ln/>
        </p:spPr>
        <p:txBody>
          <a:bodyPr wrap="square" lIns="0" tIns="0" rIns="0" bIns="0" rtlCol="0" anchor="ctr"/>
          <a:lstStyle/>
          <a:p>
            <a:pPr algn="ctr" indent="0" marL="0">
              <a:buNone/>
            </a:pPr>
            <a:r>
              <a:rPr lang="en-US" sz="1500" b="1" dirty="0">
                <a:solidFill>
                  <a:srgbClr val="25A9C7"/>
                </a:solidFill>
              </a:rPr>
              <a:t>MCP servers</a:t>
            </a:r>
            <a:endParaRPr lang="en-US" sz="1500" dirty="0"/>
          </a:p>
        </p:txBody>
      </p:sp>
      <p:sp>
        <p:nvSpPr>
          <p:cNvPr id="19" name="Text 17"/>
          <p:cNvSpPr/>
          <p:nvPr/>
        </p:nvSpPr>
        <p:spPr>
          <a:xfrm>
            <a:off x="3611880" y="2834640"/>
            <a:ext cx="2103120" cy="182880"/>
          </a:xfrm>
          <a:prstGeom prst="rect">
            <a:avLst/>
          </a:prstGeom>
          <a:noFill/>
          <a:ln/>
        </p:spPr>
        <p:txBody>
          <a:bodyPr wrap="square" lIns="0" tIns="0" rIns="0" bIns="0" rtlCol="0" anchor="ctr"/>
          <a:lstStyle/>
          <a:p>
            <a:pPr algn="ctr" indent="0" marL="0">
              <a:buNone/>
            </a:pPr>
            <a:r>
              <a:rPr lang="en-US" sz="950" dirty="0">
                <a:solidFill>
                  <a:srgbClr val="617184"/>
                </a:solidFill>
              </a:rPr>
              <a:t>tools/resources/prompts</a:t>
            </a:r>
            <a:endParaRPr lang="en-US" sz="950" dirty="0"/>
          </a:p>
        </p:txBody>
      </p:sp>
      <p:sp>
        <p:nvSpPr>
          <p:cNvPr id="20" name="Shape 18"/>
          <p:cNvSpPr/>
          <p:nvPr/>
        </p:nvSpPr>
        <p:spPr>
          <a:xfrm>
            <a:off x="6949440" y="1828800"/>
            <a:ext cx="2286000" cy="438912"/>
          </a:xfrm>
          <a:prstGeom prst="roundRect">
            <a:avLst>
              <a:gd name="adj" fmla="val 10417"/>
            </a:avLst>
          </a:prstGeom>
          <a:solidFill>
            <a:srgbClr val="FFFFFF"/>
          </a:solidFill>
          <a:ln w="15240">
            <a:solidFill>
              <a:srgbClr val="0A9B9B"/>
            </a:solidFill>
            <a:prstDash val="solid"/>
          </a:ln>
        </p:spPr>
      </p:sp>
      <p:sp>
        <p:nvSpPr>
          <p:cNvPr id="21" name="Text 19"/>
          <p:cNvSpPr/>
          <p:nvPr/>
        </p:nvSpPr>
        <p:spPr>
          <a:xfrm>
            <a:off x="7132320" y="1956816"/>
            <a:ext cx="1920240" cy="137160"/>
          </a:xfrm>
          <a:prstGeom prst="rect">
            <a:avLst/>
          </a:prstGeom>
          <a:noFill/>
          <a:ln/>
        </p:spPr>
        <p:txBody>
          <a:bodyPr wrap="square" lIns="0" tIns="0" rIns="0" bIns="0" rtlCol="0" anchor="ctr">
            <a:normAutofit/>
          </a:bodyPr>
          <a:lstStyle/>
          <a:p>
            <a:pPr algn="ctr" indent="0" marL="0">
              <a:buNone/>
            </a:pPr>
            <a:r>
              <a:rPr lang="en-US" sz="1050" b="1" dirty="0">
                <a:solidFill>
                  <a:srgbClr val="0A9B9B"/>
                </a:solidFill>
              </a:rPr>
              <a:t>risk_score tool</a:t>
            </a:r>
            <a:endParaRPr lang="en-US" sz="1050" dirty="0"/>
          </a:p>
        </p:txBody>
      </p:sp>
      <p:sp>
        <p:nvSpPr>
          <p:cNvPr id="22" name="Shape 20"/>
          <p:cNvSpPr/>
          <p:nvPr/>
        </p:nvSpPr>
        <p:spPr>
          <a:xfrm>
            <a:off x="6949440" y="2560320"/>
            <a:ext cx="2286000" cy="438912"/>
          </a:xfrm>
          <a:prstGeom prst="roundRect">
            <a:avLst>
              <a:gd name="adj" fmla="val 10417"/>
            </a:avLst>
          </a:prstGeom>
          <a:solidFill>
            <a:srgbClr val="FFFFFF"/>
          </a:solidFill>
          <a:ln w="15240">
            <a:solidFill>
              <a:srgbClr val="0A9B9B"/>
            </a:solidFill>
            <a:prstDash val="solid"/>
          </a:ln>
        </p:spPr>
      </p:sp>
      <p:sp>
        <p:nvSpPr>
          <p:cNvPr id="23" name="Text 21"/>
          <p:cNvSpPr/>
          <p:nvPr/>
        </p:nvSpPr>
        <p:spPr>
          <a:xfrm>
            <a:off x="7132320" y="2688336"/>
            <a:ext cx="1920240" cy="137160"/>
          </a:xfrm>
          <a:prstGeom prst="rect">
            <a:avLst/>
          </a:prstGeom>
          <a:noFill/>
          <a:ln/>
        </p:spPr>
        <p:txBody>
          <a:bodyPr wrap="square" lIns="0" tIns="0" rIns="0" bIns="0" rtlCol="0" anchor="ctr">
            <a:normAutofit/>
          </a:bodyPr>
          <a:lstStyle/>
          <a:p>
            <a:pPr algn="ctr" indent="0" marL="0">
              <a:buNone/>
            </a:pPr>
            <a:r>
              <a:rPr lang="en-US" sz="1050" b="1" dirty="0">
                <a:solidFill>
                  <a:srgbClr val="0A9B9B"/>
                </a:solidFill>
              </a:rPr>
              <a:t>usage resource</a:t>
            </a:r>
            <a:endParaRPr lang="en-US" sz="1050" dirty="0"/>
          </a:p>
        </p:txBody>
      </p:sp>
      <p:sp>
        <p:nvSpPr>
          <p:cNvPr id="24" name="Shape 22"/>
          <p:cNvSpPr/>
          <p:nvPr/>
        </p:nvSpPr>
        <p:spPr>
          <a:xfrm>
            <a:off x="6949440" y="3291840"/>
            <a:ext cx="2286000" cy="438912"/>
          </a:xfrm>
          <a:prstGeom prst="roundRect">
            <a:avLst>
              <a:gd name="adj" fmla="val 10417"/>
            </a:avLst>
          </a:prstGeom>
          <a:solidFill>
            <a:srgbClr val="FFFFFF"/>
          </a:solidFill>
          <a:ln w="15240">
            <a:solidFill>
              <a:srgbClr val="0A9B9B"/>
            </a:solidFill>
            <a:prstDash val="solid"/>
          </a:ln>
        </p:spPr>
      </p:sp>
      <p:sp>
        <p:nvSpPr>
          <p:cNvPr id="25" name="Text 23"/>
          <p:cNvSpPr/>
          <p:nvPr/>
        </p:nvSpPr>
        <p:spPr>
          <a:xfrm>
            <a:off x="7132320" y="3419856"/>
            <a:ext cx="1920240" cy="137160"/>
          </a:xfrm>
          <a:prstGeom prst="rect">
            <a:avLst/>
          </a:prstGeom>
          <a:noFill/>
          <a:ln/>
        </p:spPr>
        <p:txBody>
          <a:bodyPr wrap="square" lIns="0" tIns="0" rIns="0" bIns="0" rtlCol="0" anchor="ctr">
            <a:normAutofit/>
          </a:bodyPr>
          <a:lstStyle/>
          <a:p>
            <a:pPr algn="ctr" indent="0" marL="0">
              <a:buNone/>
            </a:pPr>
            <a:r>
              <a:rPr lang="en-US" sz="1050" b="1" dirty="0">
                <a:solidFill>
                  <a:srgbClr val="0A9B9B"/>
                </a:solidFill>
              </a:rPr>
              <a:t>draft_email prompt</a:t>
            </a:r>
            <a:endParaRPr lang="en-US" sz="1050" dirty="0"/>
          </a:p>
        </p:txBody>
      </p:sp>
      <p:sp>
        <p:nvSpPr>
          <p:cNvPr id="26" name="Shape 24"/>
          <p:cNvSpPr/>
          <p:nvPr/>
        </p:nvSpPr>
        <p:spPr>
          <a:xfrm>
            <a:off x="731520" y="4224528"/>
            <a:ext cx="3383280" cy="1005840"/>
          </a:xfrm>
          <a:prstGeom prst="roundRect">
            <a:avLst>
              <a:gd name="adj" fmla="val 4545"/>
            </a:avLst>
          </a:prstGeom>
          <a:solidFill>
            <a:srgbClr val="F7FBFE"/>
          </a:solidFill>
          <a:ln w="12700">
            <a:solidFill>
              <a:srgbClr val="25A9C7"/>
            </a:solidFill>
            <a:prstDash val="solid"/>
          </a:ln>
        </p:spPr>
      </p:sp>
      <p:sp>
        <p:nvSpPr>
          <p:cNvPr id="27" name="Shape 25"/>
          <p:cNvSpPr/>
          <p:nvPr/>
        </p:nvSpPr>
        <p:spPr>
          <a:xfrm>
            <a:off x="731520" y="4224528"/>
            <a:ext cx="73152" cy="1005840"/>
          </a:xfrm>
          <a:prstGeom prst="rect">
            <a:avLst/>
          </a:prstGeom>
          <a:solidFill>
            <a:srgbClr val="25A9C7"/>
          </a:solidFill>
          <a:ln w="12700">
            <a:solidFill>
              <a:srgbClr val="25A9C7"/>
            </a:solidFill>
            <a:prstDash val="solid"/>
          </a:ln>
        </p:spPr>
      </p:sp>
      <p:sp>
        <p:nvSpPr>
          <p:cNvPr id="28" name="Text 26"/>
          <p:cNvSpPr/>
          <p:nvPr/>
        </p:nvSpPr>
        <p:spPr>
          <a:xfrm>
            <a:off x="896112" y="4352544"/>
            <a:ext cx="312724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What audience sees</a:t>
            </a:r>
            <a:endParaRPr lang="en-US" sz="1300" dirty="0"/>
          </a:p>
        </p:txBody>
      </p:sp>
      <p:sp>
        <p:nvSpPr>
          <p:cNvPr id="29" name="Text 27"/>
          <p:cNvSpPr/>
          <p:nvPr/>
        </p:nvSpPr>
        <p:spPr>
          <a:xfrm>
            <a:off x="896112" y="4681728"/>
            <a:ext cx="3127248" cy="438912"/>
          </a:xfrm>
          <a:prstGeom prst="rect">
            <a:avLst/>
          </a:prstGeom>
          <a:noFill/>
          <a:ln/>
        </p:spPr>
        <p:txBody>
          <a:bodyPr wrap="square" lIns="254" tIns="254" rIns="254" bIns="254" rtlCol="0" anchor="t">
            <a:normAutofit/>
          </a:bodyPr>
          <a:lstStyle/>
          <a:p>
            <a:pPr indent="0" marL="0">
              <a:buNone/>
            </a:pPr>
            <a:r>
              <a:rPr lang="en-US" sz="1130" dirty="0">
                <a:solidFill>
                  <a:srgbClr val="1F2A37"/>
                </a:solidFill>
              </a:rPr>
              <a:t>A tool list appears before execution; the assistant chooses tools based on the user goal.</a:t>
            </a:r>
            <a:endParaRPr lang="en-US" sz="1130" dirty="0"/>
          </a:p>
        </p:txBody>
      </p:sp>
      <p:sp>
        <p:nvSpPr>
          <p:cNvPr id="30" name="Shape 28"/>
          <p:cNvSpPr/>
          <p:nvPr/>
        </p:nvSpPr>
        <p:spPr>
          <a:xfrm>
            <a:off x="4434840" y="4224528"/>
            <a:ext cx="3383280" cy="1005840"/>
          </a:xfrm>
          <a:prstGeom prst="roundRect">
            <a:avLst>
              <a:gd name="adj" fmla="val 4545"/>
            </a:avLst>
          </a:prstGeom>
          <a:solidFill>
            <a:srgbClr val="F7FBFE"/>
          </a:solidFill>
          <a:ln w="12700">
            <a:solidFill>
              <a:srgbClr val="123452"/>
            </a:solidFill>
            <a:prstDash val="solid"/>
          </a:ln>
        </p:spPr>
      </p:sp>
      <p:sp>
        <p:nvSpPr>
          <p:cNvPr id="31" name="Shape 29"/>
          <p:cNvSpPr/>
          <p:nvPr/>
        </p:nvSpPr>
        <p:spPr>
          <a:xfrm>
            <a:off x="4434840" y="4224528"/>
            <a:ext cx="73152" cy="1005840"/>
          </a:xfrm>
          <a:prstGeom prst="rect">
            <a:avLst/>
          </a:prstGeom>
          <a:solidFill>
            <a:srgbClr val="123452"/>
          </a:solidFill>
          <a:ln w="12700">
            <a:solidFill>
              <a:srgbClr val="123452"/>
            </a:solidFill>
            <a:prstDash val="solid"/>
          </a:ln>
        </p:spPr>
      </p:sp>
      <p:sp>
        <p:nvSpPr>
          <p:cNvPr id="32" name="Text 30"/>
          <p:cNvSpPr/>
          <p:nvPr/>
        </p:nvSpPr>
        <p:spPr>
          <a:xfrm>
            <a:off x="4599432" y="4352544"/>
            <a:ext cx="312724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What it proves</a:t>
            </a:r>
            <a:endParaRPr lang="en-US" sz="1300" dirty="0"/>
          </a:p>
        </p:txBody>
      </p:sp>
      <p:sp>
        <p:nvSpPr>
          <p:cNvPr id="33" name="Text 31"/>
          <p:cNvSpPr/>
          <p:nvPr/>
        </p:nvSpPr>
        <p:spPr>
          <a:xfrm>
            <a:off x="4599432" y="4681728"/>
            <a:ext cx="3127248" cy="438912"/>
          </a:xfrm>
          <a:prstGeom prst="rect">
            <a:avLst/>
          </a:prstGeom>
          <a:noFill/>
          <a:ln/>
        </p:spPr>
        <p:txBody>
          <a:bodyPr wrap="square" lIns="254" tIns="254" rIns="254" bIns="254" rtlCol="0" anchor="t">
            <a:normAutofit/>
          </a:bodyPr>
          <a:lstStyle/>
          <a:p>
            <a:pPr indent="0" marL="0">
              <a:buNone/>
            </a:pPr>
            <a:r>
              <a:rPr lang="en-US" sz="1130" dirty="0">
                <a:solidFill>
                  <a:srgbClr val="1F2A37"/>
                </a:solidFill>
              </a:rPr>
              <a:t>MCP decouples AI applications from bespoke integrations to every tool/data source.</a:t>
            </a:r>
            <a:endParaRPr lang="en-US" sz="1130" dirty="0"/>
          </a:p>
        </p:txBody>
      </p:sp>
      <p:sp>
        <p:nvSpPr>
          <p:cNvPr id="34" name="Shape 32"/>
          <p:cNvSpPr/>
          <p:nvPr/>
        </p:nvSpPr>
        <p:spPr>
          <a:xfrm>
            <a:off x="8138160" y="4224528"/>
            <a:ext cx="3383280" cy="1005840"/>
          </a:xfrm>
          <a:prstGeom prst="roundRect">
            <a:avLst>
              <a:gd name="adj" fmla="val 4545"/>
            </a:avLst>
          </a:prstGeom>
          <a:solidFill>
            <a:srgbClr val="F7FBFE"/>
          </a:solidFill>
          <a:ln w="12700">
            <a:solidFill>
              <a:srgbClr val="B65F62"/>
            </a:solidFill>
            <a:prstDash val="solid"/>
          </a:ln>
        </p:spPr>
      </p:sp>
      <p:sp>
        <p:nvSpPr>
          <p:cNvPr id="35" name="Shape 33"/>
          <p:cNvSpPr/>
          <p:nvPr/>
        </p:nvSpPr>
        <p:spPr>
          <a:xfrm>
            <a:off x="8138160" y="4224528"/>
            <a:ext cx="73152" cy="1005840"/>
          </a:xfrm>
          <a:prstGeom prst="rect">
            <a:avLst/>
          </a:prstGeom>
          <a:solidFill>
            <a:srgbClr val="B65F62"/>
          </a:solidFill>
          <a:ln w="12700">
            <a:solidFill>
              <a:srgbClr val="B65F62"/>
            </a:solidFill>
            <a:prstDash val="solid"/>
          </a:ln>
        </p:spPr>
      </p:sp>
      <p:sp>
        <p:nvSpPr>
          <p:cNvPr id="36" name="Text 34"/>
          <p:cNvSpPr/>
          <p:nvPr/>
        </p:nvSpPr>
        <p:spPr>
          <a:xfrm>
            <a:off x="8302752" y="4352544"/>
            <a:ext cx="3127248" cy="228600"/>
          </a:xfrm>
          <a:prstGeom prst="rect">
            <a:avLst/>
          </a:prstGeom>
          <a:noFill/>
          <a:ln/>
        </p:spPr>
        <p:txBody>
          <a:bodyPr wrap="square" lIns="0" tIns="0" rIns="0" bIns="0" rtlCol="0" anchor="ctr">
            <a:normAutofit/>
          </a:bodyPr>
          <a:lstStyle/>
          <a:p>
            <a:pPr indent="0" marL="0">
              <a:buNone/>
            </a:pPr>
            <a:r>
              <a:rPr lang="en-US" sz="1300" b="1" dirty="0">
                <a:solidFill>
                  <a:srgbClr val="B65F62"/>
                </a:solidFill>
              </a:rPr>
              <a:t>Limit</a:t>
            </a:r>
            <a:endParaRPr lang="en-US" sz="1300" dirty="0"/>
          </a:p>
        </p:txBody>
      </p:sp>
      <p:sp>
        <p:nvSpPr>
          <p:cNvPr id="37" name="Text 35"/>
          <p:cNvSpPr/>
          <p:nvPr/>
        </p:nvSpPr>
        <p:spPr>
          <a:xfrm>
            <a:off x="8302752" y="4681728"/>
            <a:ext cx="3127248" cy="438912"/>
          </a:xfrm>
          <a:prstGeom prst="rect">
            <a:avLst/>
          </a:prstGeom>
          <a:noFill/>
          <a:ln/>
        </p:spPr>
        <p:txBody>
          <a:bodyPr wrap="square" lIns="254" tIns="254" rIns="254" bIns="254" rtlCol="0" anchor="t">
            <a:normAutofit/>
          </a:bodyPr>
          <a:lstStyle/>
          <a:p>
            <a:pPr indent="0" marL="0">
              <a:buNone/>
            </a:pPr>
            <a:r>
              <a:rPr lang="en-US" sz="1130" dirty="0">
                <a:solidFill>
                  <a:srgbClr val="1F2A37"/>
                </a:solidFill>
              </a:rPr>
              <a:t>Still one agent/host using tools; not a protocol for autonomous peer collaboration.</a:t>
            </a:r>
            <a:endParaRPr lang="en-US" sz="11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46CA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446CA8"/>
          </a:solidFill>
          <a:ln w="12700">
            <a:solidFill>
              <a:srgbClr val="446CA8"/>
            </a:solidFill>
            <a:prstDash val="solid"/>
          </a:ln>
        </p:spPr>
      </p:sp>
      <p:sp>
        <p:nvSpPr>
          <p:cNvPr id="3" name="Text 1"/>
          <p:cNvSpPr/>
          <p:nvPr/>
        </p:nvSpPr>
        <p:spPr>
          <a:xfrm>
            <a:off x="640080" y="658368"/>
            <a:ext cx="4754880" cy="228600"/>
          </a:xfrm>
          <a:prstGeom prst="rect">
            <a:avLst/>
          </a:prstGeom>
          <a:noFill/>
          <a:ln/>
        </p:spPr>
        <p:txBody>
          <a:bodyPr wrap="square" lIns="0" tIns="0" rIns="0" bIns="0" rtlCol="0" anchor="ctr"/>
          <a:lstStyle/>
          <a:p>
            <a:pPr indent="0" marL="0">
              <a:buNone/>
            </a:pPr>
            <a:r>
              <a:rPr lang="en-US" sz="1000" b="1" dirty="0">
                <a:solidFill>
                  <a:srgbClr val="FFFFFF"/>
                </a:solidFill>
              </a:rPr>
              <a:t>A2A</a:t>
            </a:r>
            <a:endParaRPr lang="en-US" sz="1000" dirty="0"/>
          </a:p>
        </p:txBody>
      </p:sp>
      <p:sp>
        <p:nvSpPr>
          <p:cNvPr id="4" name="Text 2"/>
          <p:cNvSpPr/>
          <p:nvPr/>
        </p:nvSpPr>
        <p:spPr>
          <a:xfrm>
            <a:off x="640080" y="1325880"/>
            <a:ext cx="9875520" cy="105156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A2A: collaboration semantics for independent agents</a:t>
            </a:r>
            <a:endParaRPr lang="en-US" sz="3200" dirty="0"/>
          </a:p>
        </p:txBody>
      </p:sp>
      <p:sp>
        <p:nvSpPr>
          <p:cNvPr id="5" name="Text 3"/>
          <p:cNvSpPr/>
          <p:nvPr/>
        </p:nvSpPr>
        <p:spPr>
          <a:xfrm>
            <a:off x="658368" y="2788920"/>
            <a:ext cx="8778240" cy="548640"/>
          </a:xfrm>
          <a:prstGeom prst="rect">
            <a:avLst/>
          </a:prstGeom>
          <a:noFill/>
          <a:ln/>
        </p:spPr>
        <p:txBody>
          <a:bodyPr wrap="square" lIns="0" tIns="0" rIns="0" bIns="0" rtlCol="0" anchor="ctr">
            <a:normAutofit/>
          </a:bodyPr>
          <a:lstStyle/>
          <a:p>
            <a:pPr indent="0" marL="0">
              <a:buNone/>
            </a:pPr>
            <a:r>
              <a:rPr lang="en-US" sz="1800" dirty="0">
                <a:solidFill>
                  <a:srgbClr val="F8FAFC"/>
                </a:solidFill>
              </a:rPr>
              <a:t>Use A2A when agents built by different teams, vendors, or runtimes need to delegate, negotiate, and track work.</a:t>
            </a:r>
            <a:endParaRPr lang="en-US" sz="1800" dirty="0"/>
          </a:p>
        </p:txBody>
      </p:sp>
      <p:sp>
        <p:nvSpPr>
          <p:cNvPr id="6" name="Shape 4"/>
          <p:cNvSpPr/>
          <p:nvPr/>
        </p:nvSpPr>
        <p:spPr>
          <a:xfrm>
            <a:off x="658368" y="6163056"/>
            <a:ext cx="10881360" cy="0"/>
          </a:xfrm>
          <a:prstGeom prst="line">
            <a:avLst/>
          </a:prstGeom>
          <a:noFill/>
          <a:ln w="10160">
            <a:solidFill>
              <a:srgbClr val="FFFFFF">
                <a:alpha val="60000"/>
              </a:srgbClr>
            </a:solidFill>
            <a:prstDash val="solid"/>
          </a:ln>
        </p:spPr>
      </p:sp>
      <p:sp>
        <p:nvSpPr>
          <p:cNvPr id="7" name="Text 5"/>
          <p:cNvSpPr/>
          <p:nvPr/>
        </p:nvSpPr>
        <p:spPr>
          <a:xfrm>
            <a:off x="10899648" y="6236208"/>
            <a:ext cx="640080" cy="182880"/>
          </a:xfrm>
          <a:prstGeom prst="rect">
            <a:avLst/>
          </a:prstGeom>
          <a:noFill/>
          <a:ln/>
        </p:spPr>
        <p:txBody>
          <a:bodyPr wrap="square" lIns="0" tIns="0" rIns="0" bIns="0" rtlCol="0" anchor="ctr"/>
          <a:lstStyle/>
          <a:p>
            <a:pPr algn="r" indent="0" marL="0">
              <a:buNone/>
            </a:pPr>
            <a:r>
              <a:rPr lang="en-US" sz="850" dirty="0">
                <a:solidFill>
                  <a:srgbClr val="FFFFFF">
                    <a:alpha val="80000"/>
                  </a:srgbClr>
                </a:solidFill>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446CA8"/>
          </a:solidFill>
          <a:ln w="12700">
            <a:solidFill>
              <a:srgbClr val="446CA8"/>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446CA8"/>
                </a:solidFill>
                <a:latin typeface="Aptos" pitchFamily="34" charset="0"/>
                <a:ea typeface="Aptos" pitchFamily="34" charset="-122"/>
                <a:cs typeface="Aptos" pitchFamily="34" charset="-120"/>
              </a:rPr>
              <a:t>A2A</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A2A is for peer agents that collaborate without exposing their internal tools or memory</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Source: A2A protocol docs</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20</a:t>
            </a:r>
            <a:endParaRPr lang="en-US" sz="800" dirty="0"/>
          </a:p>
        </p:txBody>
      </p:sp>
      <p:sp>
        <p:nvSpPr>
          <p:cNvPr id="9" name="Shape 7"/>
          <p:cNvSpPr/>
          <p:nvPr/>
        </p:nvSpPr>
        <p:spPr>
          <a:xfrm>
            <a:off x="640080" y="1371600"/>
            <a:ext cx="3291840" cy="1325880"/>
          </a:xfrm>
          <a:prstGeom prst="roundRect">
            <a:avLst>
              <a:gd name="adj" fmla="val 3448"/>
            </a:avLst>
          </a:prstGeom>
          <a:solidFill>
            <a:srgbClr val="F7FBFE"/>
          </a:solidFill>
          <a:ln w="12700">
            <a:solidFill>
              <a:srgbClr val="446CA8"/>
            </a:solidFill>
            <a:prstDash val="solid"/>
          </a:ln>
        </p:spPr>
      </p:sp>
      <p:sp>
        <p:nvSpPr>
          <p:cNvPr id="10" name="Shape 8"/>
          <p:cNvSpPr/>
          <p:nvPr/>
        </p:nvSpPr>
        <p:spPr>
          <a:xfrm>
            <a:off x="640080" y="1371600"/>
            <a:ext cx="73152" cy="1325880"/>
          </a:xfrm>
          <a:prstGeom prst="rect">
            <a:avLst/>
          </a:prstGeom>
          <a:solidFill>
            <a:srgbClr val="446CA8"/>
          </a:solidFill>
          <a:ln w="12700">
            <a:solidFill>
              <a:srgbClr val="446CA8"/>
            </a:solidFill>
            <a:prstDash val="solid"/>
          </a:ln>
        </p:spPr>
      </p:sp>
      <p:sp>
        <p:nvSpPr>
          <p:cNvPr id="11" name="Text 9"/>
          <p:cNvSpPr/>
          <p:nvPr/>
        </p:nvSpPr>
        <p:spPr>
          <a:xfrm>
            <a:off x="804672" y="1499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Plain-English definition</a:t>
            </a:r>
            <a:endParaRPr lang="en-US" sz="1300" dirty="0"/>
          </a:p>
        </p:txBody>
      </p:sp>
      <p:sp>
        <p:nvSpPr>
          <p:cNvPr id="12" name="Text 10"/>
          <p:cNvSpPr/>
          <p:nvPr/>
        </p:nvSpPr>
        <p:spPr>
          <a:xfrm>
            <a:off x="804672" y="1828800"/>
            <a:ext cx="3035808" cy="75895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A2A is an open protocol for independent AI agents to discover each other, exchange messages, manage tasks, and return artifacts.</a:t>
            </a:r>
            <a:endParaRPr lang="en-US" sz="1100" dirty="0"/>
          </a:p>
        </p:txBody>
      </p:sp>
      <p:sp>
        <p:nvSpPr>
          <p:cNvPr id="13" name="Shape 11"/>
          <p:cNvSpPr/>
          <p:nvPr/>
        </p:nvSpPr>
        <p:spPr>
          <a:xfrm>
            <a:off x="4434840" y="1371600"/>
            <a:ext cx="3291840" cy="1325880"/>
          </a:xfrm>
          <a:prstGeom prst="roundRect">
            <a:avLst>
              <a:gd name="adj" fmla="val 3448"/>
            </a:avLst>
          </a:prstGeom>
          <a:solidFill>
            <a:srgbClr val="F7FBFE"/>
          </a:solidFill>
          <a:ln w="12700">
            <a:solidFill>
              <a:srgbClr val="25A9C7"/>
            </a:solidFill>
            <a:prstDash val="solid"/>
          </a:ln>
        </p:spPr>
      </p:sp>
      <p:sp>
        <p:nvSpPr>
          <p:cNvPr id="14" name="Shape 12"/>
          <p:cNvSpPr/>
          <p:nvPr/>
        </p:nvSpPr>
        <p:spPr>
          <a:xfrm>
            <a:off x="4434840" y="1371600"/>
            <a:ext cx="73152" cy="1325880"/>
          </a:xfrm>
          <a:prstGeom prst="rect">
            <a:avLst/>
          </a:prstGeom>
          <a:solidFill>
            <a:srgbClr val="25A9C7"/>
          </a:solidFill>
          <a:ln w="12700">
            <a:solidFill>
              <a:srgbClr val="25A9C7"/>
            </a:solidFill>
            <a:prstDash val="solid"/>
          </a:ln>
        </p:spPr>
      </p:sp>
      <p:sp>
        <p:nvSpPr>
          <p:cNvPr id="15" name="Text 13"/>
          <p:cNvSpPr/>
          <p:nvPr/>
        </p:nvSpPr>
        <p:spPr>
          <a:xfrm>
            <a:off x="4599432" y="1499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What changes vs MCP</a:t>
            </a:r>
            <a:endParaRPr lang="en-US" sz="1300" dirty="0"/>
          </a:p>
        </p:txBody>
      </p:sp>
      <p:sp>
        <p:nvSpPr>
          <p:cNvPr id="16" name="Text 14"/>
          <p:cNvSpPr/>
          <p:nvPr/>
        </p:nvSpPr>
        <p:spPr>
          <a:xfrm>
            <a:off x="4599432" y="1828800"/>
            <a:ext cx="3035808" cy="75895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The remote entity is not a tool. It is an agentic system that may plan, use tools, ask questions, maintain state, and produce deliverables.</a:t>
            </a:r>
            <a:endParaRPr lang="en-US" sz="1100" dirty="0"/>
          </a:p>
        </p:txBody>
      </p:sp>
      <p:sp>
        <p:nvSpPr>
          <p:cNvPr id="17" name="Shape 15"/>
          <p:cNvSpPr/>
          <p:nvPr/>
        </p:nvSpPr>
        <p:spPr>
          <a:xfrm>
            <a:off x="8229600" y="1371600"/>
            <a:ext cx="3291840" cy="1325880"/>
          </a:xfrm>
          <a:prstGeom prst="roundRect">
            <a:avLst>
              <a:gd name="adj" fmla="val 3448"/>
            </a:avLst>
          </a:prstGeom>
          <a:solidFill>
            <a:srgbClr val="F7FBFE"/>
          </a:solidFill>
          <a:ln w="12700">
            <a:solidFill>
              <a:srgbClr val="123452"/>
            </a:solidFill>
            <a:prstDash val="solid"/>
          </a:ln>
        </p:spPr>
      </p:sp>
      <p:sp>
        <p:nvSpPr>
          <p:cNvPr id="18" name="Shape 16"/>
          <p:cNvSpPr/>
          <p:nvPr/>
        </p:nvSpPr>
        <p:spPr>
          <a:xfrm>
            <a:off x="8229600" y="1371600"/>
            <a:ext cx="73152" cy="1325880"/>
          </a:xfrm>
          <a:prstGeom prst="rect">
            <a:avLst/>
          </a:prstGeom>
          <a:solidFill>
            <a:srgbClr val="123452"/>
          </a:solidFill>
          <a:ln w="12700">
            <a:solidFill>
              <a:srgbClr val="123452"/>
            </a:solidFill>
            <a:prstDash val="solid"/>
          </a:ln>
        </p:spPr>
      </p:sp>
      <p:sp>
        <p:nvSpPr>
          <p:cNvPr id="19" name="Text 17"/>
          <p:cNvSpPr/>
          <p:nvPr/>
        </p:nvSpPr>
        <p:spPr>
          <a:xfrm>
            <a:off x="8394192" y="1499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What stays hidden</a:t>
            </a:r>
            <a:endParaRPr lang="en-US" sz="1300" dirty="0"/>
          </a:p>
        </p:txBody>
      </p:sp>
      <p:sp>
        <p:nvSpPr>
          <p:cNvPr id="20" name="Text 18"/>
          <p:cNvSpPr/>
          <p:nvPr/>
        </p:nvSpPr>
        <p:spPr>
          <a:xfrm>
            <a:off x="8394192" y="1828800"/>
            <a:ext cx="3035808" cy="75895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The remote agent can remain opaque: internal prompts, tools, memory, and vendor logic are not exposed to the caller.</a:t>
            </a:r>
            <a:endParaRPr lang="en-US" sz="1100" dirty="0"/>
          </a:p>
        </p:txBody>
      </p:sp>
      <p:sp>
        <p:nvSpPr>
          <p:cNvPr id="21" name="Shape 19"/>
          <p:cNvSpPr/>
          <p:nvPr/>
        </p:nvSpPr>
        <p:spPr>
          <a:xfrm>
            <a:off x="2926080" y="4160520"/>
            <a:ext cx="1143000" cy="0"/>
          </a:xfrm>
          <a:prstGeom prst="line">
            <a:avLst/>
          </a:prstGeom>
          <a:noFill/>
          <a:ln w="25400">
            <a:solidFill>
              <a:srgbClr val="D7E6F2"/>
            </a:solidFill>
            <a:prstDash val="solid"/>
            <a:tailEnd type="triangle"/>
          </a:ln>
        </p:spPr>
      </p:sp>
      <p:sp>
        <p:nvSpPr>
          <p:cNvPr id="22" name="Shape 20"/>
          <p:cNvSpPr/>
          <p:nvPr/>
        </p:nvSpPr>
        <p:spPr>
          <a:xfrm>
            <a:off x="6766560" y="4160520"/>
            <a:ext cx="1143000" cy="0"/>
          </a:xfrm>
          <a:prstGeom prst="line">
            <a:avLst/>
          </a:prstGeom>
          <a:noFill/>
          <a:ln w="25400">
            <a:solidFill>
              <a:srgbClr val="D7E6F2"/>
            </a:solidFill>
            <a:prstDash val="solid"/>
            <a:tailEnd type="triangle"/>
          </a:ln>
        </p:spPr>
      </p:sp>
      <p:sp>
        <p:nvSpPr>
          <p:cNvPr id="23" name="Shape 21"/>
          <p:cNvSpPr/>
          <p:nvPr/>
        </p:nvSpPr>
        <p:spPr>
          <a:xfrm>
            <a:off x="822960" y="3703320"/>
            <a:ext cx="2194560" cy="914400"/>
          </a:xfrm>
          <a:prstGeom prst="roundRect">
            <a:avLst>
              <a:gd name="adj" fmla="val 8000"/>
            </a:avLst>
          </a:prstGeom>
          <a:solidFill>
            <a:srgbClr val="FFFFFF"/>
          </a:solidFill>
          <a:ln w="17780">
            <a:solidFill>
              <a:srgbClr val="123452"/>
            </a:solidFill>
            <a:prstDash val="solid"/>
          </a:ln>
        </p:spPr>
      </p:sp>
      <p:sp>
        <p:nvSpPr>
          <p:cNvPr id="24" name="Text 22"/>
          <p:cNvSpPr/>
          <p:nvPr/>
        </p:nvSpPr>
        <p:spPr>
          <a:xfrm>
            <a:off x="950976" y="3886200"/>
            <a:ext cx="1920240" cy="201168"/>
          </a:xfrm>
          <a:prstGeom prst="rect">
            <a:avLst/>
          </a:prstGeom>
          <a:noFill/>
          <a:ln/>
        </p:spPr>
        <p:txBody>
          <a:bodyPr wrap="square" lIns="0" tIns="0" rIns="0" bIns="0" rtlCol="0" anchor="ctr">
            <a:normAutofit/>
          </a:bodyPr>
          <a:lstStyle/>
          <a:p>
            <a:pPr algn="ctr" indent="0" marL="0">
              <a:buNone/>
            </a:pPr>
            <a:r>
              <a:rPr lang="en-US" sz="1350" b="1" dirty="0">
                <a:solidFill>
                  <a:srgbClr val="123452"/>
                </a:solidFill>
              </a:rPr>
              <a:t>Client Agent</a:t>
            </a:r>
            <a:endParaRPr lang="en-US" sz="1350" dirty="0"/>
          </a:p>
        </p:txBody>
      </p:sp>
      <p:sp>
        <p:nvSpPr>
          <p:cNvPr id="25" name="Text 23"/>
          <p:cNvSpPr/>
          <p:nvPr/>
        </p:nvSpPr>
        <p:spPr>
          <a:xfrm>
            <a:off x="969264" y="4187952"/>
            <a:ext cx="1874520" cy="201168"/>
          </a:xfrm>
          <a:prstGeom prst="rect">
            <a:avLst/>
          </a:prstGeom>
          <a:noFill/>
          <a:ln/>
        </p:spPr>
        <p:txBody>
          <a:bodyPr wrap="square" lIns="0" tIns="0" rIns="0" bIns="0" rtlCol="0" anchor="ctr">
            <a:normAutofit/>
          </a:bodyPr>
          <a:lstStyle/>
          <a:p>
            <a:pPr algn="ctr" indent="0" marL="0">
              <a:buNone/>
            </a:pPr>
            <a:r>
              <a:rPr lang="en-US" sz="980" dirty="0">
                <a:solidFill>
                  <a:srgbClr val="617184"/>
                </a:solidFill>
              </a:rPr>
              <a:t>represents user</a:t>
            </a:r>
            <a:endParaRPr lang="en-US" sz="980" dirty="0"/>
          </a:p>
        </p:txBody>
      </p:sp>
      <p:sp>
        <p:nvSpPr>
          <p:cNvPr id="26" name="Shape 24"/>
          <p:cNvSpPr/>
          <p:nvPr/>
        </p:nvSpPr>
        <p:spPr>
          <a:xfrm>
            <a:off x="4343400" y="3703320"/>
            <a:ext cx="2194560" cy="914400"/>
          </a:xfrm>
          <a:prstGeom prst="roundRect">
            <a:avLst>
              <a:gd name="adj" fmla="val 8000"/>
            </a:avLst>
          </a:prstGeom>
          <a:solidFill>
            <a:srgbClr val="FFFFFF"/>
          </a:solidFill>
          <a:ln w="17780">
            <a:solidFill>
              <a:srgbClr val="446CA8"/>
            </a:solidFill>
            <a:prstDash val="solid"/>
          </a:ln>
        </p:spPr>
      </p:sp>
      <p:sp>
        <p:nvSpPr>
          <p:cNvPr id="27" name="Text 25"/>
          <p:cNvSpPr/>
          <p:nvPr/>
        </p:nvSpPr>
        <p:spPr>
          <a:xfrm>
            <a:off x="4471416" y="3886200"/>
            <a:ext cx="1920240" cy="201168"/>
          </a:xfrm>
          <a:prstGeom prst="rect">
            <a:avLst/>
          </a:prstGeom>
          <a:noFill/>
          <a:ln/>
        </p:spPr>
        <p:txBody>
          <a:bodyPr wrap="square" lIns="0" tIns="0" rIns="0" bIns="0" rtlCol="0" anchor="ctr">
            <a:normAutofit/>
          </a:bodyPr>
          <a:lstStyle/>
          <a:p>
            <a:pPr algn="ctr" indent="0" marL="0">
              <a:buNone/>
            </a:pPr>
            <a:r>
              <a:rPr lang="en-US" sz="1350" b="1" dirty="0">
                <a:solidFill>
                  <a:srgbClr val="446CA8"/>
                </a:solidFill>
              </a:rPr>
              <a:t>A2A</a:t>
            </a:r>
            <a:endParaRPr lang="en-US" sz="1350" dirty="0"/>
          </a:p>
        </p:txBody>
      </p:sp>
      <p:sp>
        <p:nvSpPr>
          <p:cNvPr id="28" name="Text 26"/>
          <p:cNvSpPr/>
          <p:nvPr/>
        </p:nvSpPr>
        <p:spPr>
          <a:xfrm>
            <a:off x="4489704" y="4187952"/>
            <a:ext cx="1874520" cy="201168"/>
          </a:xfrm>
          <a:prstGeom prst="rect">
            <a:avLst/>
          </a:prstGeom>
          <a:noFill/>
          <a:ln/>
        </p:spPr>
        <p:txBody>
          <a:bodyPr wrap="square" lIns="0" tIns="0" rIns="0" bIns="0" rtlCol="0" anchor="ctr">
            <a:normAutofit/>
          </a:bodyPr>
          <a:lstStyle/>
          <a:p>
            <a:pPr algn="ctr" indent="0" marL="0">
              <a:buNone/>
            </a:pPr>
            <a:r>
              <a:rPr lang="en-US" sz="980" dirty="0">
                <a:solidFill>
                  <a:srgbClr val="617184"/>
                </a:solidFill>
              </a:rPr>
              <a:t>task + message protocol</a:t>
            </a:r>
            <a:endParaRPr lang="en-US" sz="980" dirty="0"/>
          </a:p>
        </p:txBody>
      </p:sp>
      <p:sp>
        <p:nvSpPr>
          <p:cNvPr id="29" name="Shape 27"/>
          <p:cNvSpPr/>
          <p:nvPr/>
        </p:nvSpPr>
        <p:spPr>
          <a:xfrm>
            <a:off x="8183880" y="3703320"/>
            <a:ext cx="2194560" cy="914400"/>
          </a:xfrm>
          <a:prstGeom prst="roundRect">
            <a:avLst>
              <a:gd name="adj" fmla="val 8000"/>
            </a:avLst>
          </a:prstGeom>
          <a:solidFill>
            <a:srgbClr val="FFFFFF"/>
          </a:solidFill>
          <a:ln w="17780">
            <a:solidFill>
              <a:srgbClr val="446CA8"/>
            </a:solidFill>
            <a:prstDash val="solid"/>
          </a:ln>
        </p:spPr>
      </p:sp>
      <p:sp>
        <p:nvSpPr>
          <p:cNvPr id="30" name="Text 28"/>
          <p:cNvSpPr/>
          <p:nvPr/>
        </p:nvSpPr>
        <p:spPr>
          <a:xfrm>
            <a:off x="8311896" y="3886200"/>
            <a:ext cx="1920240" cy="201168"/>
          </a:xfrm>
          <a:prstGeom prst="rect">
            <a:avLst/>
          </a:prstGeom>
          <a:noFill/>
          <a:ln/>
        </p:spPr>
        <p:txBody>
          <a:bodyPr wrap="square" lIns="0" tIns="0" rIns="0" bIns="0" rtlCol="0" anchor="ctr">
            <a:normAutofit/>
          </a:bodyPr>
          <a:lstStyle/>
          <a:p>
            <a:pPr algn="ctr" indent="0" marL="0">
              <a:buNone/>
            </a:pPr>
            <a:r>
              <a:rPr lang="en-US" sz="1350" b="1" dirty="0">
                <a:solidFill>
                  <a:srgbClr val="446CA8"/>
                </a:solidFill>
              </a:rPr>
              <a:t>Remote Agent</a:t>
            </a:r>
            <a:endParaRPr lang="en-US" sz="1350" dirty="0"/>
          </a:p>
        </p:txBody>
      </p:sp>
      <p:sp>
        <p:nvSpPr>
          <p:cNvPr id="31" name="Text 29"/>
          <p:cNvSpPr/>
          <p:nvPr/>
        </p:nvSpPr>
        <p:spPr>
          <a:xfrm>
            <a:off x="8330184" y="4187952"/>
            <a:ext cx="1874520" cy="201168"/>
          </a:xfrm>
          <a:prstGeom prst="rect">
            <a:avLst/>
          </a:prstGeom>
          <a:noFill/>
          <a:ln/>
        </p:spPr>
        <p:txBody>
          <a:bodyPr wrap="square" lIns="0" tIns="0" rIns="0" bIns="0" rtlCol="0" anchor="ctr">
            <a:normAutofit/>
          </a:bodyPr>
          <a:lstStyle/>
          <a:p>
            <a:pPr algn="ctr" indent="0" marL="0">
              <a:buNone/>
            </a:pPr>
            <a:r>
              <a:rPr lang="en-US" sz="980" dirty="0">
                <a:solidFill>
                  <a:srgbClr val="617184"/>
                </a:solidFill>
              </a:rPr>
              <a:t>opaque specialist</a:t>
            </a:r>
            <a:endParaRPr lang="en-US" sz="9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446CA8"/>
          </a:solidFill>
          <a:ln w="12700">
            <a:solidFill>
              <a:srgbClr val="446CA8"/>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446CA8"/>
                </a:solidFill>
                <a:latin typeface="Aptos" pitchFamily="34" charset="0"/>
                <a:ea typeface="Aptos" pitchFamily="34" charset="-122"/>
                <a:cs typeface="Aptos" pitchFamily="34" charset="-120"/>
              </a:rPr>
              <a:t>A2A</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A2A building blocks make collaboration observable and trackable</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21</a:t>
            </a:r>
            <a:endParaRPr lang="en-US" sz="800" dirty="0"/>
          </a:p>
        </p:txBody>
      </p:sp>
      <p:sp>
        <p:nvSpPr>
          <p:cNvPr id="9" name="Shape 7"/>
          <p:cNvSpPr/>
          <p:nvPr/>
        </p:nvSpPr>
        <p:spPr>
          <a:xfrm>
            <a:off x="594360" y="1325880"/>
            <a:ext cx="11064240" cy="493776"/>
          </a:xfrm>
          <a:prstGeom prst="rect">
            <a:avLst/>
          </a:prstGeom>
          <a:solidFill>
            <a:srgbClr val="446CA8"/>
          </a:solidFill>
          <a:ln w="12700">
            <a:solidFill>
              <a:srgbClr val="446CA8"/>
            </a:solidFill>
            <a:prstDash val="solid"/>
          </a:ln>
        </p:spPr>
      </p:sp>
      <p:sp>
        <p:nvSpPr>
          <p:cNvPr id="10" name="Text 8"/>
          <p:cNvSpPr/>
          <p:nvPr/>
        </p:nvSpPr>
        <p:spPr>
          <a:xfrm>
            <a:off x="640080" y="1426464"/>
            <a:ext cx="1737360" cy="384048"/>
          </a:xfrm>
          <a:prstGeom prst="rect">
            <a:avLst/>
          </a:prstGeom>
          <a:noFill/>
          <a:ln/>
        </p:spPr>
        <p:txBody>
          <a:bodyPr wrap="square" lIns="0" tIns="0" rIns="0" bIns="0" rtlCol="0" anchor="ctr">
            <a:normAutofit/>
          </a:bodyPr>
          <a:lstStyle/>
          <a:p>
            <a:pPr algn="l" indent="0" marL="0">
              <a:buNone/>
            </a:pPr>
            <a:r>
              <a:rPr lang="en-US" sz="800" b="1" dirty="0">
                <a:solidFill>
                  <a:srgbClr val="FFFFFF"/>
                </a:solidFill>
              </a:rPr>
              <a:t>Element</a:t>
            </a:r>
            <a:endParaRPr lang="en-US" sz="800" dirty="0"/>
          </a:p>
        </p:txBody>
      </p:sp>
      <p:sp>
        <p:nvSpPr>
          <p:cNvPr id="11" name="Text 9"/>
          <p:cNvSpPr/>
          <p:nvPr/>
        </p:nvSpPr>
        <p:spPr>
          <a:xfrm>
            <a:off x="2468880" y="1426464"/>
            <a:ext cx="3840480" cy="38404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Meaning</a:t>
            </a:r>
            <a:endParaRPr lang="en-US" sz="800" dirty="0"/>
          </a:p>
        </p:txBody>
      </p:sp>
      <p:sp>
        <p:nvSpPr>
          <p:cNvPr id="12" name="Shape 10"/>
          <p:cNvSpPr/>
          <p:nvPr/>
        </p:nvSpPr>
        <p:spPr>
          <a:xfrm>
            <a:off x="2423160" y="1325880"/>
            <a:ext cx="0" cy="2962656"/>
          </a:xfrm>
          <a:prstGeom prst="line">
            <a:avLst/>
          </a:prstGeom>
          <a:noFill/>
          <a:ln w="6350">
            <a:solidFill>
              <a:srgbClr val="FFFFFF">
                <a:alpha val="60000"/>
              </a:srgbClr>
            </a:solidFill>
            <a:prstDash val="solid"/>
          </a:ln>
        </p:spPr>
      </p:sp>
      <p:sp>
        <p:nvSpPr>
          <p:cNvPr id="13" name="Text 11"/>
          <p:cNvSpPr/>
          <p:nvPr/>
        </p:nvSpPr>
        <p:spPr>
          <a:xfrm>
            <a:off x="6400800" y="1426464"/>
            <a:ext cx="3840480" cy="38404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Why it matters</a:t>
            </a:r>
            <a:endParaRPr lang="en-US" sz="800" dirty="0"/>
          </a:p>
        </p:txBody>
      </p:sp>
      <p:sp>
        <p:nvSpPr>
          <p:cNvPr id="14" name="Shape 12"/>
          <p:cNvSpPr/>
          <p:nvPr/>
        </p:nvSpPr>
        <p:spPr>
          <a:xfrm>
            <a:off x="6355080" y="1325880"/>
            <a:ext cx="0" cy="2962656"/>
          </a:xfrm>
          <a:prstGeom prst="line">
            <a:avLst/>
          </a:prstGeom>
          <a:noFill/>
          <a:ln w="6350">
            <a:solidFill>
              <a:srgbClr val="FFFFFF">
                <a:alpha val="60000"/>
              </a:srgbClr>
            </a:solidFill>
            <a:prstDash val="solid"/>
          </a:ln>
        </p:spPr>
      </p:sp>
      <p:sp>
        <p:nvSpPr>
          <p:cNvPr id="15" name="Text 13"/>
          <p:cNvSpPr/>
          <p:nvPr/>
        </p:nvSpPr>
        <p:spPr>
          <a:xfrm>
            <a:off x="10332720" y="1426464"/>
            <a:ext cx="1280160" cy="38404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Demo cue</a:t>
            </a:r>
            <a:endParaRPr lang="en-US" sz="800" dirty="0"/>
          </a:p>
        </p:txBody>
      </p:sp>
      <p:sp>
        <p:nvSpPr>
          <p:cNvPr id="16" name="Shape 14"/>
          <p:cNvSpPr/>
          <p:nvPr/>
        </p:nvSpPr>
        <p:spPr>
          <a:xfrm>
            <a:off x="10287000" y="1325880"/>
            <a:ext cx="0" cy="2962656"/>
          </a:xfrm>
          <a:prstGeom prst="line">
            <a:avLst/>
          </a:prstGeom>
          <a:noFill/>
          <a:ln w="6350">
            <a:solidFill>
              <a:srgbClr val="FFFFFF">
                <a:alpha val="60000"/>
              </a:srgbClr>
            </a:solidFill>
            <a:prstDash val="solid"/>
          </a:ln>
        </p:spPr>
      </p:sp>
      <p:sp>
        <p:nvSpPr>
          <p:cNvPr id="17" name="Shape 15"/>
          <p:cNvSpPr/>
          <p:nvPr/>
        </p:nvSpPr>
        <p:spPr>
          <a:xfrm>
            <a:off x="594360" y="1819656"/>
            <a:ext cx="11064240" cy="493776"/>
          </a:xfrm>
          <a:prstGeom prst="rect">
            <a:avLst/>
          </a:prstGeom>
          <a:solidFill>
            <a:srgbClr val="FFFFFF"/>
          </a:solidFill>
          <a:ln w="6350">
            <a:solidFill>
              <a:srgbClr val="D7E6F2"/>
            </a:solidFill>
            <a:prstDash val="solid"/>
          </a:ln>
        </p:spPr>
      </p:sp>
      <p:sp>
        <p:nvSpPr>
          <p:cNvPr id="18" name="Text 16"/>
          <p:cNvSpPr/>
          <p:nvPr/>
        </p:nvSpPr>
        <p:spPr>
          <a:xfrm>
            <a:off x="649224" y="1892808"/>
            <a:ext cx="1719072" cy="384048"/>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Agent Card</a:t>
            </a:r>
            <a:endParaRPr lang="en-US" sz="750" dirty="0"/>
          </a:p>
        </p:txBody>
      </p:sp>
      <p:sp>
        <p:nvSpPr>
          <p:cNvPr id="19" name="Text 17"/>
          <p:cNvSpPr/>
          <p:nvPr/>
        </p:nvSpPr>
        <p:spPr>
          <a:xfrm>
            <a:off x="2478024" y="1892808"/>
            <a:ext cx="382219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JSON metadata: identity, endpoint, capabilities, auth, skills</a:t>
            </a:r>
            <a:endParaRPr lang="en-US" sz="750" dirty="0"/>
          </a:p>
        </p:txBody>
      </p:sp>
      <p:sp>
        <p:nvSpPr>
          <p:cNvPr id="20" name="Text 18"/>
          <p:cNvSpPr/>
          <p:nvPr/>
        </p:nvSpPr>
        <p:spPr>
          <a:xfrm>
            <a:off x="6409944" y="1892808"/>
            <a:ext cx="382219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Enables discovery and suitability checks</a:t>
            </a:r>
            <a:endParaRPr lang="en-US" sz="750" dirty="0"/>
          </a:p>
        </p:txBody>
      </p:sp>
      <p:sp>
        <p:nvSpPr>
          <p:cNvPr id="21" name="Text 19"/>
          <p:cNvSpPr/>
          <p:nvPr/>
        </p:nvSpPr>
        <p:spPr>
          <a:xfrm>
            <a:off x="10341864" y="1892808"/>
            <a:ext cx="126187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show card</a:t>
            </a:r>
            <a:endParaRPr lang="en-US" sz="750" dirty="0"/>
          </a:p>
        </p:txBody>
      </p:sp>
      <p:sp>
        <p:nvSpPr>
          <p:cNvPr id="22" name="Shape 20"/>
          <p:cNvSpPr/>
          <p:nvPr/>
        </p:nvSpPr>
        <p:spPr>
          <a:xfrm>
            <a:off x="594360" y="2313432"/>
            <a:ext cx="11064240" cy="493776"/>
          </a:xfrm>
          <a:prstGeom prst="rect">
            <a:avLst/>
          </a:prstGeom>
          <a:solidFill>
            <a:srgbClr val="F8FAFC"/>
          </a:solidFill>
          <a:ln w="6350">
            <a:solidFill>
              <a:srgbClr val="D7E6F2"/>
            </a:solidFill>
            <a:prstDash val="solid"/>
          </a:ln>
        </p:spPr>
      </p:sp>
      <p:sp>
        <p:nvSpPr>
          <p:cNvPr id="23" name="Text 21"/>
          <p:cNvSpPr/>
          <p:nvPr/>
        </p:nvSpPr>
        <p:spPr>
          <a:xfrm>
            <a:off x="649224" y="2386584"/>
            <a:ext cx="1719072" cy="384048"/>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Task</a:t>
            </a:r>
            <a:endParaRPr lang="en-US" sz="750" dirty="0"/>
          </a:p>
        </p:txBody>
      </p:sp>
      <p:sp>
        <p:nvSpPr>
          <p:cNvPr id="24" name="Text 22"/>
          <p:cNvSpPr/>
          <p:nvPr/>
        </p:nvSpPr>
        <p:spPr>
          <a:xfrm>
            <a:off x="2478024" y="2386584"/>
            <a:ext cx="382219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Stateful unit of work with ID and lifecycle</a:t>
            </a:r>
            <a:endParaRPr lang="en-US" sz="750" dirty="0"/>
          </a:p>
        </p:txBody>
      </p:sp>
      <p:sp>
        <p:nvSpPr>
          <p:cNvPr id="25" name="Text 23"/>
          <p:cNvSpPr/>
          <p:nvPr/>
        </p:nvSpPr>
        <p:spPr>
          <a:xfrm>
            <a:off x="6409944" y="2386584"/>
            <a:ext cx="382219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Tracks long-running work and multi-turn collaboration</a:t>
            </a:r>
            <a:endParaRPr lang="en-US" sz="750" dirty="0"/>
          </a:p>
        </p:txBody>
      </p:sp>
      <p:sp>
        <p:nvSpPr>
          <p:cNvPr id="26" name="Text 24"/>
          <p:cNvSpPr/>
          <p:nvPr/>
        </p:nvSpPr>
        <p:spPr>
          <a:xfrm>
            <a:off x="10341864" y="2386584"/>
            <a:ext cx="126187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watch status</a:t>
            </a:r>
            <a:endParaRPr lang="en-US" sz="750" dirty="0"/>
          </a:p>
        </p:txBody>
      </p:sp>
      <p:sp>
        <p:nvSpPr>
          <p:cNvPr id="27" name="Shape 25"/>
          <p:cNvSpPr/>
          <p:nvPr/>
        </p:nvSpPr>
        <p:spPr>
          <a:xfrm>
            <a:off x="594360" y="2807208"/>
            <a:ext cx="11064240" cy="493776"/>
          </a:xfrm>
          <a:prstGeom prst="rect">
            <a:avLst/>
          </a:prstGeom>
          <a:solidFill>
            <a:srgbClr val="FFFFFF"/>
          </a:solidFill>
          <a:ln w="6350">
            <a:solidFill>
              <a:srgbClr val="D7E6F2"/>
            </a:solidFill>
            <a:prstDash val="solid"/>
          </a:ln>
        </p:spPr>
      </p:sp>
      <p:sp>
        <p:nvSpPr>
          <p:cNvPr id="28" name="Text 26"/>
          <p:cNvSpPr/>
          <p:nvPr/>
        </p:nvSpPr>
        <p:spPr>
          <a:xfrm>
            <a:off x="649224" y="2880360"/>
            <a:ext cx="1719072" cy="384048"/>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Message</a:t>
            </a:r>
            <a:endParaRPr lang="en-US" sz="750" dirty="0"/>
          </a:p>
        </p:txBody>
      </p:sp>
      <p:sp>
        <p:nvSpPr>
          <p:cNvPr id="29" name="Text 27"/>
          <p:cNvSpPr/>
          <p:nvPr/>
        </p:nvSpPr>
        <p:spPr>
          <a:xfrm>
            <a:off x="2478024" y="2880360"/>
            <a:ext cx="382219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A turn of communication with role and content</a:t>
            </a:r>
            <a:endParaRPr lang="en-US" sz="750" dirty="0"/>
          </a:p>
        </p:txBody>
      </p:sp>
      <p:sp>
        <p:nvSpPr>
          <p:cNvPr id="30" name="Text 28"/>
          <p:cNvSpPr/>
          <p:nvPr/>
        </p:nvSpPr>
        <p:spPr>
          <a:xfrm>
            <a:off x="6409944" y="2880360"/>
            <a:ext cx="382219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Carries instructions, questions, answers, and context</a:t>
            </a:r>
            <a:endParaRPr lang="en-US" sz="750" dirty="0"/>
          </a:p>
        </p:txBody>
      </p:sp>
      <p:sp>
        <p:nvSpPr>
          <p:cNvPr id="31" name="Text 29"/>
          <p:cNvSpPr/>
          <p:nvPr/>
        </p:nvSpPr>
        <p:spPr>
          <a:xfrm>
            <a:off x="10341864" y="2880360"/>
            <a:ext cx="126187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ask follow-up</a:t>
            </a:r>
            <a:endParaRPr lang="en-US" sz="750" dirty="0"/>
          </a:p>
        </p:txBody>
      </p:sp>
      <p:sp>
        <p:nvSpPr>
          <p:cNvPr id="32" name="Shape 30"/>
          <p:cNvSpPr/>
          <p:nvPr/>
        </p:nvSpPr>
        <p:spPr>
          <a:xfrm>
            <a:off x="594360" y="3300984"/>
            <a:ext cx="11064240" cy="493776"/>
          </a:xfrm>
          <a:prstGeom prst="rect">
            <a:avLst/>
          </a:prstGeom>
          <a:solidFill>
            <a:srgbClr val="F8FAFC"/>
          </a:solidFill>
          <a:ln w="6350">
            <a:solidFill>
              <a:srgbClr val="D7E6F2"/>
            </a:solidFill>
            <a:prstDash val="solid"/>
          </a:ln>
        </p:spPr>
      </p:sp>
      <p:sp>
        <p:nvSpPr>
          <p:cNvPr id="33" name="Text 31"/>
          <p:cNvSpPr/>
          <p:nvPr/>
        </p:nvSpPr>
        <p:spPr>
          <a:xfrm>
            <a:off x="649224" y="3374136"/>
            <a:ext cx="1719072" cy="384048"/>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Part</a:t>
            </a:r>
            <a:endParaRPr lang="en-US" sz="750" dirty="0"/>
          </a:p>
        </p:txBody>
      </p:sp>
      <p:sp>
        <p:nvSpPr>
          <p:cNvPr id="34" name="Text 32"/>
          <p:cNvSpPr/>
          <p:nvPr/>
        </p:nvSpPr>
        <p:spPr>
          <a:xfrm>
            <a:off x="2478024" y="3374136"/>
            <a:ext cx="382219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Text, file, URL, or structured data container</a:t>
            </a:r>
            <a:endParaRPr lang="en-US" sz="750" dirty="0"/>
          </a:p>
        </p:txBody>
      </p:sp>
      <p:sp>
        <p:nvSpPr>
          <p:cNvPr id="35" name="Text 33"/>
          <p:cNvSpPr/>
          <p:nvPr/>
        </p:nvSpPr>
        <p:spPr>
          <a:xfrm>
            <a:off x="6409944" y="3374136"/>
            <a:ext cx="382219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Allows multimodal and machine-readable exchange</a:t>
            </a:r>
            <a:endParaRPr lang="en-US" sz="750" dirty="0"/>
          </a:p>
        </p:txBody>
      </p:sp>
      <p:sp>
        <p:nvSpPr>
          <p:cNvPr id="36" name="Text 34"/>
          <p:cNvSpPr/>
          <p:nvPr/>
        </p:nvSpPr>
        <p:spPr>
          <a:xfrm>
            <a:off x="10341864" y="3374136"/>
            <a:ext cx="126187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send data</a:t>
            </a:r>
            <a:endParaRPr lang="en-US" sz="750" dirty="0"/>
          </a:p>
        </p:txBody>
      </p:sp>
      <p:sp>
        <p:nvSpPr>
          <p:cNvPr id="37" name="Shape 35"/>
          <p:cNvSpPr/>
          <p:nvPr/>
        </p:nvSpPr>
        <p:spPr>
          <a:xfrm>
            <a:off x="594360" y="3794760"/>
            <a:ext cx="11064240" cy="493776"/>
          </a:xfrm>
          <a:prstGeom prst="rect">
            <a:avLst/>
          </a:prstGeom>
          <a:solidFill>
            <a:srgbClr val="FFFFFF"/>
          </a:solidFill>
          <a:ln w="6350">
            <a:solidFill>
              <a:srgbClr val="D7E6F2"/>
            </a:solidFill>
            <a:prstDash val="solid"/>
          </a:ln>
        </p:spPr>
      </p:sp>
      <p:sp>
        <p:nvSpPr>
          <p:cNvPr id="38" name="Text 36"/>
          <p:cNvSpPr/>
          <p:nvPr/>
        </p:nvSpPr>
        <p:spPr>
          <a:xfrm>
            <a:off x="649224" y="3867912"/>
            <a:ext cx="1719072" cy="384048"/>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Artifact</a:t>
            </a:r>
            <a:endParaRPr lang="en-US" sz="750" dirty="0"/>
          </a:p>
        </p:txBody>
      </p:sp>
      <p:sp>
        <p:nvSpPr>
          <p:cNvPr id="39" name="Text 37"/>
          <p:cNvSpPr/>
          <p:nvPr/>
        </p:nvSpPr>
        <p:spPr>
          <a:xfrm>
            <a:off x="2478024" y="3867912"/>
            <a:ext cx="382219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Concrete output produced by a task</a:t>
            </a:r>
            <a:endParaRPr lang="en-US" sz="750" dirty="0"/>
          </a:p>
        </p:txBody>
      </p:sp>
      <p:sp>
        <p:nvSpPr>
          <p:cNvPr id="40" name="Text 38"/>
          <p:cNvSpPr/>
          <p:nvPr/>
        </p:nvSpPr>
        <p:spPr>
          <a:xfrm>
            <a:off x="6409944" y="3867912"/>
            <a:ext cx="382219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Separates deliverables from conversational chatter</a:t>
            </a:r>
            <a:endParaRPr lang="en-US" sz="750" dirty="0"/>
          </a:p>
        </p:txBody>
      </p:sp>
      <p:sp>
        <p:nvSpPr>
          <p:cNvPr id="41" name="Text 39"/>
          <p:cNvSpPr/>
          <p:nvPr/>
        </p:nvSpPr>
        <p:spPr>
          <a:xfrm>
            <a:off x="10341864" y="3867912"/>
            <a:ext cx="1261872" cy="384048"/>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open report</a:t>
            </a:r>
            <a:endParaRPr lang="en-US" sz="750" dirty="0"/>
          </a:p>
        </p:txBody>
      </p:sp>
      <p:sp>
        <p:nvSpPr>
          <p:cNvPr id="42" name="Shape 40"/>
          <p:cNvSpPr/>
          <p:nvPr/>
        </p:nvSpPr>
        <p:spPr>
          <a:xfrm>
            <a:off x="749808" y="4983480"/>
            <a:ext cx="10469880" cy="658368"/>
          </a:xfrm>
          <a:prstGeom prst="roundRect">
            <a:avLst>
              <a:gd name="adj" fmla="val 6944"/>
            </a:avLst>
          </a:prstGeom>
          <a:solidFill>
            <a:srgbClr val="F7FBFE"/>
          </a:solidFill>
          <a:ln w="12700">
            <a:solidFill>
              <a:srgbClr val="123452"/>
            </a:solidFill>
            <a:prstDash val="solid"/>
          </a:ln>
        </p:spPr>
      </p:sp>
      <p:sp>
        <p:nvSpPr>
          <p:cNvPr id="43" name="Shape 41"/>
          <p:cNvSpPr/>
          <p:nvPr/>
        </p:nvSpPr>
        <p:spPr>
          <a:xfrm>
            <a:off x="749808" y="4983480"/>
            <a:ext cx="73152" cy="658368"/>
          </a:xfrm>
          <a:prstGeom prst="rect">
            <a:avLst/>
          </a:prstGeom>
          <a:solidFill>
            <a:srgbClr val="123452"/>
          </a:solidFill>
          <a:ln w="12700">
            <a:solidFill>
              <a:srgbClr val="123452"/>
            </a:solidFill>
            <a:prstDash val="solid"/>
          </a:ln>
        </p:spPr>
      </p:sp>
      <p:sp>
        <p:nvSpPr>
          <p:cNvPr id="44" name="Text 42"/>
          <p:cNvSpPr/>
          <p:nvPr/>
        </p:nvSpPr>
        <p:spPr>
          <a:xfrm>
            <a:off x="914400" y="5111496"/>
            <a:ext cx="1021384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Teaching point</a:t>
            </a:r>
            <a:endParaRPr lang="en-US" sz="1300" dirty="0"/>
          </a:p>
        </p:txBody>
      </p:sp>
      <p:sp>
        <p:nvSpPr>
          <p:cNvPr id="45" name="Text 43"/>
          <p:cNvSpPr/>
          <p:nvPr/>
        </p:nvSpPr>
        <p:spPr>
          <a:xfrm>
            <a:off x="914400" y="5440680"/>
            <a:ext cx="10213848" cy="91440"/>
          </a:xfrm>
          <a:prstGeom prst="rect">
            <a:avLst/>
          </a:prstGeom>
          <a:noFill/>
          <a:ln/>
        </p:spPr>
        <p:txBody>
          <a:bodyPr wrap="square" lIns="254" tIns="254" rIns="254" bIns="254" rtlCol="0" anchor="t">
            <a:normAutofit/>
          </a:bodyPr>
          <a:lstStyle/>
          <a:p>
            <a:pPr indent="0" marL="0">
              <a:buNone/>
            </a:pPr>
            <a:r>
              <a:rPr lang="en-US" sz="1220" dirty="0">
                <a:solidFill>
                  <a:srgbClr val="1F2A37"/>
                </a:solidFill>
              </a:rPr>
              <a:t>A2A is valuable when task lifecycle and agent collaboration are first-class concepts—not when a function call would do.</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446CA8"/>
          </a:solidFill>
          <a:ln w="12700">
            <a:solidFill>
              <a:srgbClr val="446CA8"/>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446CA8"/>
                </a:solidFill>
                <a:latin typeface="Aptos" pitchFamily="34" charset="0"/>
                <a:ea typeface="Aptos" pitchFamily="34" charset="-122"/>
                <a:cs typeface="Aptos" pitchFamily="34" charset="-120"/>
              </a:rPr>
              <a:t>A2A</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A2A supports synchronous, streaming, and asynchronous work patterns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22</a:t>
            </a:r>
            <a:endParaRPr lang="en-US" sz="800" dirty="0"/>
          </a:p>
        </p:txBody>
      </p:sp>
      <p:sp>
        <p:nvSpPr>
          <p:cNvPr id="9" name="Shape 7"/>
          <p:cNvSpPr/>
          <p:nvPr/>
        </p:nvSpPr>
        <p:spPr>
          <a:xfrm>
            <a:off x="777240" y="1417320"/>
            <a:ext cx="3200400" cy="1234440"/>
          </a:xfrm>
          <a:prstGeom prst="roundRect">
            <a:avLst>
              <a:gd name="adj" fmla="val 3704"/>
            </a:avLst>
          </a:prstGeom>
          <a:solidFill>
            <a:srgbClr val="F7FBFE"/>
          </a:solidFill>
          <a:ln w="12700">
            <a:solidFill>
              <a:srgbClr val="0A9B9B"/>
            </a:solidFill>
            <a:prstDash val="solid"/>
          </a:ln>
        </p:spPr>
      </p:sp>
      <p:sp>
        <p:nvSpPr>
          <p:cNvPr id="10" name="Shape 8"/>
          <p:cNvSpPr/>
          <p:nvPr/>
        </p:nvSpPr>
        <p:spPr>
          <a:xfrm>
            <a:off x="777240" y="1417320"/>
            <a:ext cx="73152" cy="1234440"/>
          </a:xfrm>
          <a:prstGeom prst="rect">
            <a:avLst/>
          </a:prstGeom>
          <a:solidFill>
            <a:srgbClr val="0A9B9B"/>
          </a:solidFill>
          <a:ln w="12700">
            <a:solidFill>
              <a:srgbClr val="0A9B9B"/>
            </a:solidFill>
            <a:prstDash val="solid"/>
          </a:ln>
        </p:spPr>
      </p:sp>
      <p:sp>
        <p:nvSpPr>
          <p:cNvPr id="11" name="Text 9"/>
          <p:cNvSpPr/>
          <p:nvPr/>
        </p:nvSpPr>
        <p:spPr>
          <a:xfrm>
            <a:off x="941832" y="1545336"/>
            <a:ext cx="294436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Request / response</a:t>
            </a:r>
            <a:endParaRPr lang="en-US" sz="1300" dirty="0"/>
          </a:p>
        </p:txBody>
      </p:sp>
      <p:sp>
        <p:nvSpPr>
          <p:cNvPr id="12" name="Text 10"/>
          <p:cNvSpPr/>
          <p:nvPr/>
        </p:nvSpPr>
        <p:spPr>
          <a:xfrm>
            <a:off x="941832" y="1874520"/>
            <a:ext cx="2944368" cy="66751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Immediate answer or task creation; client can poll for state</a:t>
            </a:r>
            <a:endParaRPr lang="en-US" sz="1100" dirty="0"/>
          </a:p>
        </p:txBody>
      </p:sp>
      <p:sp>
        <p:nvSpPr>
          <p:cNvPr id="13" name="Shape 11"/>
          <p:cNvSpPr/>
          <p:nvPr/>
        </p:nvSpPr>
        <p:spPr>
          <a:xfrm>
            <a:off x="4526280" y="1417320"/>
            <a:ext cx="3200400" cy="1234440"/>
          </a:xfrm>
          <a:prstGeom prst="roundRect">
            <a:avLst>
              <a:gd name="adj" fmla="val 3704"/>
            </a:avLst>
          </a:prstGeom>
          <a:solidFill>
            <a:srgbClr val="F7FBFE"/>
          </a:solidFill>
          <a:ln w="12700">
            <a:solidFill>
              <a:srgbClr val="2F79B7"/>
            </a:solidFill>
            <a:prstDash val="solid"/>
          </a:ln>
        </p:spPr>
      </p:sp>
      <p:sp>
        <p:nvSpPr>
          <p:cNvPr id="14" name="Shape 12"/>
          <p:cNvSpPr/>
          <p:nvPr/>
        </p:nvSpPr>
        <p:spPr>
          <a:xfrm>
            <a:off x="4526280" y="1417320"/>
            <a:ext cx="73152" cy="1234440"/>
          </a:xfrm>
          <a:prstGeom prst="rect">
            <a:avLst/>
          </a:prstGeom>
          <a:solidFill>
            <a:srgbClr val="2F79B7"/>
          </a:solidFill>
          <a:ln w="12700">
            <a:solidFill>
              <a:srgbClr val="2F79B7"/>
            </a:solidFill>
            <a:prstDash val="solid"/>
          </a:ln>
        </p:spPr>
      </p:sp>
      <p:sp>
        <p:nvSpPr>
          <p:cNvPr id="15" name="Text 13"/>
          <p:cNvSpPr/>
          <p:nvPr/>
        </p:nvSpPr>
        <p:spPr>
          <a:xfrm>
            <a:off x="4690872" y="1545336"/>
            <a:ext cx="2944368" cy="228600"/>
          </a:xfrm>
          <a:prstGeom prst="rect">
            <a:avLst/>
          </a:prstGeom>
          <a:noFill/>
          <a:ln/>
        </p:spPr>
        <p:txBody>
          <a:bodyPr wrap="square" lIns="0" tIns="0" rIns="0" bIns="0" rtlCol="0" anchor="ctr">
            <a:normAutofit/>
          </a:bodyPr>
          <a:lstStyle/>
          <a:p>
            <a:pPr indent="0" marL="0">
              <a:buNone/>
            </a:pPr>
            <a:r>
              <a:rPr lang="en-US" sz="1300" b="1" dirty="0">
                <a:solidFill>
                  <a:srgbClr val="2F79B7"/>
                </a:solidFill>
              </a:rPr>
              <a:t>Streaming / SSE</a:t>
            </a:r>
            <a:endParaRPr lang="en-US" sz="1300" dirty="0"/>
          </a:p>
        </p:txBody>
      </p:sp>
      <p:sp>
        <p:nvSpPr>
          <p:cNvPr id="16" name="Text 14"/>
          <p:cNvSpPr/>
          <p:nvPr/>
        </p:nvSpPr>
        <p:spPr>
          <a:xfrm>
            <a:off x="4690872" y="1874520"/>
            <a:ext cx="2944368" cy="66751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Real-time updates for incremental reasoning, status, or output</a:t>
            </a:r>
            <a:endParaRPr lang="en-US" sz="1100" dirty="0"/>
          </a:p>
        </p:txBody>
      </p:sp>
      <p:sp>
        <p:nvSpPr>
          <p:cNvPr id="17" name="Shape 15"/>
          <p:cNvSpPr/>
          <p:nvPr/>
        </p:nvSpPr>
        <p:spPr>
          <a:xfrm>
            <a:off x="8275320" y="1417320"/>
            <a:ext cx="3200400" cy="1234440"/>
          </a:xfrm>
          <a:prstGeom prst="roundRect">
            <a:avLst>
              <a:gd name="adj" fmla="val 3704"/>
            </a:avLst>
          </a:prstGeom>
          <a:solidFill>
            <a:srgbClr val="F7FBFE"/>
          </a:solidFill>
          <a:ln w="12700">
            <a:solidFill>
              <a:srgbClr val="446CA8"/>
            </a:solidFill>
            <a:prstDash val="solid"/>
          </a:ln>
        </p:spPr>
      </p:sp>
      <p:sp>
        <p:nvSpPr>
          <p:cNvPr id="18" name="Shape 16"/>
          <p:cNvSpPr/>
          <p:nvPr/>
        </p:nvSpPr>
        <p:spPr>
          <a:xfrm>
            <a:off x="8275320" y="1417320"/>
            <a:ext cx="73152" cy="1234440"/>
          </a:xfrm>
          <a:prstGeom prst="rect">
            <a:avLst/>
          </a:prstGeom>
          <a:solidFill>
            <a:srgbClr val="446CA8"/>
          </a:solidFill>
          <a:ln w="12700">
            <a:solidFill>
              <a:srgbClr val="446CA8"/>
            </a:solidFill>
            <a:prstDash val="solid"/>
          </a:ln>
        </p:spPr>
      </p:sp>
      <p:sp>
        <p:nvSpPr>
          <p:cNvPr id="19" name="Text 17"/>
          <p:cNvSpPr/>
          <p:nvPr/>
        </p:nvSpPr>
        <p:spPr>
          <a:xfrm>
            <a:off x="8439912" y="1545336"/>
            <a:ext cx="294436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Push notifications</a:t>
            </a:r>
            <a:endParaRPr lang="en-US" sz="1300" dirty="0"/>
          </a:p>
        </p:txBody>
      </p:sp>
      <p:sp>
        <p:nvSpPr>
          <p:cNvPr id="20" name="Text 18"/>
          <p:cNvSpPr/>
          <p:nvPr/>
        </p:nvSpPr>
        <p:spPr>
          <a:xfrm>
            <a:off x="8439912" y="1874520"/>
            <a:ext cx="2944368" cy="66751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Webhook-style updates for long-running or disconnected workflows</a:t>
            </a:r>
            <a:endParaRPr lang="en-US" sz="1100" dirty="0"/>
          </a:p>
        </p:txBody>
      </p:sp>
      <p:sp>
        <p:nvSpPr>
          <p:cNvPr id="21" name="Text 19"/>
          <p:cNvSpPr/>
          <p:nvPr/>
        </p:nvSpPr>
        <p:spPr>
          <a:xfrm>
            <a:off x="777240" y="3337560"/>
            <a:ext cx="2926080" cy="274320"/>
          </a:xfrm>
          <a:prstGeom prst="rect">
            <a:avLst/>
          </a:prstGeom>
          <a:noFill/>
          <a:ln/>
        </p:spPr>
        <p:txBody>
          <a:bodyPr wrap="square" lIns="0" tIns="0" rIns="0" bIns="0" rtlCol="0" anchor="ctr"/>
          <a:lstStyle/>
          <a:p>
            <a:pPr indent="0" marL="0">
              <a:buNone/>
            </a:pPr>
            <a:r>
              <a:rPr lang="en-US" sz="1600" b="1" dirty="0">
                <a:solidFill>
                  <a:srgbClr val="123452"/>
                </a:solidFill>
              </a:rPr>
              <a:t>Task lifecycle lens</a:t>
            </a:r>
            <a:endParaRPr lang="en-US" sz="1600" dirty="0"/>
          </a:p>
        </p:txBody>
      </p:sp>
      <p:sp>
        <p:nvSpPr>
          <p:cNvPr id="22" name="Shape 20"/>
          <p:cNvSpPr/>
          <p:nvPr/>
        </p:nvSpPr>
        <p:spPr>
          <a:xfrm>
            <a:off x="2331720" y="4343400"/>
            <a:ext cx="731520" cy="0"/>
          </a:xfrm>
          <a:prstGeom prst="line">
            <a:avLst/>
          </a:prstGeom>
          <a:noFill/>
          <a:ln w="19050">
            <a:solidFill>
              <a:srgbClr val="D7E6F2"/>
            </a:solidFill>
            <a:prstDash val="solid"/>
            <a:tailEnd type="triangle"/>
          </a:ln>
        </p:spPr>
      </p:sp>
      <p:sp>
        <p:nvSpPr>
          <p:cNvPr id="23" name="Shape 21"/>
          <p:cNvSpPr/>
          <p:nvPr/>
        </p:nvSpPr>
        <p:spPr>
          <a:xfrm>
            <a:off x="4892040" y="4343400"/>
            <a:ext cx="731520" cy="0"/>
          </a:xfrm>
          <a:prstGeom prst="line">
            <a:avLst/>
          </a:prstGeom>
          <a:noFill/>
          <a:ln w="19050">
            <a:solidFill>
              <a:srgbClr val="D7E6F2"/>
            </a:solidFill>
            <a:prstDash val="solid"/>
            <a:tailEnd type="triangle"/>
          </a:ln>
        </p:spPr>
      </p:sp>
      <p:sp>
        <p:nvSpPr>
          <p:cNvPr id="24" name="Shape 22"/>
          <p:cNvSpPr/>
          <p:nvPr/>
        </p:nvSpPr>
        <p:spPr>
          <a:xfrm>
            <a:off x="7452360" y="4343400"/>
            <a:ext cx="731520" cy="0"/>
          </a:xfrm>
          <a:prstGeom prst="line">
            <a:avLst/>
          </a:prstGeom>
          <a:noFill/>
          <a:ln w="19050">
            <a:solidFill>
              <a:srgbClr val="D7E6F2"/>
            </a:solidFill>
            <a:prstDash val="solid"/>
            <a:tailEnd type="triangle"/>
          </a:ln>
        </p:spPr>
      </p:sp>
      <p:sp>
        <p:nvSpPr>
          <p:cNvPr id="25" name="Shape 23"/>
          <p:cNvSpPr/>
          <p:nvPr/>
        </p:nvSpPr>
        <p:spPr>
          <a:xfrm>
            <a:off x="914400" y="3977640"/>
            <a:ext cx="1508760" cy="731520"/>
          </a:xfrm>
          <a:prstGeom prst="roundRect">
            <a:avLst>
              <a:gd name="adj" fmla="val 7500"/>
            </a:avLst>
          </a:prstGeom>
          <a:solidFill>
            <a:srgbClr val="FFFFFF"/>
          </a:solidFill>
          <a:ln w="16510">
            <a:solidFill>
              <a:srgbClr val="446CA8"/>
            </a:solidFill>
            <a:prstDash val="solid"/>
          </a:ln>
        </p:spPr>
      </p:sp>
      <p:sp>
        <p:nvSpPr>
          <p:cNvPr id="26" name="Text 24"/>
          <p:cNvSpPr/>
          <p:nvPr/>
        </p:nvSpPr>
        <p:spPr>
          <a:xfrm>
            <a:off x="1005840" y="4242816"/>
            <a:ext cx="1325880" cy="146304"/>
          </a:xfrm>
          <a:prstGeom prst="rect">
            <a:avLst/>
          </a:prstGeom>
          <a:noFill/>
          <a:ln/>
        </p:spPr>
        <p:txBody>
          <a:bodyPr wrap="square" lIns="0" tIns="0" rIns="0" bIns="0" rtlCol="0" anchor="ctr">
            <a:normAutofit/>
          </a:bodyPr>
          <a:lstStyle/>
          <a:p>
            <a:pPr algn="ctr" indent="0" marL="0">
              <a:buNone/>
            </a:pPr>
            <a:r>
              <a:rPr lang="en-US" sz="1050" b="1" dirty="0">
                <a:solidFill>
                  <a:srgbClr val="446CA8"/>
                </a:solidFill>
              </a:rPr>
              <a:t>submit</a:t>
            </a:r>
            <a:endParaRPr lang="en-US" sz="1050" dirty="0"/>
          </a:p>
        </p:txBody>
      </p:sp>
      <p:sp>
        <p:nvSpPr>
          <p:cNvPr id="27" name="Shape 25"/>
          <p:cNvSpPr/>
          <p:nvPr/>
        </p:nvSpPr>
        <p:spPr>
          <a:xfrm>
            <a:off x="3474720" y="3977640"/>
            <a:ext cx="1508760" cy="731520"/>
          </a:xfrm>
          <a:prstGeom prst="roundRect">
            <a:avLst>
              <a:gd name="adj" fmla="val 7500"/>
            </a:avLst>
          </a:prstGeom>
          <a:solidFill>
            <a:srgbClr val="FFFFFF"/>
          </a:solidFill>
          <a:ln w="16510">
            <a:solidFill>
              <a:srgbClr val="D99A3D"/>
            </a:solidFill>
            <a:prstDash val="solid"/>
          </a:ln>
        </p:spPr>
      </p:sp>
      <p:sp>
        <p:nvSpPr>
          <p:cNvPr id="28" name="Text 26"/>
          <p:cNvSpPr/>
          <p:nvPr/>
        </p:nvSpPr>
        <p:spPr>
          <a:xfrm>
            <a:off x="3566160" y="4242816"/>
            <a:ext cx="1325880" cy="146304"/>
          </a:xfrm>
          <a:prstGeom prst="rect">
            <a:avLst/>
          </a:prstGeom>
          <a:noFill/>
          <a:ln/>
        </p:spPr>
        <p:txBody>
          <a:bodyPr wrap="square" lIns="0" tIns="0" rIns="0" bIns="0" rtlCol="0" anchor="ctr">
            <a:normAutofit/>
          </a:bodyPr>
          <a:lstStyle/>
          <a:p>
            <a:pPr algn="ctr" indent="0" marL="0">
              <a:buNone/>
            </a:pPr>
            <a:r>
              <a:rPr lang="en-US" sz="1050" b="1" dirty="0">
                <a:solidFill>
                  <a:srgbClr val="D99A3D"/>
                </a:solidFill>
              </a:rPr>
              <a:t>working</a:t>
            </a:r>
            <a:endParaRPr lang="en-US" sz="1050" dirty="0"/>
          </a:p>
        </p:txBody>
      </p:sp>
      <p:sp>
        <p:nvSpPr>
          <p:cNvPr id="29" name="Shape 27"/>
          <p:cNvSpPr/>
          <p:nvPr/>
        </p:nvSpPr>
        <p:spPr>
          <a:xfrm>
            <a:off x="6035040" y="3977640"/>
            <a:ext cx="1508760" cy="731520"/>
          </a:xfrm>
          <a:prstGeom prst="roundRect">
            <a:avLst>
              <a:gd name="adj" fmla="val 7500"/>
            </a:avLst>
          </a:prstGeom>
          <a:solidFill>
            <a:srgbClr val="FFFFFF"/>
          </a:solidFill>
          <a:ln w="16510">
            <a:solidFill>
              <a:srgbClr val="2F79B7"/>
            </a:solidFill>
            <a:prstDash val="solid"/>
          </a:ln>
        </p:spPr>
      </p:sp>
      <p:sp>
        <p:nvSpPr>
          <p:cNvPr id="30" name="Text 28"/>
          <p:cNvSpPr/>
          <p:nvPr/>
        </p:nvSpPr>
        <p:spPr>
          <a:xfrm>
            <a:off x="6126480" y="4242816"/>
            <a:ext cx="1325880" cy="146304"/>
          </a:xfrm>
          <a:prstGeom prst="rect">
            <a:avLst/>
          </a:prstGeom>
          <a:noFill/>
          <a:ln/>
        </p:spPr>
        <p:txBody>
          <a:bodyPr wrap="square" lIns="0" tIns="0" rIns="0" bIns="0" rtlCol="0" anchor="ctr">
            <a:normAutofit/>
          </a:bodyPr>
          <a:lstStyle/>
          <a:p>
            <a:pPr algn="ctr" indent="0" marL="0">
              <a:buNone/>
            </a:pPr>
            <a:r>
              <a:rPr lang="en-US" sz="1050" b="1" dirty="0">
                <a:solidFill>
                  <a:srgbClr val="2F79B7"/>
                </a:solidFill>
              </a:rPr>
              <a:t>input required</a:t>
            </a:r>
            <a:endParaRPr lang="en-US" sz="1050" dirty="0"/>
          </a:p>
        </p:txBody>
      </p:sp>
      <p:sp>
        <p:nvSpPr>
          <p:cNvPr id="31" name="Shape 29"/>
          <p:cNvSpPr/>
          <p:nvPr/>
        </p:nvSpPr>
        <p:spPr>
          <a:xfrm>
            <a:off x="8595360" y="3977640"/>
            <a:ext cx="1508760" cy="731520"/>
          </a:xfrm>
          <a:prstGeom prst="roundRect">
            <a:avLst>
              <a:gd name="adj" fmla="val 7500"/>
            </a:avLst>
          </a:prstGeom>
          <a:solidFill>
            <a:srgbClr val="FFFFFF"/>
          </a:solidFill>
          <a:ln w="16510">
            <a:solidFill>
              <a:srgbClr val="0A9B9B"/>
            </a:solidFill>
            <a:prstDash val="solid"/>
          </a:ln>
        </p:spPr>
      </p:sp>
      <p:sp>
        <p:nvSpPr>
          <p:cNvPr id="32" name="Text 30"/>
          <p:cNvSpPr/>
          <p:nvPr/>
        </p:nvSpPr>
        <p:spPr>
          <a:xfrm>
            <a:off x="8686800" y="4242816"/>
            <a:ext cx="1325880" cy="146304"/>
          </a:xfrm>
          <a:prstGeom prst="rect">
            <a:avLst/>
          </a:prstGeom>
          <a:noFill/>
          <a:ln/>
        </p:spPr>
        <p:txBody>
          <a:bodyPr wrap="square" lIns="0" tIns="0" rIns="0" bIns="0" rtlCol="0" anchor="ctr">
            <a:normAutofit/>
          </a:bodyPr>
          <a:lstStyle/>
          <a:p>
            <a:pPr algn="ctr" indent="0" marL="0">
              <a:buNone/>
            </a:pPr>
            <a:r>
              <a:rPr lang="en-US" sz="1050" b="1" dirty="0">
                <a:solidFill>
                  <a:srgbClr val="0A9B9B"/>
                </a:solidFill>
              </a:rPr>
              <a:t>completed / failed</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446CA8"/>
          </a:solidFill>
          <a:ln w="12700">
            <a:solidFill>
              <a:srgbClr val="446CA8"/>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446CA8"/>
                </a:solidFill>
                <a:latin typeface="Aptos" pitchFamily="34" charset="0"/>
                <a:ea typeface="Aptos" pitchFamily="34" charset="-122"/>
                <a:cs typeface="Aptos" pitchFamily="34" charset="-120"/>
              </a:rPr>
              <a:t>A2A</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A2A wins when the other side is autonomous, stateful, and independently governed</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23</a:t>
            </a:r>
            <a:endParaRPr lang="en-US" sz="800" dirty="0"/>
          </a:p>
        </p:txBody>
      </p:sp>
      <p:sp>
        <p:nvSpPr>
          <p:cNvPr id="9" name="Shape 7"/>
          <p:cNvSpPr/>
          <p:nvPr/>
        </p:nvSpPr>
        <p:spPr>
          <a:xfrm>
            <a:off x="594360" y="1325880"/>
            <a:ext cx="10972800" cy="475488"/>
          </a:xfrm>
          <a:prstGeom prst="rect">
            <a:avLst/>
          </a:prstGeom>
          <a:solidFill>
            <a:srgbClr val="446CA8"/>
          </a:solidFill>
          <a:ln w="12700">
            <a:solidFill>
              <a:srgbClr val="446CA8"/>
            </a:solidFill>
            <a:prstDash val="solid"/>
          </a:ln>
        </p:spPr>
      </p:sp>
      <p:sp>
        <p:nvSpPr>
          <p:cNvPr id="10" name="Text 8"/>
          <p:cNvSpPr/>
          <p:nvPr/>
        </p:nvSpPr>
        <p:spPr>
          <a:xfrm>
            <a:off x="640080" y="1426464"/>
            <a:ext cx="2011680" cy="365760"/>
          </a:xfrm>
          <a:prstGeom prst="rect">
            <a:avLst/>
          </a:prstGeom>
          <a:noFill/>
          <a:ln/>
        </p:spPr>
        <p:txBody>
          <a:bodyPr wrap="square" lIns="0" tIns="0" rIns="0" bIns="0" rtlCol="0" anchor="ctr">
            <a:normAutofit/>
          </a:bodyPr>
          <a:lstStyle/>
          <a:p>
            <a:pPr algn="l" indent="0" marL="0">
              <a:buNone/>
            </a:pPr>
            <a:r>
              <a:rPr lang="en-US" sz="820" b="1" dirty="0">
                <a:solidFill>
                  <a:srgbClr val="FFFFFF"/>
                </a:solidFill>
              </a:rPr>
              <a:t>Situation</a:t>
            </a:r>
            <a:endParaRPr lang="en-US" sz="820" dirty="0"/>
          </a:p>
        </p:txBody>
      </p:sp>
      <p:sp>
        <p:nvSpPr>
          <p:cNvPr id="11" name="Text 9"/>
          <p:cNvSpPr/>
          <p:nvPr/>
        </p:nvSpPr>
        <p:spPr>
          <a:xfrm>
            <a:off x="2743200" y="1426464"/>
            <a:ext cx="3566160" cy="365760"/>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A2A fit</a:t>
            </a:r>
            <a:endParaRPr lang="en-US" sz="820" dirty="0"/>
          </a:p>
        </p:txBody>
      </p:sp>
      <p:sp>
        <p:nvSpPr>
          <p:cNvPr id="12" name="Shape 10"/>
          <p:cNvSpPr/>
          <p:nvPr/>
        </p:nvSpPr>
        <p:spPr>
          <a:xfrm>
            <a:off x="2697480" y="1325880"/>
            <a:ext cx="0" cy="2852928"/>
          </a:xfrm>
          <a:prstGeom prst="line">
            <a:avLst/>
          </a:prstGeom>
          <a:noFill/>
          <a:ln w="6350">
            <a:solidFill>
              <a:srgbClr val="FFFFFF">
                <a:alpha val="60000"/>
              </a:srgbClr>
            </a:solidFill>
            <a:prstDash val="solid"/>
          </a:ln>
        </p:spPr>
      </p:sp>
      <p:sp>
        <p:nvSpPr>
          <p:cNvPr id="13" name="Text 11"/>
          <p:cNvSpPr/>
          <p:nvPr/>
        </p:nvSpPr>
        <p:spPr>
          <a:xfrm>
            <a:off x="6400800" y="1426464"/>
            <a:ext cx="3566160" cy="365760"/>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Why</a:t>
            </a:r>
            <a:endParaRPr lang="en-US" sz="820" dirty="0"/>
          </a:p>
        </p:txBody>
      </p:sp>
      <p:sp>
        <p:nvSpPr>
          <p:cNvPr id="14" name="Shape 12"/>
          <p:cNvSpPr/>
          <p:nvPr/>
        </p:nvSpPr>
        <p:spPr>
          <a:xfrm>
            <a:off x="6355080" y="1325880"/>
            <a:ext cx="0" cy="2852928"/>
          </a:xfrm>
          <a:prstGeom prst="line">
            <a:avLst/>
          </a:prstGeom>
          <a:noFill/>
          <a:ln w="6350">
            <a:solidFill>
              <a:srgbClr val="FFFFFF">
                <a:alpha val="60000"/>
              </a:srgbClr>
            </a:solidFill>
            <a:prstDash val="solid"/>
          </a:ln>
        </p:spPr>
      </p:sp>
      <p:sp>
        <p:nvSpPr>
          <p:cNvPr id="15" name="Text 13"/>
          <p:cNvSpPr/>
          <p:nvPr/>
        </p:nvSpPr>
        <p:spPr>
          <a:xfrm>
            <a:off x="10058400" y="1426464"/>
            <a:ext cx="1463040" cy="365760"/>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Signal</a:t>
            </a:r>
            <a:endParaRPr lang="en-US" sz="820" dirty="0"/>
          </a:p>
        </p:txBody>
      </p:sp>
      <p:sp>
        <p:nvSpPr>
          <p:cNvPr id="16" name="Shape 14"/>
          <p:cNvSpPr/>
          <p:nvPr/>
        </p:nvSpPr>
        <p:spPr>
          <a:xfrm>
            <a:off x="10012680" y="1325880"/>
            <a:ext cx="0" cy="2852928"/>
          </a:xfrm>
          <a:prstGeom prst="line">
            <a:avLst/>
          </a:prstGeom>
          <a:noFill/>
          <a:ln w="6350">
            <a:solidFill>
              <a:srgbClr val="FFFFFF">
                <a:alpha val="60000"/>
              </a:srgbClr>
            </a:solidFill>
            <a:prstDash val="solid"/>
          </a:ln>
        </p:spPr>
      </p:sp>
      <p:sp>
        <p:nvSpPr>
          <p:cNvPr id="17" name="Shape 15"/>
          <p:cNvSpPr/>
          <p:nvPr/>
        </p:nvSpPr>
        <p:spPr>
          <a:xfrm>
            <a:off x="594360" y="1801368"/>
            <a:ext cx="10972800" cy="475488"/>
          </a:xfrm>
          <a:prstGeom prst="rect">
            <a:avLst/>
          </a:prstGeom>
          <a:solidFill>
            <a:srgbClr val="FFFFFF"/>
          </a:solidFill>
          <a:ln w="6350">
            <a:solidFill>
              <a:srgbClr val="D7E6F2"/>
            </a:solidFill>
            <a:prstDash val="solid"/>
          </a:ln>
        </p:spPr>
      </p:sp>
      <p:sp>
        <p:nvSpPr>
          <p:cNvPr id="18" name="Text 16"/>
          <p:cNvSpPr/>
          <p:nvPr/>
        </p:nvSpPr>
        <p:spPr>
          <a:xfrm>
            <a:off x="649224" y="1874520"/>
            <a:ext cx="1993392" cy="365760"/>
          </a:xfrm>
          <a:prstGeom prst="rect">
            <a:avLst/>
          </a:prstGeom>
          <a:noFill/>
          <a:ln/>
        </p:spPr>
        <p:txBody>
          <a:bodyPr wrap="square" lIns="0" tIns="0" rIns="0" bIns="0" rtlCol="0" anchor="ctr">
            <a:normAutofit/>
          </a:bodyPr>
          <a:lstStyle/>
          <a:p>
            <a:pPr algn="l" indent="0" marL="0">
              <a:buNone/>
            </a:pPr>
            <a:r>
              <a:rPr lang="en-US" sz="780" b="1" dirty="0">
                <a:solidFill>
                  <a:srgbClr val="123452"/>
                </a:solidFill>
              </a:rPr>
              <a:t>Vendor specialist agent</a:t>
            </a:r>
            <a:endParaRPr lang="en-US" sz="780" dirty="0"/>
          </a:p>
        </p:txBody>
      </p:sp>
      <p:sp>
        <p:nvSpPr>
          <p:cNvPr id="19" name="Text 17"/>
          <p:cNvSpPr/>
          <p:nvPr/>
        </p:nvSpPr>
        <p:spPr>
          <a:xfrm>
            <a:off x="2752344" y="1874520"/>
            <a:ext cx="354787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High</a:t>
            </a:r>
            <a:endParaRPr lang="en-US" sz="780" dirty="0"/>
          </a:p>
        </p:txBody>
      </p:sp>
      <p:sp>
        <p:nvSpPr>
          <p:cNvPr id="20" name="Text 18"/>
          <p:cNvSpPr/>
          <p:nvPr/>
        </p:nvSpPr>
        <p:spPr>
          <a:xfrm>
            <a:off x="6409944" y="1874520"/>
            <a:ext cx="354787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You need outcomes, not the vendor’s internal tool chain</a:t>
            </a:r>
            <a:endParaRPr lang="en-US" sz="780" dirty="0"/>
          </a:p>
        </p:txBody>
      </p:sp>
      <p:sp>
        <p:nvSpPr>
          <p:cNvPr id="21" name="Text 19"/>
          <p:cNvSpPr/>
          <p:nvPr/>
        </p:nvSpPr>
        <p:spPr>
          <a:xfrm>
            <a:off x="10067544" y="1874520"/>
            <a:ext cx="144475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a:t>
            </a:r>
            <a:endParaRPr lang="en-US" sz="780" dirty="0"/>
          </a:p>
        </p:txBody>
      </p:sp>
      <p:sp>
        <p:nvSpPr>
          <p:cNvPr id="22" name="Shape 20"/>
          <p:cNvSpPr/>
          <p:nvPr/>
        </p:nvSpPr>
        <p:spPr>
          <a:xfrm>
            <a:off x="594360" y="2276856"/>
            <a:ext cx="10972800" cy="475488"/>
          </a:xfrm>
          <a:prstGeom prst="rect">
            <a:avLst/>
          </a:prstGeom>
          <a:solidFill>
            <a:srgbClr val="F8FAFC"/>
          </a:solidFill>
          <a:ln w="6350">
            <a:solidFill>
              <a:srgbClr val="D7E6F2"/>
            </a:solidFill>
            <a:prstDash val="solid"/>
          </a:ln>
        </p:spPr>
      </p:sp>
      <p:sp>
        <p:nvSpPr>
          <p:cNvPr id="23" name="Text 21"/>
          <p:cNvSpPr/>
          <p:nvPr/>
        </p:nvSpPr>
        <p:spPr>
          <a:xfrm>
            <a:off x="649224" y="2350008"/>
            <a:ext cx="1993392" cy="365760"/>
          </a:xfrm>
          <a:prstGeom prst="rect">
            <a:avLst/>
          </a:prstGeom>
          <a:noFill/>
          <a:ln/>
        </p:spPr>
        <p:txBody>
          <a:bodyPr wrap="square" lIns="0" tIns="0" rIns="0" bIns="0" rtlCol="0" anchor="ctr">
            <a:normAutofit/>
          </a:bodyPr>
          <a:lstStyle/>
          <a:p>
            <a:pPr algn="l" indent="0" marL="0">
              <a:buNone/>
            </a:pPr>
            <a:r>
              <a:rPr lang="en-US" sz="780" b="1" dirty="0">
                <a:solidFill>
                  <a:srgbClr val="123452"/>
                </a:solidFill>
              </a:rPr>
              <a:t>Cross-department workflow</a:t>
            </a:r>
            <a:endParaRPr lang="en-US" sz="780" dirty="0"/>
          </a:p>
        </p:txBody>
      </p:sp>
      <p:sp>
        <p:nvSpPr>
          <p:cNvPr id="24" name="Text 22"/>
          <p:cNvSpPr/>
          <p:nvPr/>
        </p:nvSpPr>
        <p:spPr>
          <a:xfrm>
            <a:off x="2752344" y="2350008"/>
            <a:ext cx="354787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High</a:t>
            </a:r>
            <a:endParaRPr lang="en-US" sz="780" dirty="0"/>
          </a:p>
        </p:txBody>
      </p:sp>
      <p:sp>
        <p:nvSpPr>
          <p:cNvPr id="25" name="Text 23"/>
          <p:cNvSpPr/>
          <p:nvPr/>
        </p:nvSpPr>
        <p:spPr>
          <a:xfrm>
            <a:off x="6409944" y="2350008"/>
            <a:ext cx="354787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Agents can delegate and return artifacts across ownership boundaries</a:t>
            </a:r>
            <a:endParaRPr lang="en-US" sz="780" dirty="0"/>
          </a:p>
        </p:txBody>
      </p:sp>
      <p:sp>
        <p:nvSpPr>
          <p:cNvPr id="26" name="Text 24"/>
          <p:cNvSpPr/>
          <p:nvPr/>
        </p:nvSpPr>
        <p:spPr>
          <a:xfrm>
            <a:off x="10067544" y="2350008"/>
            <a:ext cx="144475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a:t>
            </a:r>
            <a:endParaRPr lang="en-US" sz="780" dirty="0"/>
          </a:p>
        </p:txBody>
      </p:sp>
      <p:sp>
        <p:nvSpPr>
          <p:cNvPr id="27" name="Shape 25"/>
          <p:cNvSpPr/>
          <p:nvPr/>
        </p:nvSpPr>
        <p:spPr>
          <a:xfrm>
            <a:off x="594360" y="2752344"/>
            <a:ext cx="10972800" cy="475488"/>
          </a:xfrm>
          <a:prstGeom prst="rect">
            <a:avLst/>
          </a:prstGeom>
          <a:solidFill>
            <a:srgbClr val="FFFFFF"/>
          </a:solidFill>
          <a:ln w="6350">
            <a:solidFill>
              <a:srgbClr val="D7E6F2"/>
            </a:solidFill>
            <a:prstDash val="solid"/>
          </a:ln>
        </p:spPr>
      </p:sp>
      <p:sp>
        <p:nvSpPr>
          <p:cNvPr id="28" name="Text 26"/>
          <p:cNvSpPr/>
          <p:nvPr/>
        </p:nvSpPr>
        <p:spPr>
          <a:xfrm>
            <a:off x="649224" y="2825496"/>
            <a:ext cx="1993392" cy="365760"/>
          </a:xfrm>
          <a:prstGeom prst="rect">
            <a:avLst/>
          </a:prstGeom>
          <a:noFill/>
          <a:ln/>
        </p:spPr>
        <p:txBody>
          <a:bodyPr wrap="square" lIns="0" tIns="0" rIns="0" bIns="0" rtlCol="0" anchor="ctr">
            <a:normAutofit/>
          </a:bodyPr>
          <a:lstStyle/>
          <a:p>
            <a:pPr algn="l" indent="0" marL="0">
              <a:buNone/>
            </a:pPr>
            <a:r>
              <a:rPr lang="en-US" sz="780" b="1" dirty="0">
                <a:solidFill>
                  <a:srgbClr val="123452"/>
                </a:solidFill>
              </a:rPr>
              <a:t>Simple tool call</a:t>
            </a:r>
            <a:endParaRPr lang="en-US" sz="780" dirty="0"/>
          </a:p>
        </p:txBody>
      </p:sp>
      <p:sp>
        <p:nvSpPr>
          <p:cNvPr id="29" name="Text 27"/>
          <p:cNvSpPr/>
          <p:nvPr/>
        </p:nvSpPr>
        <p:spPr>
          <a:xfrm>
            <a:off x="2752344" y="2825496"/>
            <a:ext cx="354787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Low</a:t>
            </a:r>
            <a:endParaRPr lang="en-US" sz="780" dirty="0"/>
          </a:p>
        </p:txBody>
      </p:sp>
      <p:sp>
        <p:nvSpPr>
          <p:cNvPr id="30" name="Text 28"/>
          <p:cNvSpPr/>
          <p:nvPr/>
        </p:nvSpPr>
        <p:spPr>
          <a:xfrm>
            <a:off x="6409944" y="2825496"/>
            <a:ext cx="354787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Use MCP or a direct API; no agent collaboration semantics needed</a:t>
            </a:r>
            <a:endParaRPr lang="en-US" sz="780" dirty="0"/>
          </a:p>
        </p:txBody>
      </p:sp>
      <p:sp>
        <p:nvSpPr>
          <p:cNvPr id="31" name="Text 29"/>
          <p:cNvSpPr/>
          <p:nvPr/>
        </p:nvSpPr>
        <p:spPr>
          <a:xfrm>
            <a:off x="10067544" y="2825496"/>
            <a:ext cx="144475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a:t>
            </a:r>
            <a:endParaRPr lang="en-US" sz="780" dirty="0"/>
          </a:p>
        </p:txBody>
      </p:sp>
      <p:sp>
        <p:nvSpPr>
          <p:cNvPr id="32" name="Shape 30"/>
          <p:cNvSpPr/>
          <p:nvPr/>
        </p:nvSpPr>
        <p:spPr>
          <a:xfrm>
            <a:off x="594360" y="3227832"/>
            <a:ext cx="10972800" cy="475488"/>
          </a:xfrm>
          <a:prstGeom prst="rect">
            <a:avLst/>
          </a:prstGeom>
          <a:solidFill>
            <a:srgbClr val="F8FAFC"/>
          </a:solidFill>
          <a:ln w="6350">
            <a:solidFill>
              <a:srgbClr val="D7E6F2"/>
            </a:solidFill>
            <a:prstDash val="solid"/>
          </a:ln>
        </p:spPr>
      </p:sp>
      <p:sp>
        <p:nvSpPr>
          <p:cNvPr id="33" name="Text 31"/>
          <p:cNvSpPr/>
          <p:nvPr/>
        </p:nvSpPr>
        <p:spPr>
          <a:xfrm>
            <a:off x="649224" y="3300984"/>
            <a:ext cx="1993392" cy="365760"/>
          </a:xfrm>
          <a:prstGeom prst="rect">
            <a:avLst/>
          </a:prstGeom>
          <a:noFill/>
          <a:ln/>
        </p:spPr>
        <p:txBody>
          <a:bodyPr wrap="square" lIns="0" tIns="0" rIns="0" bIns="0" rtlCol="0" anchor="ctr">
            <a:normAutofit/>
          </a:bodyPr>
          <a:lstStyle/>
          <a:p>
            <a:pPr algn="l" indent="0" marL="0">
              <a:buNone/>
            </a:pPr>
            <a:r>
              <a:rPr lang="en-US" sz="780" b="1" dirty="0">
                <a:solidFill>
                  <a:srgbClr val="123452"/>
                </a:solidFill>
              </a:rPr>
              <a:t>Single orchestration service</a:t>
            </a:r>
            <a:endParaRPr lang="en-US" sz="780" dirty="0"/>
          </a:p>
        </p:txBody>
      </p:sp>
      <p:sp>
        <p:nvSpPr>
          <p:cNvPr id="34" name="Text 32"/>
          <p:cNvSpPr/>
          <p:nvPr/>
        </p:nvSpPr>
        <p:spPr>
          <a:xfrm>
            <a:off x="2752344" y="3300984"/>
            <a:ext cx="354787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Low</a:t>
            </a:r>
            <a:endParaRPr lang="en-US" sz="780" dirty="0"/>
          </a:p>
        </p:txBody>
      </p:sp>
      <p:sp>
        <p:nvSpPr>
          <p:cNvPr id="35" name="Text 33"/>
          <p:cNvSpPr/>
          <p:nvPr/>
        </p:nvSpPr>
        <p:spPr>
          <a:xfrm>
            <a:off x="6409944" y="3300984"/>
            <a:ext cx="354787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Caller owns all steps; A2A adds ceremony</a:t>
            </a:r>
            <a:endParaRPr lang="en-US" sz="780" dirty="0"/>
          </a:p>
        </p:txBody>
      </p:sp>
      <p:sp>
        <p:nvSpPr>
          <p:cNvPr id="36" name="Text 34"/>
          <p:cNvSpPr/>
          <p:nvPr/>
        </p:nvSpPr>
        <p:spPr>
          <a:xfrm>
            <a:off x="10067544" y="3300984"/>
            <a:ext cx="144475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a:t>
            </a:r>
            <a:endParaRPr lang="en-US" sz="780" dirty="0"/>
          </a:p>
        </p:txBody>
      </p:sp>
      <p:sp>
        <p:nvSpPr>
          <p:cNvPr id="37" name="Shape 35"/>
          <p:cNvSpPr/>
          <p:nvPr/>
        </p:nvSpPr>
        <p:spPr>
          <a:xfrm>
            <a:off x="594360" y="3703320"/>
            <a:ext cx="10972800" cy="475488"/>
          </a:xfrm>
          <a:prstGeom prst="rect">
            <a:avLst/>
          </a:prstGeom>
          <a:solidFill>
            <a:srgbClr val="FFFFFF"/>
          </a:solidFill>
          <a:ln w="6350">
            <a:solidFill>
              <a:srgbClr val="D7E6F2"/>
            </a:solidFill>
            <a:prstDash val="solid"/>
          </a:ln>
        </p:spPr>
      </p:sp>
      <p:sp>
        <p:nvSpPr>
          <p:cNvPr id="38" name="Text 36"/>
          <p:cNvSpPr/>
          <p:nvPr/>
        </p:nvSpPr>
        <p:spPr>
          <a:xfrm>
            <a:off x="649224" y="3776472"/>
            <a:ext cx="1993392" cy="365760"/>
          </a:xfrm>
          <a:prstGeom prst="rect">
            <a:avLst/>
          </a:prstGeom>
          <a:noFill/>
          <a:ln/>
        </p:spPr>
        <p:txBody>
          <a:bodyPr wrap="square" lIns="0" tIns="0" rIns="0" bIns="0" rtlCol="0" anchor="ctr">
            <a:normAutofit/>
          </a:bodyPr>
          <a:lstStyle/>
          <a:p>
            <a:pPr algn="l" indent="0" marL="0">
              <a:buNone/>
            </a:pPr>
            <a:r>
              <a:rPr lang="en-US" sz="780" b="1" dirty="0">
                <a:solidFill>
                  <a:srgbClr val="123452"/>
                </a:solidFill>
              </a:rPr>
              <a:t>Long-running human-in-loop work</a:t>
            </a:r>
            <a:endParaRPr lang="en-US" sz="780" dirty="0"/>
          </a:p>
        </p:txBody>
      </p:sp>
      <p:sp>
        <p:nvSpPr>
          <p:cNvPr id="39" name="Text 37"/>
          <p:cNvSpPr/>
          <p:nvPr/>
        </p:nvSpPr>
        <p:spPr>
          <a:xfrm>
            <a:off x="2752344" y="3776472"/>
            <a:ext cx="354787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High</a:t>
            </a:r>
            <a:endParaRPr lang="en-US" sz="780" dirty="0"/>
          </a:p>
        </p:txBody>
      </p:sp>
      <p:sp>
        <p:nvSpPr>
          <p:cNvPr id="40" name="Text 38"/>
          <p:cNvSpPr/>
          <p:nvPr/>
        </p:nvSpPr>
        <p:spPr>
          <a:xfrm>
            <a:off x="6409944" y="3776472"/>
            <a:ext cx="354787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Task state, streaming, and follow-up support become important</a:t>
            </a:r>
            <a:endParaRPr lang="en-US" sz="780" dirty="0"/>
          </a:p>
        </p:txBody>
      </p:sp>
      <p:sp>
        <p:nvSpPr>
          <p:cNvPr id="41" name="Text 39"/>
          <p:cNvSpPr/>
          <p:nvPr/>
        </p:nvSpPr>
        <p:spPr>
          <a:xfrm>
            <a:off x="10067544" y="3776472"/>
            <a:ext cx="1444752" cy="365760"/>
          </a:xfrm>
          <a:prstGeom prst="rect">
            <a:avLst/>
          </a:prstGeom>
          <a:noFill/>
          <a:ln/>
        </p:spPr>
        <p:txBody>
          <a:bodyPr wrap="square" lIns="0" tIns="0" rIns="0" bIns="0" rtlCol="0" anchor="ctr">
            <a:normAutofit/>
          </a:bodyPr>
          <a:lstStyle/>
          <a:p>
            <a:pPr algn="ctr" indent="0" marL="0">
              <a:buNone/>
            </a:pPr>
            <a:r>
              <a:rPr lang="en-US" sz="780" dirty="0">
                <a:solidFill>
                  <a:srgbClr val="1F2A37"/>
                </a:solidFill>
              </a:rPr>
              <a:t>✅</a:t>
            </a:r>
            <a:endParaRPr lang="en-US" sz="780" dirty="0"/>
          </a:p>
        </p:txBody>
      </p:sp>
      <p:sp>
        <p:nvSpPr>
          <p:cNvPr id="42" name="Shape 40"/>
          <p:cNvSpPr/>
          <p:nvPr/>
        </p:nvSpPr>
        <p:spPr>
          <a:xfrm>
            <a:off x="749808" y="4937760"/>
            <a:ext cx="10469880" cy="658368"/>
          </a:xfrm>
          <a:prstGeom prst="roundRect">
            <a:avLst>
              <a:gd name="adj" fmla="val 6944"/>
            </a:avLst>
          </a:prstGeom>
          <a:solidFill>
            <a:srgbClr val="F7FBFE"/>
          </a:solidFill>
          <a:ln w="12700">
            <a:solidFill>
              <a:srgbClr val="123452"/>
            </a:solidFill>
            <a:prstDash val="solid"/>
          </a:ln>
        </p:spPr>
      </p:sp>
      <p:sp>
        <p:nvSpPr>
          <p:cNvPr id="43" name="Shape 41"/>
          <p:cNvSpPr/>
          <p:nvPr/>
        </p:nvSpPr>
        <p:spPr>
          <a:xfrm>
            <a:off x="749808" y="4937760"/>
            <a:ext cx="73152" cy="658368"/>
          </a:xfrm>
          <a:prstGeom prst="rect">
            <a:avLst/>
          </a:prstGeom>
          <a:solidFill>
            <a:srgbClr val="123452"/>
          </a:solidFill>
          <a:ln w="12700">
            <a:solidFill>
              <a:srgbClr val="123452"/>
            </a:solidFill>
            <a:prstDash val="solid"/>
          </a:ln>
        </p:spPr>
      </p:sp>
      <p:sp>
        <p:nvSpPr>
          <p:cNvPr id="44" name="Text 42"/>
          <p:cNvSpPr/>
          <p:nvPr/>
        </p:nvSpPr>
        <p:spPr>
          <a:xfrm>
            <a:off x="914400" y="5065776"/>
            <a:ext cx="10213848" cy="228600"/>
          </a:xfrm>
          <a:prstGeom prst="rect">
            <a:avLst/>
          </a:prstGeom>
          <a:noFill/>
          <a:ln/>
        </p:spPr>
        <p:txBody>
          <a:bodyPr wrap="square" lIns="0" tIns="0" rIns="0" bIns="0" rtlCol="0" anchor="ctr">
            <a:normAutofit/>
          </a:bodyPr>
          <a:lstStyle/>
          <a:p>
            <a:pPr indent="0" marL="0">
              <a:buNone/>
            </a:pPr>
            <a:r>
              <a:rPr lang="en-US" sz="1280" b="1" dirty="0">
                <a:solidFill>
                  <a:srgbClr val="123452"/>
                </a:solidFill>
              </a:rPr>
              <a:t>Decision rule</a:t>
            </a:r>
            <a:endParaRPr lang="en-US" sz="1280" dirty="0"/>
          </a:p>
        </p:txBody>
      </p:sp>
      <p:sp>
        <p:nvSpPr>
          <p:cNvPr id="45" name="Text 43"/>
          <p:cNvSpPr/>
          <p:nvPr/>
        </p:nvSpPr>
        <p:spPr>
          <a:xfrm>
            <a:off x="914400" y="5394960"/>
            <a:ext cx="10213848" cy="91440"/>
          </a:xfrm>
          <a:prstGeom prst="rect">
            <a:avLst/>
          </a:prstGeom>
          <a:noFill/>
          <a:ln/>
        </p:spPr>
        <p:txBody>
          <a:bodyPr wrap="square" lIns="254" tIns="254" rIns="254" bIns="254" rtlCol="0" anchor="t">
            <a:normAutofit/>
          </a:bodyPr>
          <a:lstStyle/>
          <a:p>
            <a:pPr indent="0" marL="0">
              <a:buNone/>
            </a:pPr>
            <a:r>
              <a:rPr lang="en-US" sz="1230" dirty="0">
                <a:solidFill>
                  <a:srgbClr val="1F2A37"/>
                </a:solidFill>
              </a:rPr>
              <a:t>Choose A2A when the remote system needs to preserve autonomy and manage a task—not merely execute a function.</a:t>
            </a:r>
            <a:endParaRPr lang="en-US" sz="12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446CA8"/>
          </a:solidFill>
          <a:ln w="12700">
            <a:solidFill>
              <a:srgbClr val="446CA8"/>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446CA8"/>
                </a:solidFill>
                <a:latin typeface="Aptos" pitchFamily="34" charset="0"/>
                <a:ea typeface="Aptos" pitchFamily="34" charset="-122"/>
                <a:cs typeface="Aptos" pitchFamily="34" charset="-120"/>
              </a:rPr>
              <a:t>A2A</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A2A security focuses on agent identity, protected cards, credential flow, and scoped artifacts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Sources: A2A docs; Google A2A launch; OWASP LLM Top 10</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24</a:t>
            </a:r>
            <a:endParaRPr lang="en-US" sz="800" dirty="0"/>
          </a:p>
        </p:txBody>
      </p:sp>
      <p:sp>
        <p:nvSpPr>
          <p:cNvPr id="9" name="Shape 7"/>
          <p:cNvSpPr/>
          <p:nvPr/>
        </p:nvSpPr>
        <p:spPr>
          <a:xfrm>
            <a:off x="640080" y="1353312"/>
            <a:ext cx="3200400" cy="1143000"/>
          </a:xfrm>
          <a:prstGeom prst="roundRect">
            <a:avLst>
              <a:gd name="adj" fmla="val 4000"/>
            </a:avLst>
          </a:prstGeom>
          <a:solidFill>
            <a:srgbClr val="F7FBFE"/>
          </a:solidFill>
          <a:ln w="12700">
            <a:solidFill>
              <a:srgbClr val="446CA8"/>
            </a:solidFill>
            <a:prstDash val="solid"/>
          </a:ln>
        </p:spPr>
      </p:sp>
      <p:sp>
        <p:nvSpPr>
          <p:cNvPr id="10" name="Shape 8"/>
          <p:cNvSpPr/>
          <p:nvPr/>
        </p:nvSpPr>
        <p:spPr>
          <a:xfrm>
            <a:off x="640080" y="1353312"/>
            <a:ext cx="73152" cy="1143000"/>
          </a:xfrm>
          <a:prstGeom prst="rect">
            <a:avLst/>
          </a:prstGeom>
          <a:solidFill>
            <a:srgbClr val="446CA8"/>
          </a:solidFill>
          <a:ln w="12700">
            <a:solidFill>
              <a:srgbClr val="446CA8"/>
            </a:solidFill>
            <a:prstDash val="solid"/>
          </a:ln>
        </p:spPr>
      </p:sp>
      <p:sp>
        <p:nvSpPr>
          <p:cNvPr id="11" name="Text 9"/>
          <p:cNvSpPr/>
          <p:nvPr/>
        </p:nvSpPr>
        <p:spPr>
          <a:xfrm>
            <a:off x="804672" y="1481328"/>
            <a:ext cx="294436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Agent discovery</a:t>
            </a:r>
            <a:endParaRPr lang="en-US" sz="1300" dirty="0"/>
          </a:p>
        </p:txBody>
      </p:sp>
      <p:sp>
        <p:nvSpPr>
          <p:cNvPr id="12" name="Text 10"/>
          <p:cNvSpPr/>
          <p:nvPr/>
        </p:nvSpPr>
        <p:spPr>
          <a:xfrm>
            <a:off x="804672" y="1810512"/>
            <a:ext cx="2944368" cy="57607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Protect sensitive Agent Cards; avoid leaking internal URLs, skills, or auth requirements to unauthorized callers.</a:t>
            </a:r>
            <a:endParaRPr lang="en-US" sz="1080" dirty="0"/>
          </a:p>
        </p:txBody>
      </p:sp>
      <p:sp>
        <p:nvSpPr>
          <p:cNvPr id="13" name="Shape 11"/>
          <p:cNvSpPr/>
          <p:nvPr/>
        </p:nvSpPr>
        <p:spPr>
          <a:xfrm>
            <a:off x="4434840" y="1353312"/>
            <a:ext cx="3200400" cy="1143000"/>
          </a:xfrm>
          <a:prstGeom prst="roundRect">
            <a:avLst>
              <a:gd name="adj" fmla="val 4000"/>
            </a:avLst>
          </a:prstGeom>
          <a:solidFill>
            <a:srgbClr val="F7FBFE"/>
          </a:solidFill>
          <a:ln w="12700">
            <a:solidFill>
              <a:srgbClr val="2F79B7"/>
            </a:solidFill>
            <a:prstDash val="solid"/>
          </a:ln>
        </p:spPr>
      </p:sp>
      <p:sp>
        <p:nvSpPr>
          <p:cNvPr id="14" name="Shape 12"/>
          <p:cNvSpPr/>
          <p:nvPr/>
        </p:nvSpPr>
        <p:spPr>
          <a:xfrm>
            <a:off x="4434840" y="1353312"/>
            <a:ext cx="73152" cy="1143000"/>
          </a:xfrm>
          <a:prstGeom prst="rect">
            <a:avLst/>
          </a:prstGeom>
          <a:solidFill>
            <a:srgbClr val="2F79B7"/>
          </a:solidFill>
          <a:ln w="12700">
            <a:solidFill>
              <a:srgbClr val="2F79B7"/>
            </a:solidFill>
            <a:prstDash val="solid"/>
          </a:ln>
        </p:spPr>
      </p:sp>
      <p:sp>
        <p:nvSpPr>
          <p:cNvPr id="15" name="Text 13"/>
          <p:cNvSpPr/>
          <p:nvPr/>
        </p:nvSpPr>
        <p:spPr>
          <a:xfrm>
            <a:off x="4599432" y="1481328"/>
            <a:ext cx="2944368" cy="228600"/>
          </a:xfrm>
          <a:prstGeom prst="rect">
            <a:avLst/>
          </a:prstGeom>
          <a:noFill/>
          <a:ln/>
        </p:spPr>
        <p:txBody>
          <a:bodyPr wrap="square" lIns="0" tIns="0" rIns="0" bIns="0" rtlCol="0" anchor="ctr">
            <a:normAutofit/>
          </a:bodyPr>
          <a:lstStyle/>
          <a:p>
            <a:pPr indent="0" marL="0">
              <a:buNone/>
            </a:pPr>
            <a:r>
              <a:rPr lang="en-US" sz="1300" b="1" dirty="0">
                <a:solidFill>
                  <a:srgbClr val="2F79B7"/>
                </a:solidFill>
              </a:rPr>
              <a:t>Authentication</a:t>
            </a:r>
            <a:endParaRPr lang="en-US" sz="1300" dirty="0"/>
          </a:p>
        </p:txBody>
      </p:sp>
      <p:sp>
        <p:nvSpPr>
          <p:cNvPr id="16" name="Text 14"/>
          <p:cNvSpPr/>
          <p:nvPr/>
        </p:nvSpPr>
        <p:spPr>
          <a:xfrm>
            <a:off x="4599432" y="1810512"/>
            <a:ext cx="2944368" cy="57607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Use standard web security practices such as OAuth, bearer tokens, mTLS, and network access controls.</a:t>
            </a:r>
            <a:endParaRPr lang="en-US" sz="1080" dirty="0"/>
          </a:p>
        </p:txBody>
      </p:sp>
      <p:sp>
        <p:nvSpPr>
          <p:cNvPr id="17" name="Shape 15"/>
          <p:cNvSpPr/>
          <p:nvPr/>
        </p:nvSpPr>
        <p:spPr>
          <a:xfrm>
            <a:off x="8229600" y="1353312"/>
            <a:ext cx="3200400" cy="1143000"/>
          </a:xfrm>
          <a:prstGeom prst="roundRect">
            <a:avLst>
              <a:gd name="adj" fmla="val 4000"/>
            </a:avLst>
          </a:prstGeom>
          <a:solidFill>
            <a:srgbClr val="F7FBFE"/>
          </a:solidFill>
          <a:ln w="12700">
            <a:solidFill>
              <a:srgbClr val="D99A3D"/>
            </a:solidFill>
            <a:prstDash val="solid"/>
          </a:ln>
        </p:spPr>
      </p:sp>
      <p:sp>
        <p:nvSpPr>
          <p:cNvPr id="18" name="Shape 16"/>
          <p:cNvSpPr/>
          <p:nvPr/>
        </p:nvSpPr>
        <p:spPr>
          <a:xfrm>
            <a:off x="8229600" y="1353312"/>
            <a:ext cx="73152" cy="1143000"/>
          </a:xfrm>
          <a:prstGeom prst="rect">
            <a:avLst/>
          </a:prstGeom>
          <a:solidFill>
            <a:srgbClr val="D99A3D"/>
          </a:solidFill>
          <a:ln w="12700">
            <a:solidFill>
              <a:srgbClr val="D99A3D"/>
            </a:solidFill>
            <a:prstDash val="solid"/>
          </a:ln>
        </p:spPr>
      </p:sp>
      <p:sp>
        <p:nvSpPr>
          <p:cNvPr id="19" name="Text 17"/>
          <p:cNvSpPr/>
          <p:nvPr/>
        </p:nvSpPr>
        <p:spPr>
          <a:xfrm>
            <a:off x="8394192" y="1481328"/>
            <a:ext cx="2944368" cy="228600"/>
          </a:xfrm>
          <a:prstGeom prst="rect">
            <a:avLst/>
          </a:prstGeom>
          <a:noFill/>
          <a:ln/>
        </p:spPr>
        <p:txBody>
          <a:bodyPr wrap="square" lIns="0" tIns="0" rIns="0" bIns="0" rtlCol="0" anchor="ctr">
            <a:normAutofit/>
          </a:bodyPr>
          <a:lstStyle/>
          <a:p>
            <a:pPr indent="0" marL="0">
              <a:buNone/>
            </a:pPr>
            <a:r>
              <a:rPr lang="en-US" sz="1300" b="1" dirty="0">
                <a:solidFill>
                  <a:srgbClr val="D99A3D"/>
                </a:solidFill>
              </a:rPr>
              <a:t>Artifact handling</a:t>
            </a:r>
            <a:endParaRPr lang="en-US" sz="1300" dirty="0"/>
          </a:p>
        </p:txBody>
      </p:sp>
      <p:sp>
        <p:nvSpPr>
          <p:cNvPr id="20" name="Text 18"/>
          <p:cNvSpPr/>
          <p:nvPr/>
        </p:nvSpPr>
        <p:spPr>
          <a:xfrm>
            <a:off x="8394192" y="1810512"/>
            <a:ext cx="2944368" cy="57607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Classify outputs, enforce data boundaries, store provenance, and make artifact retrieval auditable.</a:t>
            </a:r>
            <a:endParaRPr lang="en-US" sz="1080" dirty="0"/>
          </a:p>
        </p:txBody>
      </p:sp>
      <p:sp>
        <p:nvSpPr>
          <p:cNvPr id="21" name="Text 19"/>
          <p:cNvSpPr/>
          <p:nvPr/>
        </p:nvSpPr>
        <p:spPr>
          <a:xfrm>
            <a:off x="658368" y="3063240"/>
            <a:ext cx="4754880" cy="274320"/>
          </a:xfrm>
          <a:prstGeom prst="rect">
            <a:avLst/>
          </a:prstGeom>
          <a:noFill/>
          <a:ln/>
        </p:spPr>
        <p:txBody>
          <a:bodyPr wrap="square" lIns="0" tIns="0" rIns="0" bIns="0" rtlCol="0" anchor="ctr"/>
          <a:lstStyle/>
          <a:p>
            <a:pPr indent="0" marL="0">
              <a:buNone/>
            </a:pPr>
            <a:r>
              <a:rPr lang="en-US" sz="1600" b="1" dirty="0">
                <a:solidFill>
                  <a:srgbClr val="123452"/>
                </a:solidFill>
              </a:rPr>
              <a:t>Governance controls to show in the demo</a:t>
            </a:r>
            <a:endParaRPr lang="en-US" sz="1600" dirty="0"/>
          </a:p>
        </p:txBody>
      </p:sp>
      <p:sp>
        <p:nvSpPr>
          <p:cNvPr id="22" name="Text 20"/>
          <p:cNvSpPr/>
          <p:nvPr/>
        </p:nvSpPr>
        <p:spPr>
          <a:xfrm>
            <a:off x="749808" y="3502152"/>
            <a:ext cx="9875520" cy="1600200"/>
          </a:xfrm>
          <a:prstGeom prst="rect">
            <a:avLst/>
          </a:prstGeom>
          <a:noFill/>
          <a:ln/>
        </p:spPr>
        <p:txBody>
          <a:bodyPr wrap="square" lIns="508" tIns="508" rIns="508" bIns="508" rtlCol="0" anchor="t">
            <a:normAutofit/>
          </a:bodyPr>
          <a:lstStyle/>
          <a:p>
            <a:r>
              <a:rPr lang="en-US" sz="1300" dirty="0">
                <a:solidFill>
                  <a:srgbClr val="1F2A37"/>
                </a:solidFill>
              </a:rPr>
              <a:t>Show the Agent Card before calling the agent; highlight capabilities and auth expectations</a:t>
            </a:r>
            <a:endParaRPr lang="en-US" sz="1300" dirty="0"/>
          </a:p>
          <a:p>
            <a:r>
              <a:rPr lang="en-US" sz="1300" dirty="0">
                <a:solidFill>
                  <a:srgbClr val="1F2A37"/>
                </a:solidFill>
              </a:rPr>
              <a:t>Track task ID, status transitions, agent identity, messages, artifacts, and timestamps</a:t>
            </a:r>
            <a:endParaRPr lang="en-US" sz="1300" dirty="0"/>
          </a:p>
          <a:p>
            <a:r>
              <a:rPr lang="en-US" sz="1300" dirty="0">
                <a:solidFill>
                  <a:srgbClr val="1F2A37"/>
                </a:solidFill>
              </a:rPr>
              <a:t>Separate messages from artifacts; persist deliverables with provenance and policy labels</a:t>
            </a:r>
            <a:endParaRPr lang="en-US" sz="1300" dirty="0"/>
          </a:p>
          <a:p>
            <a:r>
              <a:rPr lang="en-US" sz="1300" dirty="0">
                <a:solidFill>
                  <a:srgbClr val="1F2A37"/>
                </a:solidFill>
              </a:rPr>
              <a:t>Limit delegated authority: a remote agent can recommend; high-risk actions require caller approval</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446CA8"/>
          </a:solidFill>
          <a:ln w="12700">
            <a:solidFill>
              <a:srgbClr val="446CA8"/>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446CA8"/>
                </a:solidFill>
                <a:latin typeface="Aptos" pitchFamily="34" charset="0"/>
                <a:ea typeface="Aptos" pitchFamily="34" charset="-122"/>
                <a:cs typeface="Aptos" pitchFamily="34" charset="-120"/>
              </a:rPr>
              <a:t>A2A</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In the demo, A2A shows delegation to specialist agents and task-level artifacts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25</a:t>
            </a:r>
            <a:endParaRPr lang="en-US" sz="800" dirty="0"/>
          </a:p>
        </p:txBody>
      </p:sp>
      <p:sp>
        <p:nvSpPr>
          <p:cNvPr id="9" name="Text 7"/>
          <p:cNvSpPr/>
          <p:nvPr/>
        </p:nvSpPr>
        <p:spPr>
          <a:xfrm>
            <a:off x="658368" y="1417320"/>
            <a:ext cx="2743200" cy="274320"/>
          </a:xfrm>
          <a:prstGeom prst="rect">
            <a:avLst/>
          </a:prstGeom>
          <a:noFill/>
          <a:ln/>
        </p:spPr>
        <p:txBody>
          <a:bodyPr wrap="square" lIns="0" tIns="0" rIns="0" bIns="0" rtlCol="0" anchor="ctr"/>
          <a:lstStyle/>
          <a:p>
            <a:pPr indent="0" marL="0">
              <a:buNone/>
            </a:pPr>
            <a:r>
              <a:rPr lang="en-US" sz="1700" b="1" dirty="0">
                <a:solidFill>
                  <a:srgbClr val="123452"/>
                </a:solidFill>
              </a:rPr>
              <a:t>A2A demo path</a:t>
            </a:r>
            <a:endParaRPr lang="en-US" sz="1700" dirty="0"/>
          </a:p>
        </p:txBody>
      </p:sp>
      <p:sp>
        <p:nvSpPr>
          <p:cNvPr id="10" name="Shape 8"/>
          <p:cNvSpPr/>
          <p:nvPr/>
        </p:nvSpPr>
        <p:spPr>
          <a:xfrm>
            <a:off x="685800" y="2240280"/>
            <a:ext cx="2468880" cy="1097280"/>
          </a:xfrm>
          <a:prstGeom prst="roundRect">
            <a:avLst>
              <a:gd name="adj" fmla="val 6667"/>
            </a:avLst>
          </a:prstGeom>
          <a:solidFill>
            <a:srgbClr val="FFFFFF"/>
          </a:solidFill>
          <a:ln w="19050">
            <a:solidFill>
              <a:srgbClr val="123452"/>
            </a:solidFill>
            <a:prstDash val="solid"/>
          </a:ln>
        </p:spPr>
      </p:sp>
      <p:sp>
        <p:nvSpPr>
          <p:cNvPr id="11" name="Text 9"/>
          <p:cNvSpPr/>
          <p:nvPr/>
        </p:nvSpPr>
        <p:spPr>
          <a:xfrm>
            <a:off x="822960" y="2487168"/>
            <a:ext cx="2194560" cy="210312"/>
          </a:xfrm>
          <a:prstGeom prst="rect">
            <a:avLst/>
          </a:prstGeom>
          <a:noFill/>
          <a:ln/>
        </p:spPr>
        <p:txBody>
          <a:bodyPr wrap="square" lIns="0" tIns="0" rIns="0" bIns="0" rtlCol="0" anchor="ctr">
            <a:normAutofit/>
          </a:bodyPr>
          <a:lstStyle/>
          <a:p>
            <a:pPr algn="ctr" indent="0" marL="0">
              <a:buNone/>
            </a:pPr>
            <a:r>
              <a:rPr lang="en-US" sz="1380" b="1" dirty="0">
                <a:solidFill>
                  <a:srgbClr val="123452"/>
                </a:solidFill>
              </a:rPr>
              <a:t>Orchestrator agent</a:t>
            </a:r>
            <a:endParaRPr lang="en-US" sz="1380" dirty="0"/>
          </a:p>
        </p:txBody>
      </p:sp>
      <p:sp>
        <p:nvSpPr>
          <p:cNvPr id="12" name="Text 10"/>
          <p:cNvSpPr/>
          <p:nvPr/>
        </p:nvSpPr>
        <p:spPr>
          <a:xfrm>
            <a:off x="822960" y="2834640"/>
            <a:ext cx="2194560" cy="201168"/>
          </a:xfrm>
          <a:prstGeom prst="rect">
            <a:avLst/>
          </a:prstGeom>
          <a:noFill/>
          <a:ln/>
        </p:spPr>
        <p:txBody>
          <a:bodyPr wrap="square" lIns="0" tIns="0" rIns="0" bIns="0" rtlCol="0" anchor="ctr">
            <a:normAutofit/>
          </a:bodyPr>
          <a:lstStyle/>
          <a:p>
            <a:pPr algn="ctr" indent="0" marL="0">
              <a:buNone/>
            </a:pPr>
            <a:r>
              <a:rPr lang="en-US" sz="970" dirty="0">
                <a:solidFill>
                  <a:srgbClr val="617184"/>
                </a:solidFill>
              </a:rPr>
              <a:t>receives renewal goal</a:t>
            </a:r>
            <a:endParaRPr lang="en-US" sz="970" dirty="0"/>
          </a:p>
        </p:txBody>
      </p:sp>
      <p:sp>
        <p:nvSpPr>
          <p:cNvPr id="13" name="Shape 11"/>
          <p:cNvSpPr/>
          <p:nvPr/>
        </p:nvSpPr>
        <p:spPr>
          <a:xfrm>
            <a:off x="3520440" y="2240280"/>
            <a:ext cx="2468880" cy="1097280"/>
          </a:xfrm>
          <a:prstGeom prst="roundRect">
            <a:avLst>
              <a:gd name="adj" fmla="val 6667"/>
            </a:avLst>
          </a:prstGeom>
          <a:solidFill>
            <a:srgbClr val="FFFFFF"/>
          </a:solidFill>
          <a:ln w="19050">
            <a:solidFill>
              <a:srgbClr val="446CA8"/>
            </a:solidFill>
            <a:prstDash val="solid"/>
          </a:ln>
        </p:spPr>
      </p:sp>
      <p:sp>
        <p:nvSpPr>
          <p:cNvPr id="14" name="Text 12"/>
          <p:cNvSpPr/>
          <p:nvPr/>
        </p:nvSpPr>
        <p:spPr>
          <a:xfrm>
            <a:off x="3657600" y="2487168"/>
            <a:ext cx="2194560" cy="210312"/>
          </a:xfrm>
          <a:prstGeom prst="rect">
            <a:avLst/>
          </a:prstGeom>
          <a:noFill/>
          <a:ln/>
        </p:spPr>
        <p:txBody>
          <a:bodyPr wrap="square" lIns="0" tIns="0" rIns="0" bIns="0" rtlCol="0" anchor="ctr">
            <a:normAutofit/>
          </a:bodyPr>
          <a:lstStyle/>
          <a:p>
            <a:pPr algn="ctr" indent="0" marL="0">
              <a:buNone/>
            </a:pPr>
            <a:r>
              <a:rPr lang="en-US" sz="1380" b="1" dirty="0">
                <a:solidFill>
                  <a:srgbClr val="446CA8"/>
                </a:solidFill>
              </a:rPr>
              <a:t>A2A task</a:t>
            </a:r>
            <a:endParaRPr lang="en-US" sz="1380" dirty="0"/>
          </a:p>
        </p:txBody>
      </p:sp>
      <p:sp>
        <p:nvSpPr>
          <p:cNvPr id="15" name="Text 13"/>
          <p:cNvSpPr/>
          <p:nvPr/>
        </p:nvSpPr>
        <p:spPr>
          <a:xfrm>
            <a:off x="3657600" y="2834640"/>
            <a:ext cx="2194560" cy="201168"/>
          </a:xfrm>
          <a:prstGeom prst="rect">
            <a:avLst/>
          </a:prstGeom>
          <a:noFill/>
          <a:ln/>
        </p:spPr>
        <p:txBody>
          <a:bodyPr wrap="square" lIns="0" tIns="0" rIns="0" bIns="0" rtlCol="0" anchor="ctr">
            <a:normAutofit/>
          </a:bodyPr>
          <a:lstStyle/>
          <a:p>
            <a:pPr algn="ctr" indent="0" marL="0">
              <a:buNone/>
            </a:pPr>
            <a:r>
              <a:rPr lang="en-US" sz="970" dirty="0">
                <a:solidFill>
                  <a:srgbClr val="617184"/>
                </a:solidFill>
              </a:rPr>
              <a:t>delegate + track</a:t>
            </a:r>
            <a:endParaRPr lang="en-US" sz="970" dirty="0"/>
          </a:p>
        </p:txBody>
      </p:sp>
      <p:sp>
        <p:nvSpPr>
          <p:cNvPr id="16" name="Shape 14"/>
          <p:cNvSpPr/>
          <p:nvPr/>
        </p:nvSpPr>
        <p:spPr>
          <a:xfrm>
            <a:off x="7086600" y="1874520"/>
            <a:ext cx="2286000" cy="438912"/>
          </a:xfrm>
          <a:prstGeom prst="roundRect">
            <a:avLst>
              <a:gd name="adj" fmla="val 10417"/>
            </a:avLst>
          </a:prstGeom>
          <a:solidFill>
            <a:srgbClr val="FFFFFF"/>
          </a:solidFill>
          <a:ln w="15240">
            <a:solidFill>
              <a:srgbClr val="446CA8"/>
            </a:solidFill>
            <a:prstDash val="solid"/>
          </a:ln>
        </p:spPr>
      </p:sp>
      <p:sp>
        <p:nvSpPr>
          <p:cNvPr id="17" name="Text 15"/>
          <p:cNvSpPr/>
          <p:nvPr/>
        </p:nvSpPr>
        <p:spPr>
          <a:xfrm>
            <a:off x="7269480" y="2002536"/>
            <a:ext cx="1920240" cy="137160"/>
          </a:xfrm>
          <a:prstGeom prst="rect">
            <a:avLst/>
          </a:prstGeom>
          <a:noFill/>
          <a:ln/>
        </p:spPr>
        <p:txBody>
          <a:bodyPr wrap="square" lIns="0" tIns="0" rIns="0" bIns="0" rtlCol="0" anchor="ctr">
            <a:normAutofit/>
          </a:bodyPr>
          <a:lstStyle/>
          <a:p>
            <a:pPr algn="ctr" indent="0" marL="0">
              <a:buNone/>
            </a:pPr>
            <a:r>
              <a:rPr lang="en-US" sz="1050" b="1" dirty="0">
                <a:solidFill>
                  <a:srgbClr val="446CA8"/>
                </a:solidFill>
              </a:rPr>
              <a:t>Billing agent</a:t>
            </a:r>
            <a:endParaRPr lang="en-US" sz="1050" dirty="0"/>
          </a:p>
        </p:txBody>
      </p:sp>
      <p:sp>
        <p:nvSpPr>
          <p:cNvPr id="18" name="Shape 16"/>
          <p:cNvSpPr/>
          <p:nvPr/>
        </p:nvSpPr>
        <p:spPr>
          <a:xfrm>
            <a:off x="7086600" y="2560320"/>
            <a:ext cx="2286000" cy="438912"/>
          </a:xfrm>
          <a:prstGeom prst="roundRect">
            <a:avLst>
              <a:gd name="adj" fmla="val 10417"/>
            </a:avLst>
          </a:prstGeom>
          <a:solidFill>
            <a:srgbClr val="FFFFFF"/>
          </a:solidFill>
          <a:ln w="15240">
            <a:solidFill>
              <a:srgbClr val="446CA8"/>
            </a:solidFill>
            <a:prstDash val="solid"/>
          </a:ln>
        </p:spPr>
      </p:sp>
      <p:sp>
        <p:nvSpPr>
          <p:cNvPr id="19" name="Text 17"/>
          <p:cNvSpPr/>
          <p:nvPr/>
        </p:nvSpPr>
        <p:spPr>
          <a:xfrm>
            <a:off x="7269480" y="2688336"/>
            <a:ext cx="1920240" cy="137160"/>
          </a:xfrm>
          <a:prstGeom prst="rect">
            <a:avLst/>
          </a:prstGeom>
          <a:noFill/>
          <a:ln/>
        </p:spPr>
        <p:txBody>
          <a:bodyPr wrap="square" lIns="0" tIns="0" rIns="0" bIns="0" rtlCol="0" anchor="ctr">
            <a:normAutofit/>
          </a:bodyPr>
          <a:lstStyle/>
          <a:p>
            <a:pPr algn="ctr" indent="0" marL="0">
              <a:buNone/>
            </a:pPr>
            <a:r>
              <a:rPr lang="en-US" sz="1050" b="1" dirty="0">
                <a:solidFill>
                  <a:srgbClr val="446CA8"/>
                </a:solidFill>
              </a:rPr>
              <a:t>Support agent</a:t>
            </a:r>
            <a:endParaRPr lang="en-US" sz="1050" dirty="0"/>
          </a:p>
        </p:txBody>
      </p:sp>
      <p:sp>
        <p:nvSpPr>
          <p:cNvPr id="20" name="Shape 18"/>
          <p:cNvSpPr/>
          <p:nvPr/>
        </p:nvSpPr>
        <p:spPr>
          <a:xfrm>
            <a:off x="7086600" y="3246120"/>
            <a:ext cx="2286000" cy="438912"/>
          </a:xfrm>
          <a:prstGeom prst="roundRect">
            <a:avLst>
              <a:gd name="adj" fmla="val 10417"/>
            </a:avLst>
          </a:prstGeom>
          <a:solidFill>
            <a:srgbClr val="FFFFFF"/>
          </a:solidFill>
          <a:ln w="15240">
            <a:solidFill>
              <a:srgbClr val="446CA8"/>
            </a:solidFill>
            <a:prstDash val="solid"/>
          </a:ln>
        </p:spPr>
      </p:sp>
      <p:sp>
        <p:nvSpPr>
          <p:cNvPr id="21" name="Text 19"/>
          <p:cNvSpPr/>
          <p:nvPr/>
        </p:nvSpPr>
        <p:spPr>
          <a:xfrm>
            <a:off x="7269480" y="3374136"/>
            <a:ext cx="1920240" cy="137160"/>
          </a:xfrm>
          <a:prstGeom prst="rect">
            <a:avLst/>
          </a:prstGeom>
          <a:noFill/>
          <a:ln/>
        </p:spPr>
        <p:txBody>
          <a:bodyPr wrap="square" lIns="0" tIns="0" rIns="0" bIns="0" rtlCol="0" anchor="ctr">
            <a:normAutofit/>
          </a:bodyPr>
          <a:lstStyle/>
          <a:p>
            <a:pPr algn="ctr" indent="0" marL="0">
              <a:buNone/>
            </a:pPr>
            <a:r>
              <a:rPr lang="en-US" sz="1050" b="1" dirty="0">
                <a:solidFill>
                  <a:srgbClr val="446CA8"/>
                </a:solidFill>
              </a:rPr>
              <a:t>Legal agent</a:t>
            </a:r>
            <a:endParaRPr lang="en-US" sz="1050" dirty="0"/>
          </a:p>
        </p:txBody>
      </p:sp>
      <p:sp>
        <p:nvSpPr>
          <p:cNvPr id="22" name="Shape 20"/>
          <p:cNvSpPr/>
          <p:nvPr/>
        </p:nvSpPr>
        <p:spPr>
          <a:xfrm>
            <a:off x="10012680" y="2377440"/>
            <a:ext cx="1234440" cy="960120"/>
          </a:xfrm>
          <a:prstGeom prst="roundRect">
            <a:avLst>
              <a:gd name="adj" fmla="val 5714"/>
            </a:avLst>
          </a:prstGeom>
          <a:solidFill>
            <a:srgbClr val="D99A3D">
              <a:alpha val="90000"/>
            </a:srgbClr>
          </a:solidFill>
          <a:ln w="15240">
            <a:solidFill>
              <a:srgbClr val="D99A3D"/>
            </a:solidFill>
            <a:prstDash val="solid"/>
          </a:ln>
        </p:spPr>
      </p:sp>
      <p:sp>
        <p:nvSpPr>
          <p:cNvPr id="23" name="Text 21"/>
          <p:cNvSpPr/>
          <p:nvPr/>
        </p:nvSpPr>
        <p:spPr>
          <a:xfrm>
            <a:off x="10131552" y="2670048"/>
            <a:ext cx="1005840" cy="274320"/>
          </a:xfrm>
          <a:prstGeom prst="rect">
            <a:avLst/>
          </a:prstGeom>
          <a:noFill/>
          <a:ln/>
        </p:spPr>
        <p:txBody>
          <a:bodyPr wrap="square" lIns="0" tIns="0" rIns="0" bIns="0" rtlCol="0" anchor="ctr">
            <a:normAutofit/>
          </a:bodyPr>
          <a:lstStyle/>
          <a:p>
            <a:pPr algn="ctr" indent="0" marL="0">
              <a:buNone/>
            </a:pPr>
            <a:r>
              <a:rPr lang="en-US" sz="1100" b="1" dirty="0">
                <a:solidFill>
                  <a:srgbClr val="D99A3D"/>
                </a:solidFill>
              </a:rPr>
              <a:t>Artifact</a:t>
            </a:r>
            <a:endParaRPr lang="en-US" sz="1100" dirty="0"/>
          </a:p>
          <a:p>
            <a:pPr algn="ctr" indent="0" marL="0">
              <a:buNone/>
            </a:pPr>
            <a:r>
              <a:rPr lang="en-US" sz="1100" b="1" dirty="0">
                <a:solidFill>
                  <a:srgbClr val="D99A3D"/>
                </a:solidFill>
              </a:rPr>
              <a:t>report</a:t>
            </a:r>
            <a:endParaRPr lang="en-US" sz="1100" dirty="0"/>
          </a:p>
        </p:txBody>
      </p:sp>
      <p:sp>
        <p:nvSpPr>
          <p:cNvPr id="24" name="Shape 22"/>
          <p:cNvSpPr/>
          <p:nvPr/>
        </p:nvSpPr>
        <p:spPr>
          <a:xfrm>
            <a:off x="731520" y="4224528"/>
            <a:ext cx="3383280" cy="1005840"/>
          </a:xfrm>
          <a:prstGeom prst="roundRect">
            <a:avLst>
              <a:gd name="adj" fmla="val 4545"/>
            </a:avLst>
          </a:prstGeom>
          <a:solidFill>
            <a:srgbClr val="F7FBFE"/>
          </a:solidFill>
          <a:ln w="12700">
            <a:solidFill>
              <a:srgbClr val="446CA8"/>
            </a:solidFill>
            <a:prstDash val="solid"/>
          </a:ln>
        </p:spPr>
      </p:sp>
      <p:sp>
        <p:nvSpPr>
          <p:cNvPr id="25" name="Shape 23"/>
          <p:cNvSpPr/>
          <p:nvPr/>
        </p:nvSpPr>
        <p:spPr>
          <a:xfrm>
            <a:off x="731520" y="4224528"/>
            <a:ext cx="73152" cy="1005840"/>
          </a:xfrm>
          <a:prstGeom prst="rect">
            <a:avLst/>
          </a:prstGeom>
          <a:solidFill>
            <a:srgbClr val="446CA8"/>
          </a:solidFill>
          <a:ln w="12700">
            <a:solidFill>
              <a:srgbClr val="446CA8"/>
            </a:solidFill>
            <a:prstDash val="solid"/>
          </a:ln>
        </p:spPr>
      </p:sp>
      <p:sp>
        <p:nvSpPr>
          <p:cNvPr id="26" name="Text 24"/>
          <p:cNvSpPr/>
          <p:nvPr/>
        </p:nvSpPr>
        <p:spPr>
          <a:xfrm>
            <a:off x="896112" y="4352544"/>
            <a:ext cx="312724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What audience sees</a:t>
            </a:r>
            <a:endParaRPr lang="en-US" sz="1300" dirty="0"/>
          </a:p>
        </p:txBody>
      </p:sp>
      <p:sp>
        <p:nvSpPr>
          <p:cNvPr id="27" name="Text 25"/>
          <p:cNvSpPr/>
          <p:nvPr/>
        </p:nvSpPr>
        <p:spPr>
          <a:xfrm>
            <a:off x="896112" y="4681728"/>
            <a:ext cx="3127248" cy="438912"/>
          </a:xfrm>
          <a:prstGeom prst="rect">
            <a:avLst/>
          </a:prstGeom>
          <a:noFill/>
          <a:ln/>
        </p:spPr>
        <p:txBody>
          <a:bodyPr wrap="square" lIns="254" tIns="254" rIns="254" bIns="254" rtlCol="0" anchor="t">
            <a:normAutofit/>
          </a:bodyPr>
          <a:lstStyle/>
          <a:p>
            <a:pPr indent="0" marL="0">
              <a:buNone/>
            </a:pPr>
            <a:r>
              <a:rPr lang="en-US" sz="1130" dirty="0">
                <a:solidFill>
                  <a:srgbClr val="1F2A37"/>
                </a:solidFill>
              </a:rPr>
              <a:t>Specialists accept tasks, ask questions, return artifacts, and preserve status.</a:t>
            </a:r>
            <a:endParaRPr lang="en-US" sz="1130" dirty="0"/>
          </a:p>
        </p:txBody>
      </p:sp>
      <p:sp>
        <p:nvSpPr>
          <p:cNvPr id="28" name="Shape 26"/>
          <p:cNvSpPr/>
          <p:nvPr/>
        </p:nvSpPr>
        <p:spPr>
          <a:xfrm>
            <a:off x="4434840" y="4224528"/>
            <a:ext cx="3383280" cy="1005840"/>
          </a:xfrm>
          <a:prstGeom prst="roundRect">
            <a:avLst>
              <a:gd name="adj" fmla="val 4545"/>
            </a:avLst>
          </a:prstGeom>
          <a:solidFill>
            <a:srgbClr val="F7FBFE"/>
          </a:solidFill>
          <a:ln w="12700">
            <a:solidFill>
              <a:srgbClr val="123452"/>
            </a:solidFill>
            <a:prstDash val="solid"/>
          </a:ln>
        </p:spPr>
      </p:sp>
      <p:sp>
        <p:nvSpPr>
          <p:cNvPr id="29" name="Shape 27"/>
          <p:cNvSpPr/>
          <p:nvPr/>
        </p:nvSpPr>
        <p:spPr>
          <a:xfrm>
            <a:off x="4434840" y="4224528"/>
            <a:ext cx="73152" cy="1005840"/>
          </a:xfrm>
          <a:prstGeom prst="rect">
            <a:avLst/>
          </a:prstGeom>
          <a:solidFill>
            <a:srgbClr val="123452"/>
          </a:solidFill>
          <a:ln w="12700">
            <a:solidFill>
              <a:srgbClr val="123452"/>
            </a:solidFill>
            <a:prstDash val="solid"/>
          </a:ln>
        </p:spPr>
      </p:sp>
      <p:sp>
        <p:nvSpPr>
          <p:cNvPr id="30" name="Text 28"/>
          <p:cNvSpPr/>
          <p:nvPr/>
        </p:nvSpPr>
        <p:spPr>
          <a:xfrm>
            <a:off x="4599432" y="4352544"/>
            <a:ext cx="312724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What it proves</a:t>
            </a:r>
            <a:endParaRPr lang="en-US" sz="1300" dirty="0"/>
          </a:p>
        </p:txBody>
      </p:sp>
      <p:sp>
        <p:nvSpPr>
          <p:cNvPr id="31" name="Text 29"/>
          <p:cNvSpPr/>
          <p:nvPr/>
        </p:nvSpPr>
        <p:spPr>
          <a:xfrm>
            <a:off x="4599432" y="4681728"/>
            <a:ext cx="3127248" cy="438912"/>
          </a:xfrm>
          <a:prstGeom prst="rect">
            <a:avLst/>
          </a:prstGeom>
          <a:noFill/>
          <a:ln/>
        </p:spPr>
        <p:txBody>
          <a:bodyPr wrap="square" lIns="254" tIns="254" rIns="254" bIns="254" rtlCol="0" anchor="t">
            <a:normAutofit/>
          </a:bodyPr>
          <a:lstStyle/>
          <a:p>
            <a:pPr indent="0" marL="0">
              <a:buNone/>
            </a:pPr>
            <a:r>
              <a:rPr lang="en-US" sz="1130" dirty="0">
                <a:solidFill>
                  <a:srgbClr val="1F2A37"/>
                </a:solidFill>
              </a:rPr>
              <a:t>A2A is about collaboration and delegation, not just model tool use.</a:t>
            </a:r>
            <a:endParaRPr lang="en-US" sz="1130" dirty="0"/>
          </a:p>
        </p:txBody>
      </p:sp>
      <p:sp>
        <p:nvSpPr>
          <p:cNvPr id="32" name="Shape 30"/>
          <p:cNvSpPr/>
          <p:nvPr/>
        </p:nvSpPr>
        <p:spPr>
          <a:xfrm>
            <a:off x="8138160" y="4224528"/>
            <a:ext cx="3383280" cy="1005840"/>
          </a:xfrm>
          <a:prstGeom prst="roundRect">
            <a:avLst>
              <a:gd name="adj" fmla="val 4545"/>
            </a:avLst>
          </a:prstGeom>
          <a:solidFill>
            <a:srgbClr val="F7FBFE"/>
          </a:solidFill>
          <a:ln w="12700">
            <a:solidFill>
              <a:srgbClr val="B65F62"/>
            </a:solidFill>
            <a:prstDash val="solid"/>
          </a:ln>
        </p:spPr>
      </p:sp>
      <p:sp>
        <p:nvSpPr>
          <p:cNvPr id="33" name="Shape 31"/>
          <p:cNvSpPr/>
          <p:nvPr/>
        </p:nvSpPr>
        <p:spPr>
          <a:xfrm>
            <a:off x="8138160" y="4224528"/>
            <a:ext cx="73152" cy="1005840"/>
          </a:xfrm>
          <a:prstGeom prst="rect">
            <a:avLst/>
          </a:prstGeom>
          <a:solidFill>
            <a:srgbClr val="B65F62"/>
          </a:solidFill>
          <a:ln w="12700">
            <a:solidFill>
              <a:srgbClr val="B65F62"/>
            </a:solidFill>
            <a:prstDash val="solid"/>
          </a:ln>
        </p:spPr>
      </p:sp>
      <p:sp>
        <p:nvSpPr>
          <p:cNvPr id="34" name="Text 32"/>
          <p:cNvSpPr/>
          <p:nvPr/>
        </p:nvSpPr>
        <p:spPr>
          <a:xfrm>
            <a:off x="8302752" y="4352544"/>
            <a:ext cx="3127248" cy="228600"/>
          </a:xfrm>
          <a:prstGeom prst="rect">
            <a:avLst/>
          </a:prstGeom>
          <a:noFill/>
          <a:ln/>
        </p:spPr>
        <p:txBody>
          <a:bodyPr wrap="square" lIns="0" tIns="0" rIns="0" bIns="0" rtlCol="0" anchor="ctr">
            <a:normAutofit/>
          </a:bodyPr>
          <a:lstStyle/>
          <a:p>
            <a:pPr indent="0" marL="0">
              <a:buNone/>
            </a:pPr>
            <a:r>
              <a:rPr lang="en-US" sz="1300" b="1" dirty="0">
                <a:solidFill>
                  <a:srgbClr val="B65F62"/>
                </a:solidFill>
              </a:rPr>
              <a:t>Limit</a:t>
            </a:r>
            <a:endParaRPr lang="en-US" sz="1300" dirty="0"/>
          </a:p>
        </p:txBody>
      </p:sp>
      <p:sp>
        <p:nvSpPr>
          <p:cNvPr id="35" name="Text 33"/>
          <p:cNvSpPr/>
          <p:nvPr/>
        </p:nvSpPr>
        <p:spPr>
          <a:xfrm>
            <a:off x="8302752" y="4681728"/>
            <a:ext cx="3127248" cy="438912"/>
          </a:xfrm>
          <a:prstGeom prst="rect">
            <a:avLst/>
          </a:prstGeom>
          <a:noFill/>
          <a:ln/>
        </p:spPr>
        <p:txBody>
          <a:bodyPr wrap="square" lIns="254" tIns="254" rIns="254" bIns="254" rtlCol="0" anchor="t">
            <a:normAutofit/>
          </a:bodyPr>
          <a:lstStyle/>
          <a:p>
            <a:pPr indent="0" marL="0">
              <a:buNone/>
            </a:pPr>
            <a:r>
              <a:rPr lang="en-US" sz="1130" dirty="0">
                <a:solidFill>
                  <a:srgbClr val="1F2A37"/>
                </a:solidFill>
              </a:rPr>
              <a:t>More moving parts: identity, delegation, task state, failure handling, and policy.</a:t>
            </a:r>
            <a:endParaRPr lang="en-US" sz="113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D99A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99A3D"/>
          </a:solidFill>
          <a:ln w="12700">
            <a:solidFill>
              <a:srgbClr val="D99A3D"/>
            </a:solidFill>
            <a:prstDash val="solid"/>
          </a:ln>
        </p:spPr>
      </p:sp>
      <p:sp>
        <p:nvSpPr>
          <p:cNvPr id="3" name="Text 1"/>
          <p:cNvSpPr/>
          <p:nvPr/>
        </p:nvSpPr>
        <p:spPr>
          <a:xfrm>
            <a:off x="640080" y="658368"/>
            <a:ext cx="4754880" cy="228600"/>
          </a:xfrm>
          <a:prstGeom prst="rect">
            <a:avLst/>
          </a:prstGeom>
          <a:noFill/>
          <a:ln/>
        </p:spPr>
        <p:txBody>
          <a:bodyPr wrap="square" lIns="0" tIns="0" rIns="0" bIns="0" rtlCol="0" anchor="ctr"/>
          <a:lstStyle/>
          <a:p>
            <a:pPr indent="0" marL="0">
              <a:buNone/>
            </a:pPr>
            <a:r>
              <a:rPr lang="en-US" sz="1000" b="1" dirty="0">
                <a:solidFill>
                  <a:srgbClr val="FFFFFF"/>
                </a:solidFill>
              </a:rPr>
              <a:t>COMPARE</a:t>
            </a:r>
            <a:endParaRPr lang="en-US" sz="1000" dirty="0"/>
          </a:p>
        </p:txBody>
      </p:sp>
      <p:sp>
        <p:nvSpPr>
          <p:cNvPr id="4" name="Text 2"/>
          <p:cNvSpPr/>
          <p:nvPr/>
        </p:nvSpPr>
        <p:spPr>
          <a:xfrm>
            <a:off x="640080" y="1325880"/>
            <a:ext cx="9875520" cy="105156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Comparison: make the trade-offs explicit before choosing</a:t>
            </a:r>
            <a:endParaRPr lang="en-US" sz="3200" dirty="0"/>
          </a:p>
        </p:txBody>
      </p:sp>
      <p:sp>
        <p:nvSpPr>
          <p:cNvPr id="5" name="Text 3"/>
          <p:cNvSpPr/>
          <p:nvPr/>
        </p:nvSpPr>
        <p:spPr>
          <a:xfrm>
            <a:off x="658368" y="2788920"/>
            <a:ext cx="8778240" cy="548640"/>
          </a:xfrm>
          <a:prstGeom prst="rect">
            <a:avLst/>
          </a:prstGeom>
          <a:noFill/>
          <a:ln/>
        </p:spPr>
        <p:txBody>
          <a:bodyPr wrap="square" lIns="0" tIns="0" rIns="0" bIns="0" rtlCol="0" anchor="ctr">
            <a:normAutofit/>
          </a:bodyPr>
          <a:lstStyle/>
          <a:p>
            <a:pPr indent="0" marL="0">
              <a:buNone/>
            </a:pPr>
            <a:r>
              <a:rPr lang="en-US" sz="1800" dirty="0">
                <a:solidFill>
                  <a:srgbClr val="F8FAFC"/>
                </a:solidFill>
              </a:rPr>
              <a:t>A crisp comparison prevents confusing “tool use,” “API calls,” and “agent collaboration.”</a:t>
            </a:r>
            <a:endParaRPr lang="en-US" sz="1800" dirty="0"/>
          </a:p>
        </p:txBody>
      </p:sp>
      <p:sp>
        <p:nvSpPr>
          <p:cNvPr id="6" name="Shape 4"/>
          <p:cNvSpPr/>
          <p:nvPr/>
        </p:nvSpPr>
        <p:spPr>
          <a:xfrm>
            <a:off x="658368" y="6163056"/>
            <a:ext cx="10881360" cy="0"/>
          </a:xfrm>
          <a:prstGeom prst="line">
            <a:avLst/>
          </a:prstGeom>
          <a:noFill/>
          <a:ln w="10160">
            <a:solidFill>
              <a:srgbClr val="FFFFFF">
                <a:alpha val="60000"/>
              </a:srgbClr>
            </a:solidFill>
            <a:prstDash val="solid"/>
          </a:ln>
        </p:spPr>
      </p:sp>
      <p:sp>
        <p:nvSpPr>
          <p:cNvPr id="7" name="Text 5"/>
          <p:cNvSpPr/>
          <p:nvPr/>
        </p:nvSpPr>
        <p:spPr>
          <a:xfrm>
            <a:off x="10899648" y="6236208"/>
            <a:ext cx="640080" cy="182880"/>
          </a:xfrm>
          <a:prstGeom prst="rect">
            <a:avLst/>
          </a:prstGeom>
          <a:noFill/>
          <a:ln/>
        </p:spPr>
        <p:txBody>
          <a:bodyPr wrap="square" lIns="0" tIns="0" rIns="0" bIns="0" rtlCol="0" anchor="ctr"/>
          <a:lstStyle/>
          <a:p>
            <a:pPr algn="r" indent="0" marL="0">
              <a:buNone/>
            </a:pPr>
            <a:r>
              <a:rPr lang="en-US" sz="850" dirty="0">
                <a:solidFill>
                  <a:srgbClr val="FFFFFF">
                    <a:alpha val="80000"/>
                  </a:srgbClr>
                </a:solidFill>
              </a:rPr>
              <a:t>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D99A3D"/>
          </a:solidFill>
          <a:ln w="12700">
            <a:solidFill>
              <a:srgbClr val="D99A3D"/>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D99A3D"/>
                </a:solidFill>
                <a:latin typeface="Aptos" pitchFamily="34" charset="0"/>
                <a:ea typeface="Aptos" pitchFamily="34" charset="-122"/>
                <a:cs typeface="Aptos" pitchFamily="34" charset="-120"/>
              </a:rPr>
              <a:t>COMPARE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Comparison at a glance: APIs are contracts, MCP is capability access, A2A is collaboration</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27</a:t>
            </a:r>
            <a:endParaRPr lang="en-US" sz="800" dirty="0"/>
          </a:p>
        </p:txBody>
      </p:sp>
      <p:sp>
        <p:nvSpPr>
          <p:cNvPr id="9" name="Shape 7"/>
          <p:cNvSpPr/>
          <p:nvPr/>
        </p:nvSpPr>
        <p:spPr>
          <a:xfrm>
            <a:off x="438912" y="1261872"/>
            <a:ext cx="11018520" cy="438912"/>
          </a:xfrm>
          <a:prstGeom prst="rect">
            <a:avLst/>
          </a:prstGeom>
          <a:solidFill>
            <a:srgbClr val="D99A3D"/>
          </a:solidFill>
          <a:ln w="12700">
            <a:solidFill>
              <a:srgbClr val="D99A3D"/>
            </a:solidFill>
            <a:prstDash val="solid"/>
          </a:ln>
        </p:spPr>
      </p:sp>
      <p:sp>
        <p:nvSpPr>
          <p:cNvPr id="10" name="Text 8"/>
          <p:cNvSpPr/>
          <p:nvPr/>
        </p:nvSpPr>
        <p:spPr>
          <a:xfrm>
            <a:off x="484632" y="1362456"/>
            <a:ext cx="1463040" cy="329184"/>
          </a:xfrm>
          <a:prstGeom prst="rect">
            <a:avLst/>
          </a:prstGeom>
          <a:noFill/>
          <a:ln/>
        </p:spPr>
        <p:txBody>
          <a:bodyPr wrap="square" lIns="0" tIns="0" rIns="0" bIns="0" rtlCol="0" anchor="ctr">
            <a:normAutofit/>
          </a:bodyPr>
          <a:lstStyle/>
          <a:p>
            <a:pPr algn="l" indent="0" marL="0">
              <a:buNone/>
            </a:pPr>
            <a:r>
              <a:rPr lang="en-US" sz="770" b="1" dirty="0">
                <a:solidFill>
                  <a:srgbClr val="FFFFFF"/>
                </a:solidFill>
              </a:rPr>
              <a:t>Dimension</a:t>
            </a:r>
            <a:endParaRPr lang="en-US" sz="770" dirty="0"/>
          </a:p>
        </p:txBody>
      </p:sp>
      <p:sp>
        <p:nvSpPr>
          <p:cNvPr id="11" name="Text 9"/>
          <p:cNvSpPr/>
          <p:nvPr/>
        </p:nvSpPr>
        <p:spPr>
          <a:xfrm>
            <a:off x="2039112" y="1362456"/>
            <a:ext cx="2148840" cy="329184"/>
          </a:xfrm>
          <a:prstGeom prst="rect">
            <a:avLst/>
          </a:prstGeom>
          <a:noFill/>
          <a:ln/>
        </p:spPr>
        <p:txBody>
          <a:bodyPr wrap="square" lIns="0" tIns="0" rIns="0" bIns="0" rtlCol="0" anchor="ctr">
            <a:normAutofit/>
          </a:bodyPr>
          <a:lstStyle/>
          <a:p>
            <a:pPr algn="ctr" indent="0" marL="0">
              <a:buNone/>
            </a:pPr>
            <a:r>
              <a:rPr lang="en-US" sz="770" b="1" dirty="0">
                <a:solidFill>
                  <a:srgbClr val="FFFFFF"/>
                </a:solidFill>
              </a:rPr>
              <a:t>APIs</a:t>
            </a:r>
            <a:endParaRPr lang="en-US" sz="770" dirty="0"/>
          </a:p>
        </p:txBody>
      </p:sp>
      <p:sp>
        <p:nvSpPr>
          <p:cNvPr id="12" name="Shape 10"/>
          <p:cNvSpPr/>
          <p:nvPr/>
        </p:nvSpPr>
        <p:spPr>
          <a:xfrm>
            <a:off x="1993392" y="1261872"/>
            <a:ext cx="0" cy="3511296"/>
          </a:xfrm>
          <a:prstGeom prst="line">
            <a:avLst/>
          </a:prstGeom>
          <a:noFill/>
          <a:ln w="6350">
            <a:solidFill>
              <a:srgbClr val="FFFFFF">
                <a:alpha val="60000"/>
              </a:srgbClr>
            </a:solidFill>
            <a:prstDash val="solid"/>
          </a:ln>
        </p:spPr>
      </p:sp>
      <p:sp>
        <p:nvSpPr>
          <p:cNvPr id="13" name="Text 11"/>
          <p:cNvSpPr/>
          <p:nvPr/>
        </p:nvSpPr>
        <p:spPr>
          <a:xfrm>
            <a:off x="4279392" y="1362456"/>
            <a:ext cx="2560320" cy="329184"/>
          </a:xfrm>
          <a:prstGeom prst="rect">
            <a:avLst/>
          </a:prstGeom>
          <a:noFill/>
          <a:ln/>
        </p:spPr>
        <p:txBody>
          <a:bodyPr wrap="square" lIns="0" tIns="0" rIns="0" bIns="0" rtlCol="0" anchor="ctr">
            <a:normAutofit/>
          </a:bodyPr>
          <a:lstStyle/>
          <a:p>
            <a:pPr algn="ctr" indent="0" marL="0">
              <a:buNone/>
            </a:pPr>
            <a:r>
              <a:rPr lang="en-US" sz="770" b="1" dirty="0">
                <a:solidFill>
                  <a:srgbClr val="FFFFFF"/>
                </a:solidFill>
              </a:rPr>
              <a:t>MCP</a:t>
            </a:r>
            <a:endParaRPr lang="en-US" sz="770" dirty="0"/>
          </a:p>
        </p:txBody>
      </p:sp>
      <p:sp>
        <p:nvSpPr>
          <p:cNvPr id="14" name="Shape 12"/>
          <p:cNvSpPr/>
          <p:nvPr/>
        </p:nvSpPr>
        <p:spPr>
          <a:xfrm>
            <a:off x="4233672" y="1261872"/>
            <a:ext cx="0" cy="3511296"/>
          </a:xfrm>
          <a:prstGeom prst="line">
            <a:avLst/>
          </a:prstGeom>
          <a:noFill/>
          <a:ln w="6350">
            <a:solidFill>
              <a:srgbClr val="FFFFFF">
                <a:alpha val="60000"/>
              </a:srgbClr>
            </a:solidFill>
            <a:prstDash val="solid"/>
          </a:ln>
        </p:spPr>
      </p:sp>
      <p:sp>
        <p:nvSpPr>
          <p:cNvPr id="15" name="Text 13"/>
          <p:cNvSpPr/>
          <p:nvPr/>
        </p:nvSpPr>
        <p:spPr>
          <a:xfrm>
            <a:off x="6931152" y="1362456"/>
            <a:ext cx="2560320" cy="329184"/>
          </a:xfrm>
          <a:prstGeom prst="rect">
            <a:avLst/>
          </a:prstGeom>
          <a:noFill/>
          <a:ln/>
        </p:spPr>
        <p:txBody>
          <a:bodyPr wrap="square" lIns="0" tIns="0" rIns="0" bIns="0" rtlCol="0" anchor="ctr">
            <a:normAutofit/>
          </a:bodyPr>
          <a:lstStyle/>
          <a:p>
            <a:pPr algn="ctr" indent="0" marL="0">
              <a:buNone/>
            </a:pPr>
            <a:r>
              <a:rPr lang="en-US" sz="770" b="1" dirty="0">
                <a:solidFill>
                  <a:srgbClr val="FFFFFF"/>
                </a:solidFill>
              </a:rPr>
              <a:t>A2A</a:t>
            </a:r>
            <a:endParaRPr lang="en-US" sz="770" dirty="0"/>
          </a:p>
        </p:txBody>
      </p:sp>
      <p:sp>
        <p:nvSpPr>
          <p:cNvPr id="16" name="Shape 14"/>
          <p:cNvSpPr/>
          <p:nvPr/>
        </p:nvSpPr>
        <p:spPr>
          <a:xfrm>
            <a:off x="6885432" y="1261872"/>
            <a:ext cx="0" cy="3511296"/>
          </a:xfrm>
          <a:prstGeom prst="line">
            <a:avLst/>
          </a:prstGeom>
          <a:noFill/>
          <a:ln w="6350">
            <a:solidFill>
              <a:srgbClr val="FFFFFF">
                <a:alpha val="60000"/>
              </a:srgbClr>
            </a:solidFill>
            <a:prstDash val="solid"/>
          </a:ln>
        </p:spPr>
      </p:sp>
      <p:sp>
        <p:nvSpPr>
          <p:cNvPr id="17" name="Text 15"/>
          <p:cNvSpPr/>
          <p:nvPr/>
        </p:nvSpPr>
        <p:spPr>
          <a:xfrm>
            <a:off x="9582912" y="1362456"/>
            <a:ext cx="1828800" cy="329184"/>
          </a:xfrm>
          <a:prstGeom prst="rect">
            <a:avLst/>
          </a:prstGeom>
          <a:noFill/>
          <a:ln/>
        </p:spPr>
        <p:txBody>
          <a:bodyPr wrap="square" lIns="0" tIns="0" rIns="0" bIns="0" rtlCol="0" anchor="ctr">
            <a:normAutofit/>
          </a:bodyPr>
          <a:lstStyle/>
          <a:p>
            <a:pPr algn="ctr" indent="0" marL="0">
              <a:buNone/>
            </a:pPr>
            <a:r>
              <a:rPr lang="en-US" sz="770" b="1" dirty="0">
                <a:solidFill>
                  <a:srgbClr val="FFFFFF"/>
                </a:solidFill>
              </a:rPr>
              <a:t>Decision cue</a:t>
            </a:r>
            <a:endParaRPr lang="en-US" sz="770" dirty="0"/>
          </a:p>
        </p:txBody>
      </p:sp>
      <p:sp>
        <p:nvSpPr>
          <p:cNvPr id="18" name="Shape 16"/>
          <p:cNvSpPr/>
          <p:nvPr/>
        </p:nvSpPr>
        <p:spPr>
          <a:xfrm>
            <a:off x="9537192" y="1261872"/>
            <a:ext cx="0" cy="3511296"/>
          </a:xfrm>
          <a:prstGeom prst="line">
            <a:avLst/>
          </a:prstGeom>
          <a:noFill/>
          <a:ln w="6350">
            <a:solidFill>
              <a:srgbClr val="FFFFFF">
                <a:alpha val="60000"/>
              </a:srgbClr>
            </a:solidFill>
            <a:prstDash val="solid"/>
          </a:ln>
        </p:spPr>
      </p:sp>
      <p:sp>
        <p:nvSpPr>
          <p:cNvPr id="19" name="Shape 17"/>
          <p:cNvSpPr/>
          <p:nvPr/>
        </p:nvSpPr>
        <p:spPr>
          <a:xfrm>
            <a:off x="438912" y="1700784"/>
            <a:ext cx="11018520" cy="438912"/>
          </a:xfrm>
          <a:prstGeom prst="rect">
            <a:avLst/>
          </a:prstGeom>
          <a:solidFill>
            <a:srgbClr val="FFFFFF"/>
          </a:solidFill>
          <a:ln w="6350">
            <a:solidFill>
              <a:srgbClr val="D7E6F2"/>
            </a:solidFill>
            <a:prstDash val="solid"/>
          </a:ln>
        </p:spPr>
      </p:sp>
      <p:sp>
        <p:nvSpPr>
          <p:cNvPr id="20" name="Text 18"/>
          <p:cNvSpPr/>
          <p:nvPr/>
        </p:nvSpPr>
        <p:spPr>
          <a:xfrm>
            <a:off x="493776" y="1773936"/>
            <a:ext cx="1444752" cy="329184"/>
          </a:xfrm>
          <a:prstGeom prst="rect">
            <a:avLst/>
          </a:prstGeom>
          <a:noFill/>
          <a:ln/>
        </p:spPr>
        <p:txBody>
          <a:bodyPr wrap="square" lIns="0" tIns="0" rIns="0" bIns="0" rtlCol="0" anchor="ctr">
            <a:normAutofit/>
          </a:bodyPr>
          <a:lstStyle/>
          <a:p>
            <a:pPr algn="l" indent="0" marL="0">
              <a:buNone/>
            </a:pPr>
            <a:r>
              <a:rPr lang="en-US" sz="680" b="1" dirty="0">
                <a:solidFill>
                  <a:srgbClr val="123452"/>
                </a:solidFill>
              </a:rPr>
              <a:t>Primary actor</a:t>
            </a:r>
            <a:endParaRPr lang="en-US" sz="680" dirty="0"/>
          </a:p>
        </p:txBody>
      </p:sp>
      <p:sp>
        <p:nvSpPr>
          <p:cNvPr id="21" name="Text 19"/>
          <p:cNvSpPr/>
          <p:nvPr/>
        </p:nvSpPr>
        <p:spPr>
          <a:xfrm>
            <a:off x="2048256" y="1773936"/>
            <a:ext cx="213055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App/service caller</a:t>
            </a:r>
            <a:endParaRPr lang="en-US" sz="680" dirty="0"/>
          </a:p>
        </p:txBody>
      </p:sp>
      <p:sp>
        <p:nvSpPr>
          <p:cNvPr id="22" name="Text 20"/>
          <p:cNvSpPr/>
          <p:nvPr/>
        </p:nvSpPr>
        <p:spPr>
          <a:xfrm>
            <a:off x="4288536" y="1773936"/>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AI host + MCP client</a:t>
            </a:r>
            <a:endParaRPr lang="en-US" sz="680" dirty="0"/>
          </a:p>
        </p:txBody>
      </p:sp>
      <p:sp>
        <p:nvSpPr>
          <p:cNvPr id="23" name="Text 21"/>
          <p:cNvSpPr/>
          <p:nvPr/>
        </p:nvSpPr>
        <p:spPr>
          <a:xfrm>
            <a:off x="6940296" y="1773936"/>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Client agent + remote agent</a:t>
            </a:r>
            <a:endParaRPr lang="en-US" sz="680" dirty="0"/>
          </a:p>
        </p:txBody>
      </p:sp>
      <p:sp>
        <p:nvSpPr>
          <p:cNvPr id="24" name="Text 22"/>
          <p:cNvSpPr/>
          <p:nvPr/>
        </p:nvSpPr>
        <p:spPr>
          <a:xfrm>
            <a:off x="9592056" y="1773936"/>
            <a:ext cx="181051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Who owns intelligence?</a:t>
            </a:r>
            <a:endParaRPr lang="en-US" sz="680" dirty="0"/>
          </a:p>
        </p:txBody>
      </p:sp>
      <p:sp>
        <p:nvSpPr>
          <p:cNvPr id="25" name="Shape 23"/>
          <p:cNvSpPr/>
          <p:nvPr/>
        </p:nvSpPr>
        <p:spPr>
          <a:xfrm>
            <a:off x="438912" y="2139696"/>
            <a:ext cx="11018520" cy="438912"/>
          </a:xfrm>
          <a:prstGeom prst="rect">
            <a:avLst/>
          </a:prstGeom>
          <a:solidFill>
            <a:srgbClr val="F8FAFC"/>
          </a:solidFill>
          <a:ln w="6350">
            <a:solidFill>
              <a:srgbClr val="D7E6F2"/>
            </a:solidFill>
            <a:prstDash val="solid"/>
          </a:ln>
        </p:spPr>
      </p:sp>
      <p:sp>
        <p:nvSpPr>
          <p:cNvPr id="26" name="Text 24"/>
          <p:cNvSpPr/>
          <p:nvPr/>
        </p:nvSpPr>
        <p:spPr>
          <a:xfrm>
            <a:off x="493776" y="2212848"/>
            <a:ext cx="1444752" cy="329184"/>
          </a:xfrm>
          <a:prstGeom prst="rect">
            <a:avLst/>
          </a:prstGeom>
          <a:noFill/>
          <a:ln/>
        </p:spPr>
        <p:txBody>
          <a:bodyPr wrap="square" lIns="0" tIns="0" rIns="0" bIns="0" rtlCol="0" anchor="ctr">
            <a:normAutofit/>
          </a:bodyPr>
          <a:lstStyle/>
          <a:p>
            <a:pPr algn="l" indent="0" marL="0">
              <a:buNone/>
            </a:pPr>
            <a:r>
              <a:rPr lang="en-US" sz="680" b="1" dirty="0">
                <a:solidFill>
                  <a:srgbClr val="123452"/>
                </a:solidFill>
              </a:rPr>
              <a:t>Object exposed</a:t>
            </a:r>
            <a:endParaRPr lang="en-US" sz="680" dirty="0"/>
          </a:p>
        </p:txBody>
      </p:sp>
      <p:sp>
        <p:nvSpPr>
          <p:cNvPr id="27" name="Text 25"/>
          <p:cNvSpPr/>
          <p:nvPr/>
        </p:nvSpPr>
        <p:spPr>
          <a:xfrm>
            <a:off x="2048256" y="2212848"/>
            <a:ext cx="213055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Endpoint/method/query</a:t>
            </a:r>
            <a:endParaRPr lang="en-US" sz="680" dirty="0"/>
          </a:p>
        </p:txBody>
      </p:sp>
      <p:sp>
        <p:nvSpPr>
          <p:cNvPr id="28" name="Text 26"/>
          <p:cNvSpPr/>
          <p:nvPr/>
        </p:nvSpPr>
        <p:spPr>
          <a:xfrm>
            <a:off x="4288536" y="2212848"/>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Tools/resources/prompts</a:t>
            </a:r>
            <a:endParaRPr lang="en-US" sz="680" dirty="0"/>
          </a:p>
        </p:txBody>
      </p:sp>
      <p:sp>
        <p:nvSpPr>
          <p:cNvPr id="29" name="Text 27"/>
          <p:cNvSpPr/>
          <p:nvPr/>
        </p:nvSpPr>
        <p:spPr>
          <a:xfrm>
            <a:off x="6940296" y="2212848"/>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Agent skills + tasks</a:t>
            </a:r>
            <a:endParaRPr lang="en-US" sz="680" dirty="0"/>
          </a:p>
        </p:txBody>
      </p:sp>
      <p:sp>
        <p:nvSpPr>
          <p:cNvPr id="30" name="Text 28"/>
          <p:cNvSpPr/>
          <p:nvPr/>
        </p:nvSpPr>
        <p:spPr>
          <a:xfrm>
            <a:off x="9592056" y="2212848"/>
            <a:ext cx="181051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What is discovered?</a:t>
            </a:r>
            <a:endParaRPr lang="en-US" sz="680" dirty="0"/>
          </a:p>
        </p:txBody>
      </p:sp>
      <p:sp>
        <p:nvSpPr>
          <p:cNvPr id="31" name="Shape 29"/>
          <p:cNvSpPr/>
          <p:nvPr/>
        </p:nvSpPr>
        <p:spPr>
          <a:xfrm>
            <a:off x="438912" y="2578608"/>
            <a:ext cx="11018520" cy="438912"/>
          </a:xfrm>
          <a:prstGeom prst="rect">
            <a:avLst/>
          </a:prstGeom>
          <a:solidFill>
            <a:srgbClr val="FFFFFF"/>
          </a:solidFill>
          <a:ln w="6350">
            <a:solidFill>
              <a:srgbClr val="D7E6F2"/>
            </a:solidFill>
            <a:prstDash val="solid"/>
          </a:ln>
        </p:spPr>
      </p:sp>
      <p:sp>
        <p:nvSpPr>
          <p:cNvPr id="32" name="Text 30"/>
          <p:cNvSpPr/>
          <p:nvPr/>
        </p:nvSpPr>
        <p:spPr>
          <a:xfrm>
            <a:off x="493776" y="2651760"/>
            <a:ext cx="1444752" cy="329184"/>
          </a:xfrm>
          <a:prstGeom prst="rect">
            <a:avLst/>
          </a:prstGeom>
          <a:noFill/>
          <a:ln/>
        </p:spPr>
        <p:txBody>
          <a:bodyPr wrap="square" lIns="0" tIns="0" rIns="0" bIns="0" rtlCol="0" anchor="ctr">
            <a:normAutofit/>
          </a:bodyPr>
          <a:lstStyle/>
          <a:p>
            <a:pPr algn="l" indent="0" marL="0">
              <a:buNone/>
            </a:pPr>
            <a:r>
              <a:rPr lang="en-US" sz="680" b="1" dirty="0">
                <a:solidFill>
                  <a:srgbClr val="123452"/>
                </a:solidFill>
              </a:rPr>
              <a:t>State model</a:t>
            </a:r>
            <a:endParaRPr lang="en-US" sz="680" dirty="0"/>
          </a:p>
        </p:txBody>
      </p:sp>
      <p:sp>
        <p:nvSpPr>
          <p:cNvPr id="33" name="Text 31"/>
          <p:cNvSpPr/>
          <p:nvPr/>
        </p:nvSpPr>
        <p:spPr>
          <a:xfrm>
            <a:off x="2048256" y="2651760"/>
            <a:ext cx="213055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Usually stateless</a:t>
            </a:r>
            <a:endParaRPr lang="en-US" sz="680" dirty="0"/>
          </a:p>
        </p:txBody>
      </p:sp>
      <p:sp>
        <p:nvSpPr>
          <p:cNvPr id="34" name="Text 32"/>
          <p:cNvSpPr/>
          <p:nvPr/>
        </p:nvSpPr>
        <p:spPr>
          <a:xfrm>
            <a:off x="4288536" y="2651760"/>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Session + dynamic tools</a:t>
            </a:r>
            <a:endParaRPr lang="en-US" sz="680" dirty="0"/>
          </a:p>
        </p:txBody>
      </p:sp>
      <p:sp>
        <p:nvSpPr>
          <p:cNvPr id="35" name="Text 33"/>
          <p:cNvSpPr/>
          <p:nvPr/>
        </p:nvSpPr>
        <p:spPr>
          <a:xfrm>
            <a:off x="6940296" y="2651760"/>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Task lifecycle</a:t>
            </a:r>
            <a:endParaRPr lang="en-US" sz="680" dirty="0"/>
          </a:p>
        </p:txBody>
      </p:sp>
      <p:sp>
        <p:nvSpPr>
          <p:cNvPr id="36" name="Text 34"/>
          <p:cNvSpPr/>
          <p:nvPr/>
        </p:nvSpPr>
        <p:spPr>
          <a:xfrm>
            <a:off x="9592056" y="2651760"/>
            <a:ext cx="181051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How long does work live?</a:t>
            </a:r>
            <a:endParaRPr lang="en-US" sz="680" dirty="0"/>
          </a:p>
        </p:txBody>
      </p:sp>
      <p:sp>
        <p:nvSpPr>
          <p:cNvPr id="37" name="Shape 35"/>
          <p:cNvSpPr/>
          <p:nvPr/>
        </p:nvSpPr>
        <p:spPr>
          <a:xfrm>
            <a:off x="438912" y="3017520"/>
            <a:ext cx="11018520" cy="438912"/>
          </a:xfrm>
          <a:prstGeom prst="rect">
            <a:avLst/>
          </a:prstGeom>
          <a:solidFill>
            <a:srgbClr val="F8FAFC"/>
          </a:solidFill>
          <a:ln w="6350">
            <a:solidFill>
              <a:srgbClr val="D7E6F2"/>
            </a:solidFill>
            <a:prstDash val="solid"/>
          </a:ln>
        </p:spPr>
      </p:sp>
      <p:sp>
        <p:nvSpPr>
          <p:cNvPr id="38" name="Text 36"/>
          <p:cNvSpPr/>
          <p:nvPr/>
        </p:nvSpPr>
        <p:spPr>
          <a:xfrm>
            <a:off x="493776" y="3090672"/>
            <a:ext cx="1444752" cy="329184"/>
          </a:xfrm>
          <a:prstGeom prst="rect">
            <a:avLst/>
          </a:prstGeom>
          <a:noFill/>
          <a:ln/>
        </p:spPr>
        <p:txBody>
          <a:bodyPr wrap="square" lIns="0" tIns="0" rIns="0" bIns="0" rtlCol="0" anchor="ctr">
            <a:normAutofit/>
          </a:bodyPr>
          <a:lstStyle/>
          <a:p>
            <a:pPr algn="l" indent="0" marL="0">
              <a:buNone/>
            </a:pPr>
            <a:r>
              <a:rPr lang="en-US" sz="680" b="1" dirty="0">
                <a:solidFill>
                  <a:srgbClr val="123452"/>
                </a:solidFill>
              </a:rPr>
              <a:t>Autonomy</a:t>
            </a:r>
            <a:endParaRPr lang="en-US" sz="680" dirty="0"/>
          </a:p>
        </p:txBody>
      </p:sp>
      <p:sp>
        <p:nvSpPr>
          <p:cNvPr id="39" name="Text 37"/>
          <p:cNvSpPr/>
          <p:nvPr/>
        </p:nvSpPr>
        <p:spPr>
          <a:xfrm>
            <a:off x="2048256" y="3090672"/>
            <a:ext cx="213055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Low</a:t>
            </a:r>
            <a:endParaRPr lang="en-US" sz="680" dirty="0"/>
          </a:p>
        </p:txBody>
      </p:sp>
      <p:sp>
        <p:nvSpPr>
          <p:cNvPr id="40" name="Text 38"/>
          <p:cNvSpPr/>
          <p:nvPr/>
        </p:nvSpPr>
        <p:spPr>
          <a:xfrm>
            <a:off x="4288536" y="3090672"/>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Medium: model selects tools</a:t>
            </a:r>
            <a:endParaRPr lang="en-US" sz="680" dirty="0"/>
          </a:p>
        </p:txBody>
      </p:sp>
      <p:sp>
        <p:nvSpPr>
          <p:cNvPr id="41" name="Text 39"/>
          <p:cNvSpPr/>
          <p:nvPr/>
        </p:nvSpPr>
        <p:spPr>
          <a:xfrm>
            <a:off x="6940296" y="3090672"/>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High: agents plan/delegate</a:t>
            </a:r>
            <a:endParaRPr lang="en-US" sz="680" dirty="0"/>
          </a:p>
        </p:txBody>
      </p:sp>
      <p:sp>
        <p:nvSpPr>
          <p:cNvPr id="42" name="Text 40"/>
          <p:cNvSpPr/>
          <p:nvPr/>
        </p:nvSpPr>
        <p:spPr>
          <a:xfrm>
            <a:off x="9592056" y="3090672"/>
            <a:ext cx="181051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How much agency exists?</a:t>
            </a:r>
            <a:endParaRPr lang="en-US" sz="680" dirty="0"/>
          </a:p>
        </p:txBody>
      </p:sp>
      <p:sp>
        <p:nvSpPr>
          <p:cNvPr id="43" name="Shape 41"/>
          <p:cNvSpPr/>
          <p:nvPr/>
        </p:nvSpPr>
        <p:spPr>
          <a:xfrm>
            <a:off x="438912" y="3456432"/>
            <a:ext cx="11018520" cy="438912"/>
          </a:xfrm>
          <a:prstGeom prst="rect">
            <a:avLst/>
          </a:prstGeom>
          <a:solidFill>
            <a:srgbClr val="FFFFFF"/>
          </a:solidFill>
          <a:ln w="6350">
            <a:solidFill>
              <a:srgbClr val="D7E6F2"/>
            </a:solidFill>
            <a:prstDash val="solid"/>
          </a:ln>
        </p:spPr>
      </p:sp>
      <p:sp>
        <p:nvSpPr>
          <p:cNvPr id="44" name="Text 42"/>
          <p:cNvSpPr/>
          <p:nvPr/>
        </p:nvSpPr>
        <p:spPr>
          <a:xfrm>
            <a:off x="493776" y="3529584"/>
            <a:ext cx="1444752" cy="329184"/>
          </a:xfrm>
          <a:prstGeom prst="rect">
            <a:avLst/>
          </a:prstGeom>
          <a:noFill/>
          <a:ln/>
        </p:spPr>
        <p:txBody>
          <a:bodyPr wrap="square" lIns="0" tIns="0" rIns="0" bIns="0" rtlCol="0" anchor="ctr">
            <a:normAutofit/>
          </a:bodyPr>
          <a:lstStyle/>
          <a:p>
            <a:pPr algn="l" indent="0" marL="0">
              <a:buNone/>
            </a:pPr>
            <a:r>
              <a:rPr lang="en-US" sz="680" b="1" dirty="0">
                <a:solidFill>
                  <a:srgbClr val="123452"/>
                </a:solidFill>
              </a:rPr>
              <a:t>Best outcome</a:t>
            </a:r>
            <a:endParaRPr lang="en-US" sz="680" dirty="0"/>
          </a:p>
        </p:txBody>
      </p:sp>
      <p:sp>
        <p:nvSpPr>
          <p:cNvPr id="45" name="Text 43"/>
          <p:cNvSpPr/>
          <p:nvPr/>
        </p:nvSpPr>
        <p:spPr>
          <a:xfrm>
            <a:off x="2048256" y="3529584"/>
            <a:ext cx="213055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Deterministic transaction</a:t>
            </a:r>
            <a:endParaRPr lang="en-US" sz="680" dirty="0"/>
          </a:p>
        </p:txBody>
      </p:sp>
      <p:sp>
        <p:nvSpPr>
          <p:cNvPr id="46" name="Text 44"/>
          <p:cNvSpPr/>
          <p:nvPr/>
        </p:nvSpPr>
        <p:spPr>
          <a:xfrm>
            <a:off x="4288536" y="3529584"/>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Context-aware AI action</a:t>
            </a:r>
            <a:endParaRPr lang="en-US" sz="680" dirty="0"/>
          </a:p>
        </p:txBody>
      </p:sp>
      <p:sp>
        <p:nvSpPr>
          <p:cNvPr id="47" name="Text 45"/>
          <p:cNvSpPr/>
          <p:nvPr/>
        </p:nvSpPr>
        <p:spPr>
          <a:xfrm>
            <a:off x="6940296" y="3529584"/>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Collaborative deliverable</a:t>
            </a:r>
            <a:endParaRPr lang="en-US" sz="680" dirty="0"/>
          </a:p>
        </p:txBody>
      </p:sp>
      <p:sp>
        <p:nvSpPr>
          <p:cNvPr id="48" name="Text 46"/>
          <p:cNvSpPr/>
          <p:nvPr/>
        </p:nvSpPr>
        <p:spPr>
          <a:xfrm>
            <a:off x="9592056" y="3529584"/>
            <a:ext cx="181051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What is success?</a:t>
            </a:r>
            <a:endParaRPr lang="en-US" sz="680" dirty="0"/>
          </a:p>
        </p:txBody>
      </p:sp>
      <p:sp>
        <p:nvSpPr>
          <p:cNvPr id="49" name="Shape 47"/>
          <p:cNvSpPr/>
          <p:nvPr/>
        </p:nvSpPr>
        <p:spPr>
          <a:xfrm>
            <a:off x="438912" y="3895344"/>
            <a:ext cx="11018520" cy="438912"/>
          </a:xfrm>
          <a:prstGeom prst="rect">
            <a:avLst/>
          </a:prstGeom>
          <a:solidFill>
            <a:srgbClr val="F8FAFC"/>
          </a:solidFill>
          <a:ln w="6350">
            <a:solidFill>
              <a:srgbClr val="D7E6F2"/>
            </a:solidFill>
            <a:prstDash val="solid"/>
          </a:ln>
        </p:spPr>
      </p:sp>
      <p:sp>
        <p:nvSpPr>
          <p:cNvPr id="50" name="Text 48"/>
          <p:cNvSpPr/>
          <p:nvPr/>
        </p:nvSpPr>
        <p:spPr>
          <a:xfrm>
            <a:off x="493776" y="3968496"/>
            <a:ext cx="1444752" cy="329184"/>
          </a:xfrm>
          <a:prstGeom prst="rect">
            <a:avLst/>
          </a:prstGeom>
          <a:noFill/>
          <a:ln/>
        </p:spPr>
        <p:txBody>
          <a:bodyPr wrap="square" lIns="0" tIns="0" rIns="0" bIns="0" rtlCol="0" anchor="ctr">
            <a:normAutofit/>
          </a:bodyPr>
          <a:lstStyle/>
          <a:p>
            <a:pPr algn="l" indent="0" marL="0">
              <a:buNone/>
            </a:pPr>
            <a:r>
              <a:rPr lang="en-US" sz="680" b="1" dirty="0">
                <a:solidFill>
                  <a:srgbClr val="123452"/>
                </a:solidFill>
              </a:rPr>
              <a:t>Testing</a:t>
            </a:r>
            <a:endParaRPr lang="en-US" sz="680" dirty="0"/>
          </a:p>
        </p:txBody>
      </p:sp>
      <p:sp>
        <p:nvSpPr>
          <p:cNvPr id="51" name="Text 49"/>
          <p:cNvSpPr/>
          <p:nvPr/>
        </p:nvSpPr>
        <p:spPr>
          <a:xfrm>
            <a:off x="2048256" y="3968496"/>
            <a:ext cx="213055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Contract tests</a:t>
            </a:r>
            <a:endParaRPr lang="en-US" sz="680" dirty="0"/>
          </a:p>
        </p:txBody>
      </p:sp>
      <p:sp>
        <p:nvSpPr>
          <p:cNvPr id="52" name="Text 50"/>
          <p:cNvSpPr/>
          <p:nvPr/>
        </p:nvSpPr>
        <p:spPr>
          <a:xfrm>
            <a:off x="4288536" y="3968496"/>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Tool call + policy tests</a:t>
            </a:r>
            <a:endParaRPr lang="en-US" sz="680" dirty="0"/>
          </a:p>
        </p:txBody>
      </p:sp>
      <p:sp>
        <p:nvSpPr>
          <p:cNvPr id="53" name="Text 51"/>
          <p:cNvSpPr/>
          <p:nvPr/>
        </p:nvSpPr>
        <p:spPr>
          <a:xfrm>
            <a:off x="6940296" y="3968496"/>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Task/e2e agent tests</a:t>
            </a:r>
            <a:endParaRPr lang="en-US" sz="680" dirty="0"/>
          </a:p>
        </p:txBody>
      </p:sp>
      <p:sp>
        <p:nvSpPr>
          <p:cNvPr id="54" name="Text 52"/>
          <p:cNvSpPr/>
          <p:nvPr/>
        </p:nvSpPr>
        <p:spPr>
          <a:xfrm>
            <a:off x="9592056" y="3968496"/>
            <a:ext cx="181051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What can be asserted?</a:t>
            </a:r>
            <a:endParaRPr lang="en-US" sz="680" dirty="0"/>
          </a:p>
        </p:txBody>
      </p:sp>
      <p:sp>
        <p:nvSpPr>
          <p:cNvPr id="55" name="Shape 53"/>
          <p:cNvSpPr/>
          <p:nvPr/>
        </p:nvSpPr>
        <p:spPr>
          <a:xfrm>
            <a:off x="438912" y="4334256"/>
            <a:ext cx="11018520" cy="438912"/>
          </a:xfrm>
          <a:prstGeom prst="rect">
            <a:avLst/>
          </a:prstGeom>
          <a:solidFill>
            <a:srgbClr val="FFFFFF"/>
          </a:solidFill>
          <a:ln w="6350">
            <a:solidFill>
              <a:srgbClr val="D7E6F2"/>
            </a:solidFill>
            <a:prstDash val="solid"/>
          </a:ln>
        </p:spPr>
      </p:sp>
      <p:sp>
        <p:nvSpPr>
          <p:cNvPr id="56" name="Text 54"/>
          <p:cNvSpPr/>
          <p:nvPr/>
        </p:nvSpPr>
        <p:spPr>
          <a:xfrm>
            <a:off x="493776" y="4407408"/>
            <a:ext cx="1444752" cy="329184"/>
          </a:xfrm>
          <a:prstGeom prst="rect">
            <a:avLst/>
          </a:prstGeom>
          <a:noFill/>
          <a:ln/>
        </p:spPr>
        <p:txBody>
          <a:bodyPr wrap="square" lIns="0" tIns="0" rIns="0" bIns="0" rtlCol="0" anchor="ctr">
            <a:normAutofit/>
          </a:bodyPr>
          <a:lstStyle/>
          <a:p>
            <a:pPr algn="l" indent="0" marL="0">
              <a:buNone/>
            </a:pPr>
            <a:r>
              <a:rPr lang="en-US" sz="680" b="1" dirty="0">
                <a:solidFill>
                  <a:srgbClr val="123452"/>
                </a:solidFill>
              </a:rPr>
              <a:t>Risk</a:t>
            </a:r>
            <a:endParaRPr lang="en-US" sz="680" dirty="0"/>
          </a:p>
        </p:txBody>
      </p:sp>
      <p:sp>
        <p:nvSpPr>
          <p:cNvPr id="57" name="Text 55"/>
          <p:cNvSpPr/>
          <p:nvPr/>
        </p:nvSpPr>
        <p:spPr>
          <a:xfrm>
            <a:off x="2048256" y="4407408"/>
            <a:ext cx="213055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Contract drift</a:t>
            </a:r>
            <a:endParaRPr lang="en-US" sz="680" dirty="0"/>
          </a:p>
        </p:txBody>
      </p:sp>
      <p:sp>
        <p:nvSpPr>
          <p:cNvPr id="58" name="Text 56"/>
          <p:cNvSpPr/>
          <p:nvPr/>
        </p:nvSpPr>
        <p:spPr>
          <a:xfrm>
            <a:off x="4288536" y="4407408"/>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Tool/prompt injection</a:t>
            </a:r>
            <a:endParaRPr lang="en-US" sz="680" dirty="0"/>
          </a:p>
        </p:txBody>
      </p:sp>
      <p:sp>
        <p:nvSpPr>
          <p:cNvPr id="59" name="Text 57"/>
          <p:cNvSpPr/>
          <p:nvPr/>
        </p:nvSpPr>
        <p:spPr>
          <a:xfrm>
            <a:off x="6940296" y="4407408"/>
            <a:ext cx="254203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Delegation + trust gaps</a:t>
            </a:r>
            <a:endParaRPr lang="en-US" sz="680" dirty="0"/>
          </a:p>
        </p:txBody>
      </p:sp>
      <p:sp>
        <p:nvSpPr>
          <p:cNvPr id="60" name="Text 58"/>
          <p:cNvSpPr/>
          <p:nvPr/>
        </p:nvSpPr>
        <p:spPr>
          <a:xfrm>
            <a:off x="9592056" y="4407408"/>
            <a:ext cx="1810512" cy="329184"/>
          </a:xfrm>
          <a:prstGeom prst="rect">
            <a:avLst/>
          </a:prstGeom>
          <a:noFill/>
          <a:ln/>
        </p:spPr>
        <p:txBody>
          <a:bodyPr wrap="square" lIns="0" tIns="0" rIns="0" bIns="0" rtlCol="0" anchor="ctr">
            <a:normAutofit/>
          </a:bodyPr>
          <a:lstStyle/>
          <a:p>
            <a:pPr algn="ctr" indent="0" marL="0">
              <a:buNone/>
            </a:pPr>
            <a:r>
              <a:rPr lang="en-US" sz="680" dirty="0">
                <a:solidFill>
                  <a:srgbClr val="1F2A37"/>
                </a:solidFill>
              </a:rPr>
              <a:t>What can go wrong?</a:t>
            </a:r>
            <a:endParaRPr lang="en-US" sz="6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D99A3D"/>
          </a:solidFill>
          <a:ln w="12700">
            <a:solidFill>
              <a:srgbClr val="D99A3D"/>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D99A3D"/>
                </a:solidFill>
                <a:latin typeface="Aptos" pitchFamily="34" charset="0"/>
                <a:ea typeface="Aptos" pitchFamily="34" charset="-122"/>
                <a:cs typeface="Aptos" pitchFamily="34" charset="-120"/>
              </a:rPr>
              <a:t>COMPARE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The right protocol follows the shape of the task</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28</a:t>
            </a:r>
            <a:endParaRPr lang="en-US" sz="800" dirty="0"/>
          </a:p>
        </p:txBody>
      </p:sp>
      <p:sp>
        <p:nvSpPr>
          <p:cNvPr id="9" name="Shape 7"/>
          <p:cNvSpPr/>
          <p:nvPr/>
        </p:nvSpPr>
        <p:spPr>
          <a:xfrm>
            <a:off x="731520" y="1417320"/>
            <a:ext cx="2743200" cy="914400"/>
          </a:xfrm>
          <a:prstGeom prst="roundRect">
            <a:avLst>
              <a:gd name="adj" fmla="val 8000"/>
            </a:avLst>
          </a:prstGeom>
          <a:solidFill>
            <a:srgbClr val="FFFFFF"/>
          </a:solidFill>
          <a:ln w="19050">
            <a:solidFill>
              <a:srgbClr val="0A9B9B"/>
            </a:solidFill>
            <a:prstDash val="solid"/>
          </a:ln>
        </p:spPr>
      </p:sp>
      <p:sp>
        <p:nvSpPr>
          <p:cNvPr id="10" name="Text 8"/>
          <p:cNvSpPr/>
          <p:nvPr/>
        </p:nvSpPr>
        <p:spPr>
          <a:xfrm>
            <a:off x="914400" y="1600200"/>
            <a:ext cx="2377440" cy="228600"/>
          </a:xfrm>
          <a:prstGeom prst="rect">
            <a:avLst/>
          </a:prstGeom>
          <a:noFill/>
          <a:ln/>
        </p:spPr>
        <p:txBody>
          <a:bodyPr wrap="square" lIns="0" tIns="0" rIns="0" bIns="0" rtlCol="0" anchor="ctr">
            <a:normAutofit/>
          </a:bodyPr>
          <a:lstStyle/>
          <a:p>
            <a:pPr algn="ctr" indent="0" marL="0">
              <a:buNone/>
            </a:pPr>
            <a:r>
              <a:rPr lang="en-US" sz="1300" b="1" dirty="0">
                <a:solidFill>
                  <a:srgbClr val="0A9B9B"/>
                </a:solidFill>
              </a:rPr>
              <a:t>Deterministic transaction</a:t>
            </a:r>
            <a:endParaRPr lang="en-US" sz="1300" dirty="0"/>
          </a:p>
        </p:txBody>
      </p:sp>
      <p:sp>
        <p:nvSpPr>
          <p:cNvPr id="11" name="Text 9"/>
          <p:cNvSpPr/>
          <p:nvPr/>
        </p:nvSpPr>
        <p:spPr>
          <a:xfrm>
            <a:off x="3840480" y="1527048"/>
            <a:ext cx="4937760" cy="274320"/>
          </a:xfrm>
          <a:prstGeom prst="rect">
            <a:avLst/>
          </a:prstGeom>
          <a:noFill/>
          <a:ln/>
        </p:spPr>
        <p:txBody>
          <a:bodyPr wrap="square" lIns="0" tIns="0" rIns="0" bIns="0" rtlCol="0" anchor="ctr">
            <a:normAutofit/>
          </a:bodyPr>
          <a:lstStyle/>
          <a:p>
            <a:pPr indent="0" marL="0">
              <a:buNone/>
            </a:pPr>
            <a:r>
              <a:rPr lang="en-US" sz="1350" dirty="0">
                <a:solidFill>
                  <a:srgbClr val="1F2A37"/>
                </a:solidFill>
              </a:rPr>
              <a:t>“Create invoice for order 123”</a:t>
            </a:r>
            <a:endParaRPr lang="en-US" sz="1350" dirty="0"/>
          </a:p>
        </p:txBody>
      </p:sp>
      <p:sp>
        <p:nvSpPr>
          <p:cNvPr id="12" name="Shape 10"/>
          <p:cNvSpPr/>
          <p:nvPr/>
        </p:nvSpPr>
        <p:spPr>
          <a:xfrm>
            <a:off x="9235440" y="1655064"/>
            <a:ext cx="1280160" cy="292608"/>
          </a:xfrm>
          <a:prstGeom prst="roundRect">
            <a:avLst>
              <a:gd name="adj" fmla="val 37500"/>
            </a:avLst>
          </a:prstGeom>
          <a:solidFill>
            <a:srgbClr val="0A9B9B">
              <a:alpha val="15000"/>
            </a:srgbClr>
          </a:solidFill>
          <a:ln w="10160">
            <a:solidFill>
              <a:srgbClr val="0A9B9B"/>
            </a:solidFill>
            <a:prstDash val="solid"/>
          </a:ln>
        </p:spPr>
      </p:sp>
      <p:sp>
        <p:nvSpPr>
          <p:cNvPr id="13" name="Text 11"/>
          <p:cNvSpPr/>
          <p:nvPr/>
        </p:nvSpPr>
        <p:spPr>
          <a:xfrm>
            <a:off x="9281160" y="1728216"/>
            <a:ext cx="1188720" cy="137160"/>
          </a:xfrm>
          <a:prstGeom prst="rect">
            <a:avLst/>
          </a:prstGeom>
          <a:noFill/>
          <a:ln/>
        </p:spPr>
        <p:txBody>
          <a:bodyPr wrap="square" lIns="0" tIns="0" rIns="0" bIns="0" rtlCol="0" anchor="ctr">
            <a:normAutofit/>
          </a:bodyPr>
          <a:lstStyle/>
          <a:p>
            <a:pPr algn="ctr" indent="0" marL="0">
              <a:buNone/>
            </a:pPr>
            <a:r>
              <a:rPr lang="en-US" sz="1200" b="1" dirty="0">
                <a:solidFill>
                  <a:srgbClr val="0A9B9B"/>
                </a:solidFill>
              </a:rPr>
              <a:t>API</a:t>
            </a:r>
            <a:endParaRPr lang="en-US" sz="1200" dirty="0"/>
          </a:p>
        </p:txBody>
      </p:sp>
      <p:sp>
        <p:nvSpPr>
          <p:cNvPr id="14" name="Shape 12"/>
          <p:cNvSpPr/>
          <p:nvPr/>
        </p:nvSpPr>
        <p:spPr>
          <a:xfrm>
            <a:off x="731520" y="2834640"/>
            <a:ext cx="2743200" cy="914400"/>
          </a:xfrm>
          <a:prstGeom prst="roundRect">
            <a:avLst>
              <a:gd name="adj" fmla="val 8000"/>
            </a:avLst>
          </a:prstGeom>
          <a:solidFill>
            <a:srgbClr val="FFFFFF"/>
          </a:solidFill>
          <a:ln w="19050">
            <a:solidFill>
              <a:srgbClr val="25A9C7"/>
            </a:solidFill>
            <a:prstDash val="solid"/>
          </a:ln>
        </p:spPr>
      </p:sp>
      <p:sp>
        <p:nvSpPr>
          <p:cNvPr id="15" name="Text 13"/>
          <p:cNvSpPr/>
          <p:nvPr/>
        </p:nvSpPr>
        <p:spPr>
          <a:xfrm>
            <a:off x="914400" y="3017520"/>
            <a:ext cx="2377440" cy="228600"/>
          </a:xfrm>
          <a:prstGeom prst="rect">
            <a:avLst/>
          </a:prstGeom>
          <a:noFill/>
          <a:ln/>
        </p:spPr>
        <p:txBody>
          <a:bodyPr wrap="square" lIns="0" tIns="0" rIns="0" bIns="0" rtlCol="0" anchor="ctr">
            <a:normAutofit/>
          </a:bodyPr>
          <a:lstStyle/>
          <a:p>
            <a:pPr algn="ctr" indent="0" marL="0">
              <a:buNone/>
            </a:pPr>
            <a:r>
              <a:rPr lang="en-US" sz="1300" b="1" dirty="0">
                <a:solidFill>
                  <a:srgbClr val="25A9C7"/>
                </a:solidFill>
              </a:rPr>
              <a:t>AI-guided tool use</a:t>
            </a:r>
            <a:endParaRPr lang="en-US" sz="1300" dirty="0"/>
          </a:p>
        </p:txBody>
      </p:sp>
      <p:sp>
        <p:nvSpPr>
          <p:cNvPr id="16" name="Text 14"/>
          <p:cNvSpPr/>
          <p:nvPr/>
        </p:nvSpPr>
        <p:spPr>
          <a:xfrm>
            <a:off x="3840480" y="2944368"/>
            <a:ext cx="4937760" cy="274320"/>
          </a:xfrm>
          <a:prstGeom prst="rect">
            <a:avLst/>
          </a:prstGeom>
          <a:noFill/>
          <a:ln/>
        </p:spPr>
        <p:txBody>
          <a:bodyPr wrap="square" lIns="0" tIns="0" rIns="0" bIns="0" rtlCol="0" anchor="ctr">
            <a:normAutofit/>
          </a:bodyPr>
          <a:lstStyle/>
          <a:p>
            <a:pPr indent="0" marL="0">
              <a:buNone/>
            </a:pPr>
            <a:r>
              <a:rPr lang="en-US" sz="1350" dirty="0">
                <a:solidFill>
                  <a:srgbClr val="1F2A37"/>
                </a:solidFill>
              </a:rPr>
              <a:t>“Find the customer risk signals and summarize evidence”</a:t>
            </a:r>
            <a:endParaRPr lang="en-US" sz="1350" dirty="0"/>
          </a:p>
        </p:txBody>
      </p:sp>
      <p:sp>
        <p:nvSpPr>
          <p:cNvPr id="17" name="Shape 15"/>
          <p:cNvSpPr/>
          <p:nvPr/>
        </p:nvSpPr>
        <p:spPr>
          <a:xfrm>
            <a:off x="9235440" y="3072384"/>
            <a:ext cx="1280160" cy="292608"/>
          </a:xfrm>
          <a:prstGeom prst="roundRect">
            <a:avLst>
              <a:gd name="adj" fmla="val 37500"/>
            </a:avLst>
          </a:prstGeom>
          <a:solidFill>
            <a:srgbClr val="25A9C7">
              <a:alpha val="15000"/>
            </a:srgbClr>
          </a:solidFill>
          <a:ln w="10160">
            <a:solidFill>
              <a:srgbClr val="25A9C7"/>
            </a:solidFill>
            <a:prstDash val="solid"/>
          </a:ln>
        </p:spPr>
      </p:sp>
      <p:sp>
        <p:nvSpPr>
          <p:cNvPr id="18" name="Text 16"/>
          <p:cNvSpPr/>
          <p:nvPr/>
        </p:nvSpPr>
        <p:spPr>
          <a:xfrm>
            <a:off x="9281160" y="3145536"/>
            <a:ext cx="1188720" cy="137160"/>
          </a:xfrm>
          <a:prstGeom prst="rect">
            <a:avLst/>
          </a:prstGeom>
          <a:noFill/>
          <a:ln/>
        </p:spPr>
        <p:txBody>
          <a:bodyPr wrap="square" lIns="0" tIns="0" rIns="0" bIns="0" rtlCol="0" anchor="ctr">
            <a:normAutofit/>
          </a:bodyPr>
          <a:lstStyle/>
          <a:p>
            <a:pPr algn="ctr" indent="0" marL="0">
              <a:buNone/>
            </a:pPr>
            <a:r>
              <a:rPr lang="en-US" sz="1200" b="1" dirty="0">
                <a:solidFill>
                  <a:srgbClr val="25A9C7"/>
                </a:solidFill>
              </a:rPr>
              <a:t>MCP</a:t>
            </a:r>
            <a:endParaRPr lang="en-US" sz="1200" dirty="0"/>
          </a:p>
        </p:txBody>
      </p:sp>
      <p:sp>
        <p:nvSpPr>
          <p:cNvPr id="19" name="Shape 17"/>
          <p:cNvSpPr/>
          <p:nvPr/>
        </p:nvSpPr>
        <p:spPr>
          <a:xfrm>
            <a:off x="731520" y="4251960"/>
            <a:ext cx="2743200" cy="914400"/>
          </a:xfrm>
          <a:prstGeom prst="roundRect">
            <a:avLst>
              <a:gd name="adj" fmla="val 8000"/>
            </a:avLst>
          </a:prstGeom>
          <a:solidFill>
            <a:srgbClr val="FFFFFF"/>
          </a:solidFill>
          <a:ln w="19050">
            <a:solidFill>
              <a:srgbClr val="446CA8"/>
            </a:solidFill>
            <a:prstDash val="solid"/>
          </a:ln>
        </p:spPr>
      </p:sp>
      <p:sp>
        <p:nvSpPr>
          <p:cNvPr id="20" name="Text 18"/>
          <p:cNvSpPr/>
          <p:nvPr/>
        </p:nvSpPr>
        <p:spPr>
          <a:xfrm>
            <a:off x="914400" y="4434840"/>
            <a:ext cx="2377440" cy="228600"/>
          </a:xfrm>
          <a:prstGeom prst="rect">
            <a:avLst/>
          </a:prstGeom>
          <a:noFill/>
          <a:ln/>
        </p:spPr>
        <p:txBody>
          <a:bodyPr wrap="square" lIns="0" tIns="0" rIns="0" bIns="0" rtlCol="0" anchor="ctr">
            <a:normAutofit/>
          </a:bodyPr>
          <a:lstStyle/>
          <a:p>
            <a:pPr algn="ctr" indent="0" marL="0">
              <a:buNone/>
            </a:pPr>
            <a:r>
              <a:rPr lang="en-US" sz="1300" b="1" dirty="0">
                <a:solidFill>
                  <a:srgbClr val="446CA8"/>
                </a:solidFill>
              </a:rPr>
              <a:t>Collaborative work</a:t>
            </a:r>
            <a:endParaRPr lang="en-US" sz="1300" dirty="0"/>
          </a:p>
        </p:txBody>
      </p:sp>
      <p:sp>
        <p:nvSpPr>
          <p:cNvPr id="21" name="Text 19"/>
          <p:cNvSpPr/>
          <p:nvPr/>
        </p:nvSpPr>
        <p:spPr>
          <a:xfrm>
            <a:off x="3840480" y="4361688"/>
            <a:ext cx="4937760" cy="274320"/>
          </a:xfrm>
          <a:prstGeom prst="rect">
            <a:avLst/>
          </a:prstGeom>
          <a:noFill/>
          <a:ln/>
        </p:spPr>
        <p:txBody>
          <a:bodyPr wrap="square" lIns="0" tIns="0" rIns="0" bIns="0" rtlCol="0" anchor="ctr">
            <a:normAutofit/>
          </a:bodyPr>
          <a:lstStyle/>
          <a:p>
            <a:pPr indent="0" marL="0">
              <a:buNone/>
            </a:pPr>
            <a:r>
              <a:rPr lang="en-US" sz="1350" dirty="0">
                <a:solidFill>
                  <a:srgbClr val="1F2A37"/>
                </a:solidFill>
              </a:rPr>
              <a:t>“Coordinate billing, support, and legal to produce renewal plan”</a:t>
            </a:r>
            <a:endParaRPr lang="en-US" sz="1350" dirty="0"/>
          </a:p>
        </p:txBody>
      </p:sp>
      <p:sp>
        <p:nvSpPr>
          <p:cNvPr id="22" name="Shape 20"/>
          <p:cNvSpPr/>
          <p:nvPr/>
        </p:nvSpPr>
        <p:spPr>
          <a:xfrm>
            <a:off x="9235440" y="4489704"/>
            <a:ext cx="1280160" cy="292608"/>
          </a:xfrm>
          <a:prstGeom prst="roundRect">
            <a:avLst>
              <a:gd name="adj" fmla="val 37500"/>
            </a:avLst>
          </a:prstGeom>
          <a:solidFill>
            <a:srgbClr val="446CA8">
              <a:alpha val="15000"/>
            </a:srgbClr>
          </a:solidFill>
          <a:ln w="10160">
            <a:solidFill>
              <a:srgbClr val="446CA8"/>
            </a:solidFill>
            <a:prstDash val="solid"/>
          </a:ln>
        </p:spPr>
      </p:sp>
      <p:sp>
        <p:nvSpPr>
          <p:cNvPr id="23" name="Text 21"/>
          <p:cNvSpPr/>
          <p:nvPr/>
        </p:nvSpPr>
        <p:spPr>
          <a:xfrm>
            <a:off x="9281160" y="4562856"/>
            <a:ext cx="1188720" cy="137160"/>
          </a:xfrm>
          <a:prstGeom prst="rect">
            <a:avLst/>
          </a:prstGeom>
          <a:noFill/>
          <a:ln/>
        </p:spPr>
        <p:txBody>
          <a:bodyPr wrap="square" lIns="0" tIns="0" rIns="0" bIns="0" rtlCol="0" anchor="ctr">
            <a:normAutofit/>
          </a:bodyPr>
          <a:lstStyle/>
          <a:p>
            <a:pPr algn="ctr" indent="0" marL="0">
              <a:buNone/>
            </a:pPr>
            <a:r>
              <a:rPr lang="en-US" sz="1200" b="1" dirty="0">
                <a:solidFill>
                  <a:srgbClr val="446CA8"/>
                </a:solidFill>
              </a:rPr>
              <a:t>A2A</a:t>
            </a:r>
            <a:endParaRPr lang="en-US" sz="1200" dirty="0"/>
          </a:p>
        </p:txBody>
      </p:sp>
      <p:sp>
        <p:nvSpPr>
          <p:cNvPr id="24" name="Shape 22"/>
          <p:cNvSpPr/>
          <p:nvPr/>
        </p:nvSpPr>
        <p:spPr>
          <a:xfrm>
            <a:off x="777240" y="5486400"/>
            <a:ext cx="10332720" cy="566928"/>
          </a:xfrm>
          <a:prstGeom prst="roundRect">
            <a:avLst>
              <a:gd name="adj" fmla="val 8065"/>
            </a:avLst>
          </a:prstGeom>
          <a:solidFill>
            <a:srgbClr val="F7FBFE"/>
          </a:solidFill>
          <a:ln w="12700">
            <a:solidFill>
              <a:srgbClr val="123452"/>
            </a:solidFill>
            <a:prstDash val="solid"/>
          </a:ln>
        </p:spPr>
      </p:sp>
      <p:sp>
        <p:nvSpPr>
          <p:cNvPr id="25" name="Shape 23"/>
          <p:cNvSpPr/>
          <p:nvPr/>
        </p:nvSpPr>
        <p:spPr>
          <a:xfrm>
            <a:off x="777240" y="5486400"/>
            <a:ext cx="73152" cy="566928"/>
          </a:xfrm>
          <a:prstGeom prst="rect">
            <a:avLst/>
          </a:prstGeom>
          <a:solidFill>
            <a:srgbClr val="123452"/>
          </a:solidFill>
          <a:ln w="12700">
            <a:solidFill>
              <a:srgbClr val="123452"/>
            </a:solidFill>
            <a:prstDash val="solid"/>
          </a:ln>
        </p:spPr>
      </p:sp>
      <p:sp>
        <p:nvSpPr>
          <p:cNvPr id="26" name="Text 24"/>
          <p:cNvSpPr/>
          <p:nvPr/>
        </p:nvSpPr>
        <p:spPr>
          <a:xfrm>
            <a:off x="941832" y="5614416"/>
            <a:ext cx="10076688" cy="228600"/>
          </a:xfrm>
          <a:prstGeom prst="rect">
            <a:avLst/>
          </a:prstGeom>
          <a:noFill/>
          <a:ln/>
        </p:spPr>
        <p:txBody>
          <a:bodyPr wrap="square" lIns="0" tIns="0" rIns="0" bIns="0" rtlCol="0" anchor="ctr">
            <a:normAutofit/>
          </a:bodyPr>
          <a:lstStyle/>
          <a:p>
            <a:pPr indent="0" marL="0">
              <a:buNone/>
            </a:pPr>
            <a:r>
              <a:rPr lang="en-US" sz="1200" b="1" dirty="0">
                <a:solidFill>
                  <a:srgbClr val="123452"/>
                </a:solidFill>
              </a:rPr>
              <a:t>Facilitator prompt</a:t>
            </a:r>
            <a:endParaRPr lang="en-US" sz="1200" dirty="0"/>
          </a:p>
        </p:txBody>
      </p:sp>
      <p:sp>
        <p:nvSpPr>
          <p:cNvPr id="27" name="Text 25"/>
          <p:cNvSpPr/>
          <p:nvPr/>
        </p:nvSpPr>
        <p:spPr>
          <a:xfrm>
            <a:off x="941832" y="5943600"/>
            <a:ext cx="10076688" cy="0"/>
          </a:xfrm>
          <a:prstGeom prst="rect">
            <a:avLst/>
          </a:prstGeom>
          <a:noFill/>
          <a:ln/>
        </p:spPr>
        <p:txBody>
          <a:bodyPr wrap="square" lIns="254" tIns="254" rIns="254" bIns="254" rtlCol="0" anchor="t">
            <a:normAutofit/>
          </a:bodyPr>
          <a:lstStyle/>
          <a:p>
            <a:pPr indent="0" marL="0">
              <a:buNone/>
            </a:pPr>
            <a:r>
              <a:rPr lang="en-US" sz="1180" dirty="0">
                <a:solidFill>
                  <a:srgbClr val="1F2A37"/>
                </a:solidFill>
              </a:rPr>
              <a:t>Ask: does the task require a known operation, model-mediated capability selection, or another autonomous actor?</a:t>
            </a:r>
            <a:endParaRPr lang="en-US" sz="11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D99A3D"/>
          </a:solidFill>
          <a:ln w="12700">
            <a:solidFill>
              <a:srgbClr val="D99A3D"/>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D99A3D"/>
                </a:solidFill>
                <a:latin typeface="Aptos" pitchFamily="34" charset="0"/>
                <a:ea typeface="Aptos" pitchFamily="34" charset="-122"/>
                <a:cs typeface="Aptos" pitchFamily="34" charset="-120"/>
              </a:rPr>
              <a:t>COMPARE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Latency, state, and ownership are the most important non-functional differences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29</a:t>
            </a:r>
            <a:endParaRPr lang="en-US" sz="800" dirty="0"/>
          </a:p>
        </p:txBody>
      </p:sp>
      <p:sp>
        <p:nvSpPr>
          <p:cNvPr id="9" name="Shape 7"/>
          <p:cNvSpPr/>
          <p:nvPr/>
        </p:nvSpPr>
        <p:spPr>
          <a:xfrm>
            <a:off x="594360" y="1353312"/>
            <a:ext cx="10515600" cy="502920"/>
          </a:xfrm>
          <a:prstGeom prst="rect">
            <a:avLst/>
          </a:prstGeom>
          <a:solidFill>
            <a:srgbClr val="D99A3D"/>
          </a:solidFill>
          <a:ln w="12700">
            <a:solidFill>
              <a:srgbClr val="D99A3D"/>
            </a:solidFill>
            <a:prstDash val="solid"/>
          </a:ln>
        </p:spPr>
      </p:sp>
      <p:sp>
        <p:nvSpPr>
          <p:cNvPr id="10" name="Text 8"/>
          <p:cNvSpPr/>
          <p:nvPr/>
        </p:nvSpPr>
        <p:spPr>
          <a:xfrm>
            <a:off x="640080" y="1453896"/>
            <a:ext cx="1920240" cy="393192"/>
          </a:xfrm>
          <a:prstGeom prst="rect">
            <a:avLst/>
          </a:prstGeom>
          <a:noFill/>
          <a:ln/>
        </p:spPr>
        <p:txBody>
          <a:bodyPr wrap="square" lIns="0" tIns="0" rIns="0" bIns="0" rtlCol="0" anchor="ctr">
            <a:normAutofit/>
          </a:bodyPr>
          <a:lstStyle/>
          <a:p>
            <a:pPr algn="l" indent="0" marL="0">
              <a:buNone/>
            </a:pPr>
            <a:r>
              <a:rPr lang="en-US" sz="820" b="1" dirty="0">
                <a:solidFill>
                  <a:srgbClr val="FFFFFF"/>
                </a:solidFill>
              </a:rPr>
              <a:t>NFR</a:t>
            </a:r>
            <a:endParaRPr lang="en-US" sz="820" dirty="0"/>
          </a:p>
        </p:txBody>
      </p:sp>
      <p:sp>
        <p:nvSpPr>
          <p:cNvPr id="11" name="Text 9"/>
          <p:cNvSpPr/>
          <p:nvPr/>
        </p:nvSpPr>
        <p:spPr>
          <a:xfrm>
            <a:off x="2651760" y="1453896"/>
            <a:ext cx="2743200" cy="393192"/>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APIs</a:t>
            </a:r>
            <a:endParaRPr lang="en-US" sz="820" dirty="0"/>
          </a:p>
        </p:txBody>
      </p:sp>
      <p:sp>
        <p:nvSpPr>
          <p:cNvPr id="12" name="Shape 10"/>
          <p:cNvSpPr/>
          <p:nvPr/>
        </p:nvSpPr>
        <p:spPr>
          <a:xfrm>
            <a:off x="2606040" y="1353312"/>
            <a:ext cx="0" cy="3017520"/>
          </a:xfrm>
          <a:prstGeom prst="line">
            <a:avLst/>
          </a:prstGeom>
          <a:noFill/>
          <a:ln w="6350">
            <a:solidFill>
              <a:srgbClr val="FFFFFF">
                <a:alpha val="60000"/>
              </a:srgbClr>
            </a:solidFill>
            <a:prstDash val="solid"/>
          </a:ln>
        </p:spPr>
      </p:sp>
      <p:sp>
        <p:nvSpPr>
          <p:cNvPr id="13" name="Text 11"/>
          <p:cNvSpPr/>
          <p:nvPr/>
        </p:nvSpPr>
        <p:spPr>
          <a:xfrm>
            <a:off x="5486400" y="1453896"/>
            <a:ext cx="2743200" cy="393192"/>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MCP</a:t>
            </a:r>
            <a:endParaRPr lang="en-US" sz="820" dirty="0"/>
          </a:p>
        </p:txBody>
      </p:sp>
      <p:sp>
        <p:nvSpPr>
          <p:cNvPr id="14" name="Shape 12"/>
          <p:cNvSpPr/>
          <p:nvPr/>
        </p:nvSpPr>
        <p:spPr>
          <a:xfrm>
            <a:off x="5440680" y="1353312"/>
            <a:ext cx="0" cy="3017520"/>
          </a:xfrm>
          <a:prstGeom prst="line">
            <a:avLst/>
          </a:prstGeom>
          <a:noFill/>
          <a:ln w="6350">
            <a:solidFill>
              <a:srgbClr val="FFFFFF">
                <a:alpha val="60000"/>
              </a:srgbClr>
            </a:solidFill>
            <a:prstDash val="solid"/>
          </a:ln>
        </p:spPr>
      </p:sp>
      <p:sp>
        <p:nvSpPr>
          <p:cNvPr id="15" name="Text 13"/>
          <p:cNvSpPr/>
          <p:nvPr/>
        </p:nvSpPr>
        <p:spPr>
          <a:xfrm>
            <a:off x="8321040" y="1453896"/>
            <a:ext cx="2743200" cy="393192"/>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A2A</a:t>
            </a:r>
            <a:endParaRPr lang="en-US" sz="820" dirty="0"/>
          </a:p>
        </p:txBody>
      </p:sp>
      <p:sp>
        <p:nvSpPr>
          <p:cNvPr id="16" name="Shape 14"/>
          <p:cNvSpPr/>
          <p:nvPr/>
        </p:nvSpPr>
        <p:spPr>
          <a:xfrm>
            <a:off x="8275320" y="1353312"/>
            <a:ext cx="0" cy="3017520"/>
          </a:xfrm>
          <a:prstGeom prst="line">
            <a:avLst/>
          </a:prstGeom>
          <a:noFill/>
          <a:ln w="6350">
            <a:solidFill>
              <a:srgbClr val="FFFFFF">
                <a:alpha val="60000"/>
              </a:srgbClr>
            </a:solidFill>
            <a:prstDash val="solid"/>
          </a:ln>
        </p:spPr>
      </p:sp>
      <p:sp>
        <p:nvSpPr>
          <p:cNvPr id="17" name="Shape 15"/>
          <p:cNvSpPr/>
          <p:nvPr/>
        </p:nvSpPr>
        <p:spPr>
          <a:xfrm>
            <a:off x="594360" y="1856232"/>
            <a:ext cx="10515600" cy="502920"/>
          </a:xfrm>
          <a:prstGeom prst="rect">
            <a:avLst/>
          </a:prstGeom>
          <a:solidFill>
            <a:srgbClr val="FFFFFF"/>
          </a:solidFill>
          <a:ln w="6350">
            <a:solidFill>
              <a:srgbClr val="D7E6F2"/>
            </a:solidFill>
            <a:prstDash val="solid"/>
          </a:ln>
        </p:spPr>
      </p:sp>
      <p:sp>
        <p:nvSpPr>
          <p:cNvPr id="18" name="Text 16"/>
          <p:cNvSpPr/>
          <p:nvPr/>
        </p:nvSpPr>
        <p:spPr>
          <a:xfrm>
            <a:off x="649224" y="1929384"/>
            <a:ext cx="1901952" cy="393192"/>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Latency</a:t>
            </a:r>
            <a:endParaRPr lang="en-US" sz="750" dirty="0"/>
          </a:p>
        </p:txBody>
      </p:sp>
      <p:sp>
        <p:nvSpPr>
          <p:cNvPr id="19" name="Text 17"/>
          <p:cNvSpPr/>
          <p:nvPr/>
        </p:nvSpPr>
        <p:spPr>
          <a:xfrm>
            <a:off x="2660904" y="192938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Lowest and most predictable</a:t>
            </a:r>
            <a:endParaRPr lang="en-US" sz="750" dirty="0"/>
          </a:p>
        </p:txBody>
      </p:sp>
      <p:sp>
        <p:nvSpPr>
          <p:cNvPr id="20" name="Text 18"/>
          <p:cNvSpPr/>
          <p:nvPr/>
        </p:nvSpPr>
        <p:spPr>
          <a:xfrm>
            <a:off x="5495544" y="192938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Tool discovery/call overhead; model loop may dominate</a:t>
            </a:r>
            <a:endParaRPr lang="en-US" sz="750" dirty="0"/>
          </a:p>
        </p:txBody>
      </p:sp>
      <p:sp>
        <p:nvSpPr>
          <p:cNvPr id="21" name="Text 19"/>
          <p:cNvSpPr/>
          <p:nvPr/>
        </p:nvSpPr>
        <p:spPr>
          <a:xfrm>
            <a:off x="8330184" y="192938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Potentially highest due to tasks, streams, remote agents</a:t>
            </a:r>
            <a:endParaRPr lang="en-US" sz="750" dirty="0"/>
          </a:p>
        </p:txBody>
      </p:sp>
      <p:sp>
        <p:nvSpPr>
          <p:cNvPr id="22" name="Shape 20"/>
          <p:cNvSpPr/>
          <p:nvPr/>
        </p:nvSpPr>
        <p:spPr>
          <a:xfrm>
            <a:off x="594360" y="2359152"/>
            <a:ext cx="10515600" cy="502920"/>
          </a:xfrm>
          <a:prstGeom prst="rect">
            <a:avLst/>
          </a:prstGeom>
          <a:solidFill>
            <a:srgbClr val="F8FAFC"/>
          </a:solidFill>
          <a:ln w="6350">
            <a:solidFill>
              <a:srgbClr val="D7E6F2"/>
            </a:solidFill>
            <a:prstDash val="solid"/>
          </a:ln>
        </p:spPr>
      </p:sp>
      <p:sp>
        <p:nvSpPr>
          <p:cNvPr id="23" name="Text 21"/>
          <p:cNvSpPr/>
          <p:nvPr/>
        </p:nvSpPr>
        <p:spPr>
          <a:xfrm>
            <a:off x="649224" y="2432304"/>
            <a:ext cx="1901952" cy="393192"/>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Scalability</a:t>
            </a:r>
            <a:endParaRPr lang="en-US" sz="750" dirty="0"/>
          </a:p>
        </p:txBody>
      </p:sp>
      <p:sp>
        <p:nvSpPr>
          <p:cNvPr id="24" name="Text 22"/>
          <p:cNvSpPr/>
          <p:nvPr/>
        </p:nvSpPr>
        <p:spPr>
          <a:xfrm>
            <a:off x="2660904" y="243230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Established patterns</a:t>
            </a:r>
            <a:endParaRPr lang="en-US" sz="750" dirty="0"/>
          </a:p>
        </p:txBody>
      </p:sp>
      <p:sp>
        <p:nvSpPr>
          <p:cNvPr id="25" name="Text 23"/>
          <p:cNvSpPr/>
          <p:nvPr/>
        </p:nvSpPr>
        <p:spPr>
          <a:xfrm>
            <a:off x="5495544" y="243230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Depends on host-server sessions and tool boundaries</a:t>
            </a:r>
            <a:endParaRPr lang="en-US" sz="750" dirty="0"/>
          </a:p>
        </p:txBody>
      </p:sp>
      <p:sp>
        <p:nvSpPr>
          <p:cNvPr id="26" name="Text 24"/>
          <p:cNvSpPr/>
          <p:nvPr/>
        </p:nvSpPr>
        <p:spPr>
          <a:xfrm>
            <a:off x="8330184" y="243230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Depends on agent orchestration and async task handling</a:t>
            </a:r>
            <a:endParaRPr lang="en-US" sz="750" dirty="0"/>
          </a:p>
        </p:txBody>
      </p:sp>
      <p:sp>
        <p:nvSpPr>
          <p:cNvPr id="27" name="Shape 25"/>
          <p:cNvSpPr/>
          <p:nvPr/>
        </p:nvSpPr>
        <p:spPr>
          <a:xfrm>
            <a:off x="594360" y="2862072"/>
            <a:ext cx="10515600" cy="502920"/>
          </a:xfrm>
          <a:prstGeom prst="rect">
            <a:avLst/>
          </a:prstGeom>
          <a:solidFill>
            <a:srgbClr val="FFFFFF"/>
          </a:solidFill>
          <a:ln w="6350">
            <a:solidFill>
              <a:srgbClr val="D7E6F2"/>
            </a:solidFill>
            <a:prstDash val="solid"/>
          </a:ln>
        </p:spPr>
      </p:sp>
      <p:sp>
        <p:nvSpPr>
          <p:cNvPr id="28" name="Text 26"/>
          <p:cNvSpPr/>
          <p:nvPr/>
        </p:nvSpPr>
        <p:spPr>
          <a:xfrm>
            <a:off x="649224" y="2935224"/>
            <a:ext cx="1901952" cy="393192"/>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State</a:t>
            </a:r>
            <a:endParaRPr lang="en-US" sz="750" dirty="0"/>
          </a:p>
        </p:txBody>
      </p:sp>
      <p:sp>
        <p:nvSpPr>
          <p:cNvPr id="29" name="Text 27"/>
          <p:cNvSpPr/>
          <p:nvPr/>
        </p:nvSpPr>
        <p:spPr>
          <a:xfrm>
            <a:off x="2660904" y="293522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Caller or backend owns it</a:t>
            </a:r>
            <a:endParaRPr lang="en-US" sz="750" dirty="0"/>
          </a:p>
        </p:txBody>
      </p:sp>
      <p:sp>
        <p:nvSpPr>
          <p:cNvPr id="30" name="Text 28"/>
          <p:cNvSpPr/>
          <p:nvPr/>
        </p:nvSpPr>
        <p:spPr>
          <a:xfrm>
            <a:off x="5495544" y="293522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Host/session/context owns working state</a:t>
            </a:r>
            <a:endParaRPr lang="en-US" sz="750" dirty="0"/>
          </a:p>
        </p:txBody>
      </p:sp>
      <p:sp>
        <p:nvSpPr>
          <p:cNvPr id="31" name="Text 29"/>
          <p:cNvSpPr/>
          <p:nvPr/>
        </p:nvSpPr>
        <p:spPr>
          <a:xfrm>
            <a:off x="8330184" y="293522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Protocol models stateful tasks</a:t>
            </a:r>
            <a:endParaRPr lang="en-US" sz="750" dirty="0"/>
          </a:p>
        </p:txBody>
      </p:sp>
      <p:sp>
        <p:nvSpPr>
          <p:cNvPr id="32" name="Shape 30"/>
          <p:cNvSpPr/>
          <p:nvPr/>
        </p:nvSpPr>
        <p:spPr>
          <a:xfrm>
            <a:off x="594360" y="3364992"/>
            <a:ext cx="10515600" cy="502920"/>
          </a:xfrm>
          <a:prstGeom prst="rect">
            <a:avLst/>
          </a:prstGeom>
          <a:solidFill>
            <a:srgbClr val="F8FAFC"/>
          </a:solidFill>
          <a:ln w="6350">
            <a:solidFill>
              <a:srgbClr val="D7E6F2"/>
            </a:solidFill>
            <a:prstDash val="solid"/>
          </a:ln>
        </p:spPr>
      </p:sp>
      <p:sp>
        <p:nvSpPr>
          <p:cNvPr id="33" name="Text 31"/>
          <p:cNvSpPr/>
          <p:nvPr/>
        </p:nvSpPr>
        <p:spPr>
          <a:xfrm>
            <a:off x="649224" y="3438144"/>
            <a:ext cx="1901952" cy="393192"/>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Ownership</a:t>
            </a:r>
            <a:endParaRPr lang="en-US" sz="750" dirty="0"/>
          </a:p>
        </p:txBody>
      </p:sp>
      <p:sp>
        <p:nvSpPr>
          <p:cNvPr id="34" name="Text 32"/>
          <p:cNvSpPr/>
          <p:nvPr/>
        </p:nvSpPr>
        <p:spPr>
          <a:xfrm>
            <a:off x="2660904" y="343814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Service owner publishes contract</a:t>
            </a:r>
            <a:endParaRPr lang="en-US" sz="750" dirty="0"/>
          </a:p>
        </p:txBody>
      </p:sp>
      <p:sp>
        <p:nvSpPr>
          <p:cNvPr id="35" name="Text 33"/>
          <p:cNvSpPr/>
          <p:nvPr/>
        </p:nvSpPr>
        <p:spPr>
          <a:xfrm>
            <a:off x="5495544" y="343814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Tool/resource owner publishes MCP server</a:t>
            </a:r>
            <a:endParaRPr lang="en-US" sz="750" dirty="0"/>
          </a:p>
        </p:txBody>
      </p:sp>
      <p:sp>
        <p:nvSpPr>
          <p:cNvPr id="36" name="Text 34"/>
          <p:cNvSpPr/>
          <p:nvPr/>
        </p:nvSpPr>
        <p:spPr>
          <a:xfrm>
            <a:off x="8330184" y="343814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Agent owner publishes Agent Card and skills</a:t>
            </a:r>
            <a:endParaRPr lang="en-US" sz="750" dirty="0"/>
          </a:p>
        </p:txBody>
      </p:sp>
      <p:sp>
        <p:nvSpPr>
          <p:cNvPr id="37" name="Shape 35"/>
          <p:cNvSpPr/>
          <p:nvPr/>
        </p:nvSpPr>
        <p:spPr>
          <a:xfrm>
            <a:off x="594360" y="3867912"/>
            <a:ext cx="10515600" cy="502920"/>
          </a:xfrm>
          <a:prstGeom prst="rect">
            <a:avLst/>
          </a:prstGeom>
          <a:solidFill>
            <a:srgbClr val="FFFFFF"/>
          </a:solidFill>
          <a:ln w="6350">
            <a:solidFill>
              <a:srgbClr val="D7E6F2"/>
            </a:solidFill>
            <a:prstDash val="solid"/>
          </a:ln>
        </p:spPr>
      </p:sp>
      <p:sp>
        <p:nvSpPr>
          <p:cNvPr id="38" name="Text 36"/>
          <p:cNvSpPr/>
          <p:nvPr/>
        </p:nvSpPr>
        <p:spPr>
          <a:xfrm>
            <a:off x="649224" y="3941064"/>
            <a:ext cx="1901952" cy="393192"/>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SLA clarity</a:t>
            </a:r>
            <a:endParaRPr lang="en-US" sz="750" dirty="0"/>
          </a:p>
        </p:txBody>
      </p:sp>
      <p:sp>
        <p:nvSpPr>
          <p:cNvPr id="39" name="Text 37"/>
          <p:cNvSpPr/>
          <p:nvPr/>
        </p:nvSpPr>
        <p:spPr>
          <a:xfrm>
            <a:off x="2660904" y="394106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Strongest</a:t>
            </a:r>
            <a:endParaRPr lang="en-US" sz="750" dirty="0"/>
          </a:p>
        </p:txBody>
      </p:sp>
      <p:sp>
        <p:nvSpPr>
          <p:cNvPr id="40" name="Text 38"/>
          <p:cNvSpPr/>
          <p:nvPr/>
        </p:nvSpPr>
        <p:spPr>
          <a:xfrm>
            <a:off x="5495544" y="394106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Moderate: tool + model behavior</a:t>
            </a:r>
            <a:endParaRPr lang="en-US" sz="750" dirty="0"/>
          </a:p>
        </p:txBody>
      </p:sp>
      <p:sp>
        <p:nvSpPr>
          <p:cNvPr id="41" name="Text 39"/>
          <p:cNvSpPr/>
          <p:nvPr/>
        </p:nvSpPr>
        <p:spPr>
          <a:xfrm>
            <a:off x="8330184" y="3941064"/>
            <a:ext cx="2724912" cy="393192"/>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Harder: multi-agent coordination</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D99A3D"/>
          </a:solidFill>
          <a:ln w="12700">
            <a:solidFill>
              <a:srgbClr val="D99A3D"/>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D99A3D"/>
                </a:solidFill>
                <a:latin typeface="Aptos" pitchFamily="34" charset="0"/>
                <a:ea typeface="Aptos" pitchFamily="34" charset="-122"/>
                <a:cs typeface="Aptos" pitchFamily="34" charset="-120"/>
              </a:rPr>
              <a:t>COMPARE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Discovery semantics differ: API docs describe endpoints; MCP lists tools; A2A advertises agents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30</a:t>
            </a:r>
            <a:endParaRPr lang="en-US" sz="800" dirty="0"/>
          </a:p>
        </p:txBody>
      </p:sp>
      <p:sp>
        <p:nvSpPr>
          <p:cNvPr id="9" name="Shape 7"/>
          <p:cNvSpPr/>
          <p:nvPr/>
        </p:nvSpPr>
        <p:spPr>
          <a:xfrm>
            <a:off x="640080" y="1371600"/>
            <a:ext cx="3337560" cy="1280160"/>
          </a:xfrm>
          <a:prstGeom prst="roundRect">
            <a:avLst>
              <a:gd name="adj" fmla="val 3571"/>
            </a:avLst>
          </a:prstGeom>
          <a:solidFill>
            <a:srgbClr val="F7FBFE"/>
          </a:solidFill>
          <a:ln w="12700">
            <a:solidFill>
              <a:srgbClr val="0A9B9B"/>
            </a:solidFill>
            <a:prstDash val="solid"/>
          </a:ln>
        </p:spPr>
      </p:sp>
      <p:sp>
        <p:nvSpPr>
          <p:cNvPr id="10" name="Shape 8"/>
          <p:cNvSpPr/>
          <p:nvPr/>
        </p:nvSpPr>
        <p:spPr>
          <a:xfrm>
            <a:off x="640080" y="1371600"/>
            <a:ext cx="73152" cy="1280160"/>
          </a:xfrm>
          <a:prstGeom prst="rect">
            <a:avLst/>
          </a:prstGeom>
          <a:solidFill>
            <a:srgbClr val="0A9B9B"/>
          </a:solidFill>
          <a:ln w="12700">
            <a:solidFill>
              <a:srgbClr val="0A9B9B"/>
            </a:solidFill>
            <a:prstDash val="solid"/>
          </a:ln>
        </p:spPr>
      </p:sp>
      <p:sp>
        <p:nvSpPr>
          <p:cNvPr id="11" name="Text 9"/>
          <p:cNvSpPr/>
          <p:nvPr/>
        </p:nvSpPr>
        <p:spPr>
          <a:xfrm>
            <a:off x="804672" y="1499616"/>
            <a:ext cx="308152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API discovery</a:t>
            </a:r>
            <a:endParaRPr lang="en-US" sz="1300" dirty="0"/>
          </a:p>
        </p:txBody>
      </p:sp>
      <p:sp>
        <p:nvSpPr>
          <p:cNvPr id="12" name="Text 10"/>
          <p:cNvSpPr/>
          <p:nvPr/>
        </p:nvSpPr>
        <p:spPr>
          <a:xfrm>
            <a:off x="804672" y="1828800"/>
            <a:ext cx="3081528" cy="71323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OpenAPI, GraphQL introspection, proto descriptors, developer portals, SDKs, catalogs.</a:t>
            </a:r>
            <a:endParaRPr lang="en-US" sz="1100" dirty="0"/>
          </a:p>
        </p:txBody>
      </p:sp>
      <p:sp>
        <p:nvSpPr>
          <p:cNvPr id="13" name="Shape 11"/>
          <p:cNvSpPr/>
          <p:nvPr/>
        </p:nvSpPr>
        <p:spPr>
          <a:xfrm>
            <a:off x="4434840" y="1371600"/>
            <a:ext cx="3337560" cy="1280160"/>
          </a:xfrm>
          <a:prstGeom prst="roundRect">
            <a:avLst>
              <a:gd name="adj" fmla="val 3571"/>
            </a:avLst>
          </a:prstGeom>
          <a:solidFill>
            <a:srgbClr val="F7FBFE"/>
          </a:solidFill>
          <a:ln w="12700">
            <a:solidFill>
              <a:srgbClr val="25A9C7"/>
            </a:solidFill>
            <a:prstDash val="solid"/>
          </a:ln>
        </p:spPr>
      </p:sp>
      <p:sp>
        <p:nvSpPr>
          <p:cNvPr id="14" name="Shape 12"/>
          <p:cNvSpPr/>
          <p:nvPr/>
        </p:nvSpPr>
        <p:spPr>
          <a:xfrm>
            <a:off x="4434840" y="1371600"/>
            <a:ext cx="73152" cy="1280160"/>
          </a:xfrm>
          <a:prstGeom prst="rect">
            <a:avLst/>
          </a:prstGeom>
          <a:solidFill>
            <a:srgbClr val="25A9C7"/>
          </a:solidFill>
          <a:ln w="12700">
            <a:solidFill>
              <a:srgbClr val="25A9C7"/>
            </a:solidFill>
            <a:prstDash val="solid"/>
          </a:ln>
        </p:spPr>
      </p:sp>
      <p:sp>
        <p:nvSpPr>
          <p:cNvPr id="15" name="Text 13"/>
          <p:cNvSpPr/>
          <p:nvPr/>
        </p:nvSpPr>
        <p:spPr>
          <a:xfrm>
            <a:off x="4599432" y="1499616"/>
            <a:ext cx="308152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MCP discovery</a:t>
            </a:r>
            <a:endParaRPr lang="en-US" sz="1300" dirty="0"/>
          </a:p>
        </p:txBody>
      </p:sp>
      <p:sp>
        <p:nvSpPr>
          <p:cNvPr id="16" name="Text 14"/>
          <p:cNvSpPr/>
          <p:nvPr/>
        </p:nvSpPr>
        <p:spPr>
          <a:xfrm>
            <a:off x="4599432" y="1828800"/>
            <a:ext cx="3081528" cy="71323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MCP client lists server primitives such as tools, resources, and prompts after initialization.</a:t>
            </a:r>
            <a:endParaRPr lang="en-US" sz="1100" dirty="0"/>
          </a:p>
        </p:txBody>
      </p:sp>
      <p:sp>
        <p:nvSpPr>
          <p:cNvPr id="17" name="Shape 15"/>
          <p:cNvSpPr/>
          <p:nvPr/>
        </p:nvSpPr>
        <p:spPr>
          <a:xfrm>
            <a:off x="8229600" y="1371600"/>
            <a:ext cx="3337560" cy="1280160"/>
          </a:xfrm>
          <a:prstGeom prst="roundRect">
            <a:avLst>
              <a:gd name="adj" fmla="val 3571"/>
            </a:avLst>
          </a:prstGeom>
          <a:solidFill>
            <a:srgbClr val="F7FBFE"/>
          </a:solidFill>
          <a:ln w="12700">
            <a:solidFill>
              <a:srgbClr val="446CA8"/>
            </a:solidFill>
            <a:prstDash val="solid"/>
          </a:ln>
        </p:spPr>
      </p:sp>
      <p:sp>
        <p:nvSpPr>
          <p:cNvPr id="18" name="Shape 16"/>
          <p:cNvSpPr/>
          <p:nvPr/>
        </p:nvSpPr>
        <p:spPr>
          <a:xfrm>
            <a:off x="8229600" y="1371600"/>
            <a:ext cx="73152" cy="1280160"/>
          </a:xfrm>
          <a:prstGeom prst="rect">
            <a:avLst/>
          </a:prstGeom>
          <a:solidFill>
            <a:srgbClr val="446CA8"/>
          </a:solidFill>
          <a:ln w="12700">
            <a:solidFill>
              <a:srgbClr val="446CA8"/>
            </a:solidFill>
            <a:prstDash val="solid"/>
          </a:ln>
        </p:spPr>
      </p:sp>
      <p:sp>
        <p:nvSpPr>
          <p:cNvPr id="19" name="Text 17"/>
          <p:cNvSpPr/>
          <p:nvPr/>
        </p:nvSpPr>
        <p:spPr>
          <a:xfrm>
            <a:off x="8394192" y="1499616"/>
            <a:ext cx="308152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A2A discovery</a:t>
            </a:r>
            <a:endParaRPr lang="en-US" sz="1300" dirty="0"/>
          </a:p>
        </p:txBody>
      </p:sp>
      <p:sp>
        <p:nvSpPr>
          <p:cNvPr id="20" name="Text 18"/>
          <p:cNvSpPr/>
          <p:nvPr/>
        </p:nvSpPr>
        <p:spPr>
          <a:xfrm>
            <a:off x="8394192" y="1828800"/>
            <a:ext cx="3081528" cy="71323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Agent Cards describe identity, endpoint, auth, capabilities, skills, and examples.</a:t>
            </a:r>
            <a:endParaRPr lang="en-US" sz="1100" dirty="0"/>
          </a:p>
        </p:txBody>
      </p:sp>
      <p:sp>
        <p:nvSpPr>
          <p:cNvPr id="21" name="Text 19"/>
          <p:cNvSpPr/>
          <p:nvPr/>
        </p:nvSpPr>
        <p:spPr>
          <a:xfrm>
            <a:off x="658368" y="3337560"/>
            <a:ext cx="2286000" cy="274320"/>
          </a:xfrm>
          <a:prstGeom prst="rect">
            <a:avLst/>
          </a:prstGeom>
          <a:noFill/>
          <a:ln/>
        </p:spPr>
        <p:txBody>
          <a:bodyPr wrap="square" lIns="0" tIns="0" rIns="0" bIns="0" rtlCol="0" anchor="ctr"/>
          <a:lstStyle/>
          <a:p>
            <a:pPr indent="0" marL="0">
              <a:buNone/>
            </a:pPr>
            <a:r>
              <a:rPr lang="en-US" sz="1600" b="1" dirty="0">
                <a:solidFill>
                  <a:srgbClr val="123452"/>
                </a:solidFill>
              </a:rPr>
              <a:t>Design implication</a:t>
            </a:r>
            <a:endParaRPr lang="en-US" sz="1600" dirty="0"/>
          </a:p>
        </p:txBody>
      </p:sp>
      <p:sp>
        <p:nvSpPr>
          <p:cNvPr id="22" name="Text 20"/>
          <p:cNvSpPr/>
          <p:nvPr/>
        </p:nvSpPr>
        <p:spPr>
          <a:xfrm>
            <a:off x="749808" y="3703320"/>
            <a:ext cx="9875520" cy="1463040"/>
          </a:xfrm>
          <a:prstGeom prst="rect">
            <a:avLst/>
          </a:prstGeom>
          <a:noFill/>
          <a:ln/>
        </p:spPr>
        <p:txBody>
          <a:bodyPr wrap="square" lIns="508" tIns="508" rIns="508" bIns="508" rtlCol="0" anchor="t">
            <a:normAutofit/>
          </a:bodyPr>
          <a:lstStyle/>
          <a:p>
            <a:r>
              <a:rPr lang="en-US" sz="1300" dirty="0">
                <a:solidFill>
                  <a:srgbClr val="1F2A37"/>
                </a:solidFill>
              </a:rPr>
              <a:t>API descriptions optimize for developers and programs that already know the operation they need</a:t>
            </a:r>
            <a:endParaRPr lang="en-US" sz="1300" dirty="0"/>
          </a:p>
          <a:p>
            <a:r>
              <a:rPr lang="en-US" sz="1300" dirty="0">
                <a:solidFill>
                  <a:srgbClr val="1F2A37"/>
                </a:solidFill>
              </a:rPr>
              <a:t>MCP tool/resource descriptions must be clear enough for an LLM-mediated host to select safely</a:t>
            </a:r>
            <a:endParaRPr lang="en-US" sz="1300" dirty="0"/>
          </a:p>
          <a:p>
            <a:r>
              <a:rPr lang="en-US" sz="1300" dirty="0">
                <a:solidFill>
                  <a:srgbClr val="1F2A37"/>
                </a:solidFill>
              </a:rPr>
              <a:t>A2A Agent Cards must express not just what an endpoint does, but what an agent is capable of doing</a:t>
            </a:r>
            <a:endParaRPr lang="en-US" sz="1300" dirty="0"/>
          </a:p>
          <a:p>
            <a:r>
              <a:rPr lang="en-US" sz="1300" dirty="0">
                <a:solidFill>
                  <a:srgbClr val="1F2A37"/>
                </a:solidFill>
              </a:rPr>
              <a:t>Descriptions become part of the safety boundary: ambiguous or overly broad descriptions create risk</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D99A3D"/>
          </a:solidFill>
          <a:ln w="12700">
            <a:solidFill>
              <a:srgbClr val="D99A3D"/>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D99A3D"/>
                </a:solidFill>
                <a:latin typeface="Aptos" pitchFamily="34" charset="0"/>
                <a:ea typeface="Aptos" pitchFamily="34" charset="-122"/>
                <a:cs typeface="Aptos" pitchFamily="34" charset="-120"/>
              </a:rPr>
              <a:t>COMPARE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Failure modes shift from contract errors to autonomy and trust errors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31</a:t>
            </a:r>
            <a:endParaRPr lang="en-US" sz="800" dirty="0"/>
          </a:p>
        </p:txBody>
      </p:sp>
      <p:sp>
        <p:nvSpPr>
          <p:cNvPr id="9" name="Shape 7"/>
          <p:cNvSpPr/>
          <p:nvPr/>
        </p:nvSpPr>
        <p:spPr>
          <a:xfrm>
            <a:off x="594360" y="1298448"/>
            <a:ext cx="10789920" cy="457200"/>
          </a:xfrm>
          <a:prstGeom prst="rect">
            <a:avLst/>
          </a:prstGeom>
          <a:solidFill>
            <a:srgbClr val="B65F62"/>
          </a:solidFill>
          <a:ln w="12700">
            <a:solidFill>
              <a:srgbClr val="B65F62"/>
            </a:solidFill>
            <a:prstDash val="solid"/>
          </a:ln>
        </p:spPr>
      </p:sp>
      <p:sp>
        <p:nvSpPr>
          <p:cNvPr id="10" name="Text 8"/>
          <p:cNvSpPr/>
          <p:nvPr/>
        </p:nvSpPr>
        <p:spPr>
          <a:xfrm>
            <a:off x="640080" y="1399032"/>
            <a:ext cx="1920240" cy="347472"/>
          </a:xfrm>
          <a:prstGeom prst="rect">
            <a:avLst/>
          </a:prstGeom>
          <a:noFill/>
          <a:ln/>
        </p:spPr>
        <p:txBody>
          <a:bodyPr wrap="square" lIns="0" tIns="0" rIns="0" bIns="0" rtlCol="0" anchor="ctr">
            <a:normAutofit/>
          </a:bodyPr>
          <a:lstStyle/>
          <a:p>
            <a:pPr algn="l" indent="0" marL="0">
              <a:buNone/>
            </a:pPr>
            <a:r>
              <a:rPr lang="en-US" sz="800" b="1" dirty="0">
                <a:solidFill>
                  <a:srgbClr val="FFFFFF"/>
                </a:solidFill>
              </a:rPr>
              <a:t>Layer</a:t>
            </a:r>
            <a:endParaRPr lang="en-US" sz="800" dirty="0"/>
          </a:p>
        </p:txBody>
      </p:sp>
      <p:sp>
        <p:nvSpPr>
          <p:cNvPr id="11" name="Text 9"/>
          <p:cNvSpPr/>
          <p:nvPr/>
        </p:nvSpPr>
        <p:spPr>
          <a:xfrm>
            <a:off x="2651760" y="1399032"/>
            <a:ext cx="2834640" cy="34747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Common failure</a:t>
            </a:r>
            <a:endParaRPr lang="en-US" sz="800" dirty="0"/>
          </a:p>
        </p:txBody>
      </p:sp>
      <p:sp>
        <p:nvSpPr>
          <p:cNvPr id="12" name="Shape 10"/>
          <p:cNvSpPr/>
          <p:nvPr/>
        </p:nvSpPr>
        <p:spPr>
          <a:xfrm>
            <a:off x="2606040" y="1298448"/>
            <a:ext cx="0" cy="2286000"/>
          </a:xfrm>
          <a:prstGeom prst="line">
            <a:avLst/>
          </a:prstGeom>
          <a:noFill/>
          <a:ln w="6350">
            <a:solidFill>
              <a:srgbClr val="FFFFFF">
                <a:alpha val="60000"/>
              </a:srgbClr>
            </a:solidFill>
            <a:prstDash val="solid"/>
          </a:ln>
        </p:spPr>
      </p:sp>
      <p:sp>
        <p:nvSpPr>
          <p:cNvPr id="13" name="Text 11"/>
          <p:cNvSpPr/>
          <p:nvPr/>
        </p:nvSpPr>
        <p:spPr>
          <a:xfrm>
            <a:off x="5577840" y="1399032"/>
            <a:ext cx="2834640" cy="34747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Diagnostic signal</a:t>
            </a:r>
            <a:endParaRPr lang="en-US" sz="800" dirty="0"/>
          </a:p>
        </p:txBody>
      </p:sp>
      <p:sp>
        <p:nvSpPr>
          <p:cNvPr id="14" name="Shape 12"/>
          <p:cNvSpPr/>
          <p:nvPr/>
        </p:nvSpPr>
        <p:spPr>
          <a:xfrm>
            <a:off x="5532120" y="1298448"/>
            <a:ext cx="0" cy="2286000"/>
          </a:xfrm>
          <a:prstGeom prst="line">
            <a:avLst/>
          </a:prstGeom>
          <a:noFill/>
          <a:ln w="6350">
            <a:solidFill>
              <a:srgbClr val="FFFFFF">
                <a:alpha val="60000"/>
              </a:srgbClr>
            </a:solidFill>
            <a:prstDash val="solid"/>
          </a:ln>
        </p:spPr>
      </p:sp>
      <p:sp>
        <p:nvSpPr>
          <p:cNvPr id="15" name="Text 13"/>
          <p:cNvSpPr/>
          <p:nvPr/>
        </p:nvSpPr>
        <p:spPr>
          <a:xfrm>
            <a:off x="8503920" y="1399032"/>
            <a:ext cx="2834640" cy="34747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Mitigation</a:t>
            </a:r>
            <a:endParaRPr lang="en-US" sz="800" dirty="0"/>
          </a:p>
        </p:txBody>
      </p:sp>
      <p:sp>
        <p:nvSpPr>
          <p:cNvPr id="16" name="Shape 14"/>
          <p:cNvSpPr/>
          <p:nvPr/>
        </p:nvSpPr>
        <p:spPr>
          <a:xfrm>
            <a:off x="8458200" y="1298448"/>
            <a:ext cx="0" cy="2286000"/>
          </a:xfrm>
          <a:prstGeom prst="line">
            <a:avLst/>
          </a:prstGeom>
          <a:noFill/>
          <a:ln w="6350">
            <a:solidFill>
              <a:srgbClr val="FFFFFF">
                <a:alpha val="60000"/>
              </a:srgbClr>
            </a:solidFill>
            <a:prstDash val="solid"/>
          </a:ln>
        </p:spPr>
      </p:sp>
      <p:sp>
        <p:nvSpPr>
          <p:cNvPr id="17" name="Shape 15"/>
          <p:cNvSpPr/>
          <p:nvPr/>
        </p:nvSpPr>
        <p:spPr>
          <a:xfrm>
            <a:off x="594360" y="1755648"/>
            <a:ext cx="10789920" cy="457200"/>
          </a:xfrm>
          <a:prstGeom prst="rect">
            <a:avLst/>
          </a:prstGeom>
          <a:solidFill>
            <a:srgbClr val="FFFFFF"/>
          </a:solidFill>
          <a:ln w="6350">
            <a:solidFill>
              <a:srgbClr val="D7E6F2"/>
            </a:solidFill>
            <a:prstDash val="solid"/>
          </a:ln>
        </p:spPr>
      </p:sp>
      <p:sp>
        <p:nvSpPr>
          <p:cNvPr id="18" name="Text 16"/>
          <p:cNvSpPr/>
          <p:nvPr/>
        </p:nvSpPr>
        <p:spPr>
          <a:xfrm>
            <a:off x="649224" y="1828800"/>
            <a:ext cx="1901952" cy="347472"/>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API</a:t>
            </a:r>
            <a:endParaRPr lang="en-US" sz="740" dirty="0"/>
          </a:p>
        </p:txBody>
      </p:sp>
      <p:sp>
        <p:nvSpPr>
          <p:cNvPr id="19" name="Text 17"/>
          <p:cNvSpPr/>
          <p:nvPr/>
        </p:nvSpPr>
        <p:spPr>
          <a:xfrm>
            <a:off x="2660904" y="18288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Wrong endpoint, schema drift, auth failure, timeout</a:t>
            </a:r>
            <a:endParaRPr lang="en-US" sz="740" dirty="0"/>
          </a:p>
        </p:txBody>
      </p:sp>
      <p:sp>
        <p:nvSpPr>
          <p:cNvPr id="20" name="Text 18"/>
          <p:cNvSpPr/>
          <p:nvPr/>
        </p:nvSpPr>
        <p:spPr>
          <a:xfrm>
            <a:off x="5586984" y="18288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HTTP status, traces, contract test failures</a:t>
            </a:r>
            <a:endParaRPr lang="en-US" sz="740" dirty="0"/>
          </a:p>
        </p:txBody>
      </p:sp>
      <p:sp>
        <p:nvSpPr>
          <p:cNvPr id="21" name="Text 19"/>
          <p:cNvSpPr/>
          <p:nvPr/>
        </p:nvSpPr>
        <p:spPr>
          <a:xfrm>
            <a:off x="8513064" y="18288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Versioning, retries, idempotency, schema validation</a:t>
            </a:r>
            <a:endParaRPr lang="en-US" sz="740" dirty="0"/>
          </a:p>
        </p:txBody>
      </p:sp>
      <p:sp>
        <p:nvSpPr>
          <p:cNvPr id="22" name="Shape 20"/>
          <p:cNvSpPr/>
          <p:nvPr/>
        </p:nvSpPr>
        <p:spPr>
          <a:xfrm>
            <a:off x="594360" y="2212848"/>
            <a:ext cx="10789920" cy="457200"/>
          </a:xfrm>
          <a:prstGeom prst="rect">
            <a:avLst/>
          </a:prstGeom>
          <a:solidFill>
            <a:srgbClr val="F8FAFC"/>
          </a:solidFill>
          <a:ln w="6350">
            <a:solidFill>
              <a:srgbClr val="D7E6F2"/>
            </a:solidFill>
            <a:prstDash val="solid"/>
          </a:ln>
        </p:spPr>
      </p:sp>
      <p:sp>
        <p:nvSpPr>
          <p:cNvPr id="23" name="Text 21"/>
          <p:cNvSpPr/>
          <p:nvPr/>
        </p:nvSpPr>
        <p:spPr>
          <a:xfrm>
            <a:off x="649224" y="2286000"/>
            <a:ext cx="1901952" cy="347472"/>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MCP</a:t>
            </a:r>
            <a:endParaRPr lang="en-US" sz="740" dirty="0"/>
          </a:p>
        </p:txBody>
      </p:sp>
      <p:sp>
        <p:nvSpPr>
          <p:cNvPr id="24" name="Text 22"/>
          <p:cNvSpPr/>
          <p:nvPr/>
        </p:nvSpPr>
        <p:spPr>
          <a:xfrm>
            <a:off x="2660904" y="22860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Wrong tool selected, tool injection, stale tool list</a:t>
            </a:r>
            <a:endParaRPr lang="en-US" sz="740" dirty="0"/>
          </a:p>
        </p:txBody>
      </p:sp>
      <p:sp>
        <p:nvSpPr>
          <p:cNvPr id="25" name="Text 23"/>
          <p:cNvSpPr/>
          <p:nvPr/>
        </p:nvSpPr>
        <p:spPr>
          <a:xfrm>
            <a:off x="5586984" y="22860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Tool call trace, prompt/tool logs, approval events</a:t>
            </a:r>
            <a:endParaRPr lang="en-US" sz="740" dirty="0"/>
          </a:p>
        </p:txBody>
      </p:sp>
      <p:sp>
        <p:nvSpPr>
          <p:cNvPr id="26" name="Text 24"/>
          <p:cNvSpPr/>
          <p:nvPr/>
        </p:nvSpPr>
        <p:spPr>
          <a:xfrm>
            <a:off x="8513064" y="22860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Tool allowlists, scoped servers, clear descriptions</a:t>
            </a:r>
            <a:endParaRPr lang="en-US" sz="740" dirty="0"/>
          </a:p>
        </p:txBody>
      </p:sp>
      <p:sp>
        <p:nvSpPr>
          <p:cNvPr id="27" name="Shape 25"/>
          <p:cNvSpPr/>
          <p:nvPr/>
        </p:nvSpPr>
        <p:spPr>
          <a:xfrm>
            <a:off x="594360" y="2670048"/>
            <a:ext cx="10789920" cy="457200"/>
          </a:xfrm>
          <a:prstGeom prst="rect">
            <a:avLst/>
          </a:prstGeom>
          <a:solidFill>
            <a:srgbClr val="FFFFFF"/>
          </a:solidFill>
          <a:ln w="6350">
            <a:solidFill>
              <a:srgbClr val="D7E6F2"/>
            </a:solidFill>
            <a:prstDash val="solid"/>
          </a:ln>
        </p:spPr>
      </p:sp>
      <p:sp>
        <p:nvSpPr>
          <p:cNvPr id="28" name="Text 26"/>
          <p:cNvSpPr/>
          <p:nvPr/>
        </p:nvSpPr>
        <p:spPr>
          <a:xfrm>
            <a:off x="649224" y="2743200"/>
            <a:ext cx="1901952" cy="347472"/>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A2A</a:t>
            </a:r>
            <a:endParaRPr lang="en-US" sz="740" dirty="0"/>
          </a:p>
        </p:txBody>
      </p:sp>
      <p:sp>
        <p:nvSpPr>
          <p:cNvPr id="29" name="Text 27"/>
          <p:cNvSpPr/>
          <p:nvPr/>
        </p:nvSpPr>
        <p:spPr>
          <a:xfrm>
            <a:off x="2660904" y="27432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Bad delegation, lost task state, incompatible modalities</a:t>
            </a:r>
            <a:endParaRPr lang="en-US" sz="740" dirty="0"/>
          </a:p>
        </p:txBody>
      </p:sp>
      <p:sp>
        <p:nvSpPr>
          <p:cNvPr id="30" name="Text 28"/>
          <p:cNvSpPr/>
          <p:nvPr/>
        </p:nvSpPr>
        <p:spPr>
          <a:xfrm>
            <a:off x="5586984" y="27432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Task history, agent identity, artifact provenance</a:t>
            </a:r>
            <a:endParaRPr lang="en-US" sz="740" dirty="0"/>
          </a:p>
        </p:txBody>
      </p:sp>
      <p:sp>
        <p:nvSpPr>
          <p:cNvPr id="31" name="Text 29"/>
          <p:cNvSpPr/>
          <p:nvPr/>
        </p:nvSpPr>
        <p:spPr>
          <a:xfrm>
            <a:off x="8513064" y="27432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Agent Cards, policy gates, task lifecycle tests</a:t>
            </a:r>
            <a:endParaRPr lang="en-US" sz="740" dirty="0"/>
          </a:p>
        </p:txBody>
      </p:sp>
      <p:sp>
        <p:nvSpPr>
          <p:cNvPr id="32" name="Shape 30"/>
          <p:cNvSpPr/>
          <p:nvPr/>
        </p:nvSpPr>
        <p:spPr>
          <a:xfrm>
            <a:off x="594360" y="3127248"/>
            <a:ext cx="10789920" cy="457200"/>
          </a:xfrm>
          <a:prstGeom prst="rect">
            <a:avLst/>
          </a:prstGeom>
          <a:solidFill>
            <a:srgbClr val="F8FAFC"/>
          </a:solidFill>
          <a:ln w="6350">
            <a:solidFill>
              <a:srgbClr val="D7E6F2"/>
            </a:solidFill>
            <a:prstDash val="solid"/>
          </a:ln>
        </p:spPr>
      </p:sp>
      <p:sp>
        <p:nvSpPr>
          <p:cNvPr id="33" name="Text 31"/>
          <p:cNvSpPr/>
          <p:nvPr/>
        </p:nvSpPr>
        <p:spPr>
          <a:xfrm>
            <a:off x="649224" y="3200400"/>
            <a:ext cx="1901952" cy="347472"/>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Hybrid</a:t>
            </a:r>
            <a:endParaRPr lang="en-US" sz="740" dirty="0"/>
          </a:p>
        </p:txBody>
      </p:sp>
      <p:sp>
        <p:nvSpPr>
          <p:cNvPr id="34" name="Text 32"/>
          <p:cNvSpPr/>
          <p:nvPr/>
        </p:nvSpPr>
        <p:spPr>
          <a:xfrm>
            <a:off x="2660904" y="32004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Ambiguous ownership across layers</a:t>
            </a:r>
            <a:endParaRPr lang="en-US" sz="740" dirty="0"/>
          </a:p>
        </p:txBody>
      </p:sp>
      <p:sp>
        <p:nvSpPr>
          <p:cNvPr id="35" name="Text 33"/>
          <p:cNvSpPr/>
          <p:nvPr/>
        </p:nvSpPr>
        <p:spPr>
          <a:xfrm>
            <a:off x="5586984" y="32004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Cross-system trace breaks</a:t>
            </a:r>
            <a:endParaRPr lang="en-US" sz="740" dirty="0"/>
          </a:p>
        </p:txBody>
      </p:sp>
      <p:sp>
        <p:nvSpPr>
          <p:cNvPr id="36" name="Text 34"/>
          <p:cNvSpPr/>
          <p:nvPr/>
        </p:nvSpPr>
        <p:spPr>
          <a:xfrm>
            <a:off x="8513064" y="3200400"/>
            <a:ext cx="2816352" cy="347472"/>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Correlation IDs and end-to-end runbooks</a:t>
            </a:r>
            <a:endParaRPr lang="en-US" sz="740" dirty="0"/>
          </a:p>
        </p:txBody>
      </p:sp>
      <p:sp>
        <p:nvSpPr>
          <p:cNvPr id="37" name="Shape 35"/>
          <p:cNvSpPr/>
          <p:nvPr/>
        </p:nvSpPr>
        <p:spPr>
          <a:xfrm>
            <a:off x="731520" y="4983480"/>
            <a:ext cx="10424160" cy="594360"/>
          </a:xfrm>
          <a:prstGeom prst="roundRect">
            <a:avLst>
              <a:gd name="adj" fmla="val 7692"/>
            </a:avLst>
          </a:prstGeom>
          <a:solidFill>
            <a:srgbClr val="F7FBFE"/>
          </a:solidFill>
          <a:ln w="12700">
            <a:solidFill>
              <a:srgbClr val="123452"/>
            </a:solidFill>
            <a:prstDash val="solid"/>
          </a:ln>
        </p:spPr>
      </p:sp>
      <p:sp>
        <p:nvSpPr>
          <p:cNvPr id="38" name="Shape 36"/>
          <p:cNvSpPr/>
          <p:nvPr/>
        </p:nvSpPr>
        <p:spPr>
          <a:xfrm>
            <a:off x="731520" y="4983480"/>
            <a:ext cx="73152" cy="594360"/>
          </a:xfrm>
          <a:prstGeom prst="rect">
            <a:avLst/>
          </a:prstGeom>
          <a:solidFill>
            <a:srgbClr val="123452"/>
          </a:solidFill>
          <a:ln w="12700">
            <a:solidFill>
              <a:srgbClr val="123452"/>
            </a:solidFill>
            <a:prstDash val="solid"/>
          </a:ln>
        </p:spPr>
      </p:sp>
      <p:sp>
        <p:nvSpPr>
          <p:cNvPr id="39" name="Text 37"/>
          <p:cNvSpPr/>
          <p:nvPr/>
        </p:nvSpPr>
        <p:spPr>
          <a:xfrm>
            <a:off x="896112" y="5111496"/>
            <a:ext cx="10168128" cy="228600"/>
          </a:xfrm>
          <a:prstGeom prst="rect">
            <a:avLst/>
          </a:prstGeom>
          <a:noFill/>
          <a:ln/>
        </p:spPr>
        <p:txBody>
          <a:bodyPr wrap="square" lIns="0" tIns="0" rIns="0" bIns="0" rtlCol="0" anchor="ctr">
            <a:normAutofit/>
          </a:bodyPr>
          <a:lstStyle/>
          <a:p>
            <a:pPr indent="0" marL="0">
              <a:buNone/>
            </a:pPr>
            <a:r>
              <a:rPr lang="en-US" sz="1250" b="1" dirty="0">
                <a:solidFill>
                  <a:srgbClr val="123452"/>
                </a:solidFill>
              </a:rPr>
              <a:t>Debugging rule</a:t>
            </a:r>
            <a:endParaRPr lang="en-US" sz="1250" dirty="0"/>
          </a:p>
        </p:txBody>
      </p:sp>
      <p:sp>
        <p:nvSpPr>
          <p:cNvPr id="40" name="Text 38"/>
          <p:cNvSpPr/>
          <p:nvPr/>
        </p:nvSpPr>
        <p:spPr>
          <a:xfrm>
            <a:off x="896112" y="5440680"/>
            <a:ext cx="10168128" cy="27432"/>
          </a:xfrm>
          <a:prstGeom prst="rect">
            <a:avLst/>
          </a:prstGeom>
          <a:noFill/>
          <a:ln/>
        </p:spPr>
        <p:txBody>
          <a:bodyPr wrap="square" lIns="254" tIns="254" rIns="254" bIns="254" rtlCol="0" anchor="t">
            <a:normAutofit/>
          </a:bodyPr>
          <a:lstStyle/>
          <a:p>
            <a:pPr indent="0" marL="0">
              <a:buNone/>
            </a:pPr>
            <a:r>
              <a:rPr lang="en-US" sz="1230" dirty="0">
                <a:solidFill>
                  <a:srgbClr val="1F2A37"/>
                </a:solidFill>
              </a:rPr>
              <a:t>Capture the boundary event: API request/response, MCP tool call, or A2A task/message/artifact—not just the final model answer.</a:t>
            </a:r>
            <a:endParaRPr lang="en-US" sz="123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D99A3D"/>
          </a:solidFill>
          <a:ln w="12700">
            <a:solidFill>
              <a:srgbClr val="D99A3D"/>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D99A3D"/>
                </a:solidFill>
                <a:latin typeface="Aptos" pitchFamily="34" charset="0"/>
                <a:ea typeface="Aptos" pitchFamily="34" charset="-122"/>
                <a:cs typeface="Aptos" pitchFamily="34" charset="-120"/>
              </a:rPr>
              <a:t>COMPARE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Security design changes with autonomy: protect contracts, tools, tasks, and artifacts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32</a:t>
            </a:r>
            <a:endParaRPr lang="en-US" sz="800" dirty="0"/>
          </a:p>
        </p:txBody>
      </p:sp>
      <p:sp>
        <p:nvSpPr>
          <p:cNvPr id="9" name="Shape 7"/>
          <p:cNvSpPr/>
          <p:nvPr/>
        </p:nvSpPr>
        <p:spPr>
          <a:xfrm>
            <a:off x="594360" y="1353312"/>
            <a:ext cx="10698480" cy="484632"/>
          </a:xfrm>
          <a:prstGeom prst="rect">
            <a:avLst/>
          </a:prstGeom>
          <a:solidFill>
            <a:srgbClr val="B65F62"/>
          </a:solidFill>
          <a:ln w="12700">
            <a:solidFill>
              <a:srgbClr val="B65F62"/>
            </a:solidFill>
            <a:prstDash val="solid"/>
          </a:ln>
        </p:spPr>
      </p:sp>
      <p:sp>
        <p:nvSpPr>
          <p:cNvPr id="10" name="Text 8"/>
          <p:cNvSpPr/>
          <p:nvPr/>
        </p:nvSpPr>
        <p:spPr>
          <a:xfrm>
            <a:off x="640080" y="1453896"/>
            <a:ext cx="1828800" cy="374904"/>
          </a:xfrm>
          <a:prstGeom prst="rect">
            <a:avLst/>
          </a:prstGeom>
          <a:noFill/>
          <a:ln/>
        </p:spPr>
        <p:txBody>
          <a:bodyPr wrap="square" lIns="0" tIns="0" rIns="0" bIns="0" rtlCol="0" anchor="ctr">
            <a:normAutofit/>
          </a:bodyPr>
          <a:lstStyle/>
          <a:p>
            <a:pPr algn="l" indent="0" marL="0">
              <a:buNone/>
            </a:pPr>
            <a:r>
              <a:rPr lang="en-US" sz="800" b="1" dirty="0">
                <a:solidFill>
                  <a:srgbClr val="FFFFFF"/>
                </a:solidFill>
              </a:rPr>
              <a:t>Control</a:t>
            </a:r>
            <a:endParaRPr lang="en-US" sz="800" dirty="0"/>
          </a:p>
        </p:txBody>
      </p:sp>
      <p:sp>
        <p:nvSpPr>
          <p:cNvPr id="11" name="Text 9"/>
          <p:cNvSpPr/>
          <p:nvPr/>
        </p:nvSpPr>
        <p:spPr>
          <a:xfrm>
            <a:off x="2560320" y="1453896"/>
            <a:ext cx="2834640" cy="3749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APIs</a:t>
            </a:r>
            <a:endParaRPr lang="en-US" sz="800" dirty="0"/>
          </a:p>
        </p:txBody>
      </p:sp>
      <p:sp>
        <p:nvSpPr>
          <p:cNvPr id="12" name="Shape 10"/>
          <p:cNvSpPr/>
          <p:nvPr/>
        </p:nvSpPr>
        <p:spPr>
          <a:xfrm>
            <a:off x="2514600" y="1353312"/>
            <a:ext cx="0" cy="2907792"/>
          </a:xfrm>
          <a:prstGeom prst="line">
            <a:avLst/>
          </a:prstGeom>
          <a:noFill/>
          <a:ln w="6350">
            <a:solidFill>
              <a:srgbClr val="FFFFFF">
                <a:alpha val="60000"/>
              </a:srgbClr>
            </a:solidFill>
            <a:prstDash val="solid"/>
          </a:ln>
        </p:spPr>
      </p:sp>
      <p:sp>
        <p:nvSpPr>
          <p:cNvPr id="13" name="Text 11"/>
          <p:cNvSpPr/>
          <p:nvPr/>
        </p:nvSpPr>
        <p:spPr>
          <a:xfrm>
            <a:off x="5486400" y="1453896"/>
            <a:ext cx="2834640" cy="3749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MCP</a:t>
            </a:r>
            <a:endParaRPr lang="en-US" sz="800" dirty="0"/>
          </a:p>
        </p:txBody>
      </p:sp>
      <p:sp>
        <p:nvSpPr>
          <p:cNvPr id="14" name="Shape 12"/>
          <p:cNvSpPr/>
          <p:nvPr/>
        </p:nvSpPr>
        <p:spPr>
          <a:xfrm>
            <a:off x="5440680" y="1353312"/>
            <a:ext cx="0" cy="2907792"/>
          </a:xfrm>
          <a:prstGeom prst="line">
            <a:avLst/>
          </a:prstGeom>
          <a:noFill/>
          <a:ln w="6350">
            <a:solidFill>
              <a:srgbClr val="FFFFFF">
                <a:alpha val="60000"/>
              </a:srgbClr>
            </a:solidFill>
            <a:prstDash val="solid"/>
          </a:ln>
        </p:spPr>
      </p:sp>
      <p:sp>
        <p:nvSpPr>
          <p:cNvPr id="15" name="Text 13"/>
          <p:cNvSpPr/>
          <p:nvPr/>
        </p:nvSpPr>
        <p:spPr>
          <a:xfrm>
            <a:off x="8412480" y="1453896"/>
            <a:ext cx="2834640" cy="3749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A2A</a:t>
            </a:r>
            <a:endParaRPr lang="en-US" sz="800" dirty="0"/>
          </a:p>
        </p:txBody>
      </p:sp>
      <p:sp>
        <p:nvSpPr>
          <p:cNvPr id="16" name="Shape 14"/>
          <p:cNvSpPr/>
          <p:nvPr/>
        </p:nvSpPr>
        <p:spPr>
          <a:xfrm>
            <a:off x="8366760" y="1353312"/>
            <a:ext cx="0" cy="2907792"/>
          </a:xfrm>
          <a:prstGeom prst="line">
            <a:avLst/>
          </a:prstGeom>
          <a:noFill/>
          <a:ln w="6350">
            <a:solidFill>
              <a:srgbClr val="FFFFFF">
                <a:alpha val="60000"/>
              </a:srgbClr>
            </a:solidFill>
            <a:prstDash val="solid"/>
          </a:ln>
        </p:spPr>
      </p:sp>
      <p:sp>
        <p:nvSpPr>
          <p:cNvPr id="17" name="Shape 15"/>
          <p:cNvSpPr/>
          <p:nvPr/>
        </p:nvSpPr>
        <p:spPr>
          <a:xfrm>
            <a:off x="594360" y="1837944"/>
            <a:ext cx="10698480" cy="484632"/>
          </a:xfrm>
          <a:prstGeom prst="rect">
            <a:avLst/>
          </a:prstGeom>
          <a:solidFill>
            <a:srgbClr val="FFFFFF"/>
          </a:solidFill>
          <a:ln w="6350">
            <a:solidFill>
              <a:srgbClr val="D7E6F2"/>
            </a:solidFill>
            <a:prstDash val="solid"/>
          </a:ln>
        </p:spPr>
      </p:sp>
      <p:sp>
        <p:nvSpPr>
          <p:cNvPr id="18" name="Text 16"/>
          <p:cNvSpPr/>
          <p:nvPr/>
        </p:nvSpPr>
        <p:spPr>
          <a:xfrm>
            <a:off x="649224" y="1911096"/>
            <a:ext cx="1810512" cy="374904"/>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Authentication</a:t>
            </a:r>
            <a:endParaRPr lang="en-US" sz="750" dirty="0"/>
          </a:p>
        </p:txBody>
      </p:sp>
      <p:sp>
        <p:nvSpPr>
          <p:cNvPr id="19" name="Text 17"/>
          <p:cNvSpPr/>
          <p:nvPr/>
        </p:nvSpPr>
        <p:spPr>
          <a:xfrm>
            <a:off x="2569464" y="1911096"/>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Service/API auth</a:t>
            </a:r>
            <a:endParaRPr lang="en-US" sz="750" dirty="0"/>
          </a:p>
        </p:txBody>
      </p:sp>
      <p:sp>
        <p:nvSpPr>
          <p:cNvPr id="20" name="Text 18"/>
          <p:cNvSpPr/>
          <p:nvPr/>
        </p:nvSpPr>
        <p:spPr>
          <a:xfrm>
            <a:off x="5495544" y="1911096"/>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Host ↔ server auth; OAuth for remote</a:t>
            </a:r>
            <a:endParaRPr lang="en-US" sz="750" dirty="0"/>
          </a:p>
        </p:txBody>
      </p:sp>
      <p:sp>
        <p:nvSpPr>
          <p:cNvPr id="21" name="Text 19"/>
          <p:cNvSpPr/>
          <p:nvPr/>
        </p:nvSpPr>
        <p:spPr>
          <a:xfrm>
            <a:off x="8421624" y="1911096"/>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Agent identity + web auth patterns</a:t>
            </a:r>
            <a:endParaRPr lang="en-US" sz="750" dirty="0"/>
          </a:p>
        </p:txBody>
      </p:sp>
      <p:sp>
        <p:nvSpPr>
          <p:cNvPr id="22" name="Shape 20"/>
          <p:cNvSpPr/>
          <p:nvPr/>
        </p:nvSpPr>
        <p:spPr>
          <a:xfrm>
            <a:off x="594360" y="2322576"/>
            <a:ext cx="10698480" cy="484632"/>
          </a:xfrm>
          <a:prstGeom prst="rect">
            <a:avLst/>
          </a:prstGeom>
          <a:solidFill>
            <a:srgbClr val="F8FAFC"/>
          </a:solidFill>
          <a:ln w="6350">
            <a:solidFill>
              <a:srgbClr val="D7E6F2"/>
            </a:solidFill>
            <a:prstDash val="solid"/>
          </a:ln>
        </p:spPr>
      </p:sp>
      <p:sp>
        <p:nvSpPr>
          <p:cNvPr id="23" name="Text 21"/>
          <p:cNvSpPr/>
          <p:nvPr/>
        </p:nvSpPr>
        <p:spPr>
          <a:xfrm>
            <a:off x="649224" y="2395728"/>
            <a:ext cx="1810512" cy="374904"/>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Authorization</a:t>
            </a:r>
            <a:endParaRPr lang="en-US" sz="750" dirty="0"/>
          </a:p>
        </p:txBody>
      </p:sp>
      <p:sp>
        <p:nvSpPr>
          <p:cNvPr id="24" name="Text 22"/>
          <p:cNvSpPr/>
          <p:nvPr/>
        </p:nvSpPr>
        <p:spPr>
          <a:xfrm>
            <a:off x="2569464" y="2395728"/>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Endpoint/action scopes</a:t>
            </a:r>
            <a:endParaRPr lang="en-US" sz="750" dirty="0"/>
          </a:p>
        </p:txBody>
      </p:sp>
      <p:sp>
        <p:nvSpPr>
          <p:cNvPr id="25" name="Text 23"/>
          <p:cNvSpPr/>
          <p:nvPr/>
        </p:nvSpPr>
        <p:spPr>
          <a:xfrm>
            <a:off x="5495544" y="2395728"/>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Tool/resource scopes + user consent</a:t>
            </a:r>
            <a:endParaRPr lang="en-US" sz="750" dirty="0"/>
          </a:p>
        </p:txBody>
      </p:sp>
      <p:sp>
        <p:nvSpPr>
          <p:cNvPr id="26" name="Text 24"/>
          <p:cNvSpPr/>
          <p:nvPr/>
        </p:nvSpPr>
        <p:spPr>
          <a:xfrm>
            <a:off x="8421624" y="2395728"/>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Delegation scope + task permissions</a:t>
            </a:r>
            <a:endParaRPr lang="en-US" sz="750" dirty="0"/>
          </a:p>
        </p:txBody>
      </p:sp>
      <p:sp>
        <p:nvSpPr>
          <p:cNvPr id="27" name="Shape 25"/>
          <p:cNvSpPr/>
          <p:nvPr/>
        </p:nvSpPr>
        <p:spPr>
          <a:xfrm>
            <a:off x="594360" y="2807208"/>
            <a:ext cx="10698480" cy="484632"/>
          </a:xfrm>
          <a:prstGeom prst="rect">
            <a:avLst/>
          </a:prstGeom>
          <a:solidFill>
            <a:srgbClr val="FFFFFF"/>
          </a:solidFill>
          <a:ln w="6350">
            <a:solidFill>
              <a:srgbClr val="D7E6F2"/>
            </a:solidFill>
            <a:prstDash val="solid"/>
          </a:ln>
        </p:spPr>
      </p:sp>
      <p:sp>
        <p:nvSpPr>
          <p:cNvPr id="28" name="Text 26"/>
          <p:cNvSpPr/>
          <p:nvPr/>
        </p:nvSpPr>
        <p:spPr>
          <a:xfrm>
            <a:off x="649224" y="2880360"/>
            <a:ext cx="1810512" cy="374904"/>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Input risk</a:t>
            </a:r>
            <a:endParaRPr lang="en-US" sz="750" dirty="0"/>
          </a:p>
        </p:txBody>
      </p:sp>
      <p:sp>
        <p:nvSpPr>
          <p:cNvPr id="29" name="Text 27"/>
          <p:cNvSpPr/>
          <p:nvPr/>
        </p:nvSpPr>
        <p:spPr>
          <a:xfrm>
            <a:off x="2569464" y="2880360"/>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Injection into API parameters</a:t>
            </a:r>
            <a:endParaRPr lang="en-US" sz="750" dirty="0"/>
          </a:p>
        </p:txBody>
      </p:sp>
      <p:sp>
        <p:nvSpPr>
          <p:cNvPr id="30" name="Text 28"/>
          <p:cNvSpPr/>
          <p:nvPr/>
        </p:nvSpPr>
        <p:spPr>
          <a:xfrm>
            <a:off x="5495544" y="2880360"/>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Prompt/tool injection via descriptions, data, resources</a:t>
            </a:r>
            <a:endParaRPr lang="en-US" sz="750" dirty="0"/>
          </a:p>
        </p:txBody>
      </p:sp>
      <p:sp>
        <p:nvSpPr>
          <p:cNvPr id="31" name="Text 29"/>
          <p:cNvSpPr/>
          <p:nvPr/>
        </p:nvSpPr>
        <p:spPr>
          <a:xfrm>
            <a:off x="8421624" y="2880360"/>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Cross-agent prompt/data injection</a:t>
            </a:r>
            <a:endParaRPr lang="en-US" sz="750" dirty="0"/>
          </a:p>
        </p:txBody>
      </p:sp>
      <p:sp>
        <p:nvSpPr>
          <p:cNvPr id="32" name="Shape 30"/>
          <p:cNvSpPr/>
          <p:nvPr/>
        </p:nvSpPr>
        <p:spPr>
          <a:xfrm>
            <a:off x="594360" y="3291840"/>
            <a:ext cx="10698480" cy="484632"/>
          </a:xfrm>
          <a:prstGeom prst="rect">
            <a:avLst/>
          </a:prstGeom>
          <a:solidFill>
            <a:srgbClr val="F8FAFC"/>
          </a:solidFill>
          <a:ln w="6350">
            <a:solidFill>
              <a:srgbClr val="D7E6F2"/>
            </a:solidFill>
            <a:prstDash val="solid"/>
          </a:ln>
        </p:spPr>
      </p:sp>
      <p:sp>
        <p:nvSpPr>
          <p:cNvPr id="33" name="Text 31"/>
          <p:cNvSpPr/>
          <p:nvPr/>
        </p:nvSpPr>
        <p:spPr>
          <a:xfrm>
            <a:off x="649224" y="3364992"/>
            <a:ext cx="1810512" cy="374904"/>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Output risk</a:t>
            </a:r>
            <a:endParaRPr lang="en-US" sz="750" dirty="0"/>
          </a:p>
        </p:txBody>
      </p:sp>
      <p:sp>
        <p:nvSpPr>
          <p:cNvPr id="34" name="Text 32"/>
          <p:cNvSpPr/>
          <p:nvPr/>
        </p:nvSpPr>
        <p:spPr>
          <a:xfrm>
            <a:off x="2569464" y="3364992"/>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Wrong data or side effect</a:t>
            </a:r>
            <a:endParaRPr lang="en-US" sz="750" dirty="0"/>
          </a:p>
        </p:txBody>
      </p:sp>
      <p:sp>
        <p:nvSpPr>
          <p:cNvPr id="35" name="Text 33"/>
          <p:cNvSpPr/>
          <p:nvPr/>
        </p:nvSpPr>
        <p:spPr>
          <a:xfrm>
            <a:off x="5495544" y="3364992"/>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Tool output misinterpreted by model</a:t>
            </a:r>
            <a:endParaRPr lang="en-US" sz="750" dirty="0"/>
          </a:p>
        </p:txBody>
      </p:sp>
      <p:sp>
        <p:nvSpPr>
          <p:cNvPr id="36" name="Text 34"/>
          <p:cNvSpPr/>
          <p:nvPr/>
        </p:nvSpPr>
        <p:spPr>
          <a:xfrm>
            <a:off x="8421624" y="3364992"/>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Artifact misuse or false provenance</a:t>
            </a:r>
            <a:endParaRPr lang="en-US" sz="750" dirty="0"/>
          </a:p>
        </p:txBody>
      </p:sp>
      <p:sp>
        <p:nvSpPr>
          <p:cNvPr id="37" name="Shape 35"/>
          <p:cNvSpPr/>
          <p:nvPr/>
        </p:nvSpPr>
        <p:spPr>
          <a:xfrm>
            <a:off x="594360" y="3776472"/>
            <a:ext cx="10698480" cy="484632"/>
          </a:xfrm>
          <a:prstGeom prst="rect">
            <a:avLst/>
          </a:prstGeom>
          <a:solidFill>
            <a:srgbClr val="FFFFFF"/>
          </a:solidFill>
          <a:ln w="6350">
            <a:solidFill>
              <a:srgbClr val="D7E6F2"/>
            </a:solidFill>
            <a:prstDash val="solid"/>
          </a:ln>
        </p:spPr>
      </p:sp>
      <p:sp>
        <p:nvSpPr>
          <p:cNvPr id="38" name="Text 36"/>
          <p:cNvSpPr/>
          <p:nvPr/>
        </p:nvSpPr>
        <p:spPr>
          <a:xfrm>
            <a:off x="649224" y="3849624"/>
            <a:ext cx="1810512" cy="374904"/>
          </a:xfrm>
          <a:prstGeom prst="rect">
            <a:avLst/>
          </a:prstGeom>
          <a:noFill/>
          <a:ln/>
        </p:spPr>
        <p:txBody>
          <a:bodyPr wrap="square" lIns="0" tIns="0" rIns="0" bIns="0" rtlCol="0" anchor="ctr">
            <a:normAutofit/>
          </a:bodyPr>
          <a:lstStyle/>
          <a:p>
            <a:pPr algn="l" indent="0" marL="0">
              <a:buNone/>
            </a:pPr>
            <a:r>
              <a:rPr lang="en-US" sz="750" b="1" dirty="0">
                <a:solidFill>
                  <a:srgbClr val="123452"/>
                </a:solidFill>
              </a:rPr>
              <a:t>Approval</a:t>
            </a:r>
            <a:endParaRPr lang="en-US" sz="750" dirty="0"/>
          </a:p>
        </p:txBody>
      </p:sp>
      <p:sp>
        <p:nvSpPr>
          <p:cNvPr id="39" name="Text 37"/>
          <p:cNvSpPr/>
          <p:nvPr/>
        </p:nvSpPr>
        <p:spPr>
          <a:xfrm>
            <a:off x="2569464" y="3849624"/>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Predefined workflows</a:t>
            </a:r>
            <a:endParaRPr lang="en-US" sz="750" dirty="0"/>
          </a:p>
        </p:txBody>
      </p:sp>
      <p:sp>
        <p:nvSpPr>
          <p:cNvPr id="40" name="Text 38"/>
          <p:cNvSpPr/>
          <p:nvPr/>
        </p:nvSpPr>
        <p:spPr>
          <a:xfrm>
            <a:off x="5495544" y="3849624"/>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Per-tool or per-risk action approval</a:t>
            </a:r>
            <a:endParaRPr lang="en-US" sz="750" dirty="0"/>
          </a:p>
        </p:txBody>
      </p:sp>
      <p:sp>
        <p:nvSpPr>
          <p:cNvPr id="41" name="Text 39"/>
          <p:cNvSpPr/>
          <p:nvPr/>
        </p:nvSpPr>
        <p:spPr>
          <a:xfrm>
            <a:off x="8421624" y="3849624"/>
            <a:ext cx="2816352" cy="374904"/>
          </a:xfrm>
          <a:prstGeom prst="rect">
            <a:avLst/>
          </a:prstGeom>
          <a:noFill/>
          <a:ln/>
        </p:spPr>
        <p:txBody>
          <a:bodyPr wrap="square" lIns="0" tIns="0" rIns="0" bIns="0" rtlCol="0" anchor="ctr">
            <a:normAutofit/>
          </a:bodyPr>
          <a:lstStyle/>
          <a:p>
            <a:pPr algn="ctr" indent="0" marL="0">
              <a:buNone/>
            </a:pPr>
            <a:r>
              <a:rPr lang="en-US" sz="750" dirty="0">
                <a:solidFill>
                  <a:srgbClr val="1F2A37"/>
                </a:solidFill>
              </a:rPr>
              <a:t>Per-delegation/action approval</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D99A3D"/>
          </a:solidFill>
          <a:ln w="12700">
            <a:solidFill>
              <a:srgbClr val="D99A3D"/>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D99A3D"/>
                </a:solidFill>
                <a:latin typeface="Aptos" pitchFamily="34" charset="0"/>
                <a:ea typeface="Aptos" pitchFamily="34" charset="-122"/>
                <a:cs typeface="Aptos" pitchFamily="34" charset="-120"/>
              </a:rPr>
              <a:t>COMPARE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Testing strategy must match protocol semantics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33</a:t>
            </a:r>
            <a:endParaRPr lang="en-US" sz="800" dirty="0"/>
          </a:p>
        </p:txBody>
      </p:sp>
      <p:sp>
        <p:nvSpPr>
          <p:cNvPr id="9" name="Shape 7"/>
          <p:cNvSpPr/>
          <p:nvPr/>
        </p:nvSpPr>
        <p:spPr>
          <a:xfrm>
            <a:off x="640080" y="1353312"/>
            <a:ext cx="3291840" cy="1325880"/>
          </a:xfrm>
          <a:prstGeom prst="roundRect">
            <a:avLst>
              <a:gd name="adj" fmla="val 3448"/>
            </a:avLst>
          </a:prstGeom>
          <a:solidFill>
            <a:srgbClr val="F7FBFE"/>
          </a:solidFill>
          <a:ln w="12700">
            <a:solidFill>
              <a:srgbClr val="0A9B9B"/>
            </a:solidFill>
            <a:prstDash val="solid"/>
          </a:ln>
        </p:spPr>
      </p:sp>
      <p:sp>
        <p:nvSpPr>
          <p:cNvPr id="10" name="Shape 8"/>
          <p:cNvSpPr/>
          <p:nvPr/>
        </p:nvSpPr>
        <p:spPr>
          <a:xfrm>
            <a:off x="640080" y="1353312"/>
            <a:ext cx="73152" cy="1325880"/>
          </a:xfrm>
          <a:prstGeom prst="rect">
            <a:avLst/>
          </a:prstGeom>
          <a:solidFill>
            <a:srgbClr val="0A9B9B"/>
          </a:solidFill>
          <a:ln w="12700">
            <a:solidFill>
              <a:srgbClr val="0A9B9B"/>
            </a:solidFill>
            <a:prstDash val="solid"/>
          </a:ln>
        </p:spPr>
      </p:sp>
      <p:sp>
        <p:nvSpPr>
          <p:cNvPr id="11" name="Text 9"/>
          <p:cNvSpPr/>
          <p:nvPr/>
        </p:nvSpPr>
        <p:spPr>
          <a:xfrm>
            <a:off x="80467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API tests</a:t>
            </a:r>
            <a:endParaRPr lang="en-US" sz="1300" dirty="0"/>
          </a:p>
        </p:txBody>
      </p:sp>
      <p:sp>
        <p:nvSpPr>
          <p:cNvPr id="12" name="Text 10"/>
          <p:cNvSpPr/>
          <p:nvPr/>
        </p:nvSpPr>
        <p:spPr>
          <a:xfrm>
            <a:off x="804672" y="1810512"/>
            <a:ext cx="3035808" cy="75895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Schema validation, contract tests, integration tests, fault injection, load tests, idempotency tests.</a:t>
            </a:r>
            <a:endParaRPr lang="en-US" sz="1100" dirty="0"/>
          </a:p>
        </p:txBody>
      </p:sp>
      <p:sp>
        <p:nvSpPr>
          <p:cNvPr id="13" name="Shape 11"/>
          <p:cNvSpPr/>
          <p:nvPr/>
        </p:nvSpPr>
        <p:spPr>
          <a:xfrm>
            <a:off x="4434840" y="1353312"/>
            <a:ext cx="3291840" cy="1325880"/>
          </a:xfrm>
          <a:prstGeom prst="roundRect">
            <a:avLst>
              <a:gd name="adj" fmla="val 3448"/>
            </a:avLst>
          </a:prstGeom>
          <a:solidFill>
            <a:srgbClr val="F7FBFE"/>
          </a:solidFill>
          <a:ln w="12700">
            <a:solidFill>
              <a:srgbClr val="25A9C7"/>
            </a:solidFill>
            <a:prstDash val="solid"/>
          </a:ln>
        </p:spPr>
      </p:sp>
      <p:sp>
        <p:nvSpPr>
          <p:cNvPr id="14" name="Shape 12"/>
          <p:cNvSpPr/>
          <p:nvPr/>
        </p:nvSpPr>
        <p:spPr>
          <a:xfrm>
            <a:off x="4434840" y="1353312"/>
            <a:ext cx="73152" cy="1325880"/>
          </a:xfrm>
          <a:prstGeom prst="rect">
            <a:avLst/>
          </a:prstGeom>
          <a:solidFill>
            <a:srgbClr val="25A9C7"/>
          </a:solidFill>
          <a:ln w="12700">
            <a:solidFill>
              <a:srgbClr val="25A9C7"/>
            </a:solidFill>
            <a:prstDash val="solid"/>
          </a:ln>
        </p:spPr>
      </p:sp>
      <p:sp>
        <p:nvSpPr>
          <p:cNvPr id="15" name="Text 13"/>
          <p:cNvSpPr/>
          <p:nvPr/>
        </p:nvSpPr>
        <p:spPr>
          <a:xfrm>
            <a:off x="459943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MCP tests</a:t>
            </a:r>
            <a:endParaRPr lang="en-US" sz="1300" dirty="0"/>
          </a:p>
        </p:txBody>
      </p:sp>
      <p:sp>
        <p:nvSpPr>
          <p:cNvPr id="16" name="Text 14"/>
          <p:cNvSpPr/>
          <p:nvPr/>
        </p:nvSpPr>
        <p:spPr>
          <a:xfrm>
            <a:off x="4599432" y="1810512"/>
            <a:ext cx="3035808" cy="75895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Tool registry tests, tool descriptions, argument validation, permission prompts, malicious tool-output tests.</a:t>
            </a:r>
            <a:endParaRPr lang="en-US" sz="1100" dirty="0"/>
          </a:p>
        </p:txBody>
      </p:sp>
      <p:sp>
        <p:nvSpPr>
          <p:cNvPr id="17" name="Shape 15"/>
          <p:cNvSpPr/>
          <p:nvPr/>
        </p:nvSpPr>
        <p:spPr>
          <a:xfrm>
            <a:off x="8229600" y="1353312"/>
            <a:ext cx="3291840" cy="1325880"/>
          </a:xfrm>
          <a:prstGeom prst="roundRect">
            <a:avLst>
              <a:gd name="adj" fmla="val 3448"/>
            </a:avLst>
          </a:prstGeom>
          <a:solidFill>
            <a:srgbClr val="F7FBFE"/>
          </a:solidFill>
          <a:ln w="12700">
            <a:solidFill>
              <a:srgbClr val="446CA8"/>
            </a:solidFill>
            <a:prstDash val="solid"/>
          </a:ln>
        </p:spPr>
      </p:sp>
      <p:sp>
        <p:nvSpPr>
          <p:cNvPr id="18" name="Shape 16"/>
          <p:cNvSpPr/>
          <p:nvPr/>
        </p:nvSpPr>
        <p:spPr>
          <a:xfrm>
            <a:off x="8229600" y="1353312"/>
            <a:ext cx="73152" cy="1325880"/>
          </a:xfrm>
          <a:prstGeom prst="rect">
            <a:avLst/>
          </a:prstGeom>
          <a:solidFill>
            <a:srgbClr val="446CA8"/>
          </a:solidFill>
          <a:ln w="12700">
            <a:solidFill>
              <a:srgbClr val="446CA8"/>
            </a:solidFill>
            <a:prstDash val="solid"/>
          </a:ln>
        </p:spPr>
      </p:sp>
      <p:sp>
        <p:nvSpPr>
          <p:cNvPr id="19" name="Text 17"/>
          <p:cNvSpPr/>
          <p:nvPr/>
        </p:nvSpPr>
        <p:spPr>
          <a:xfrm>
            <a:off x="839419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A2A tests</a:t>
            </a:r>
            <a:endParaRPr lang="en-US" sz="1300" dirty="0"/>
          </a:p>
        </p:txBody>
      </p:sp>
      <p:sp>
        <p:nvSpPr>
          <p:cNvPr id="20" name="Text 18"/>
          <p:cNvSpPr/>
          <p:nvPr/>
        </p:nvSpPr>
        <p:spPr>
          <a:xfrm>
            <a:off x="8394192" y="1810512"/>
            <a:ext cx="3035808" cy="75895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Agent Card compatibility, task lifecycle, streaming/push behavior, artifact provenance, delegation policies.</a:t>
            </a:r>
            <a:endParaRPr lang="en-US" sz="1100" dirty="0"/>
          </a:p>
        </p:txBody>
      </p:sp>
      <p:sp>
        <p:nvSpPr>
          <p:cNvPr id="21" name="Text 19"/>
          <p:cNvSpPr/>
          <p:nvPr/>
        </p:nvSpPr>
        <p:spPr>
          <a:xfrm>
            <a:off x="658368" y="3291840"/>
            <a:ext cx="2926080" cy="274320"/>
          </a:xfrm>
          <a:prstGeom prst="rect">
            <a:avLst/>
          </a:prstGeom>
          <a:noFill/>
          <a:ln/>
        </p:spPr>
        <p:txBody>
          <a:bodyPr wrap="square" lIns="0" tIns="0" rIns="0" bIns="0" rtlCol="0" anchor="ctr"/>
          <a:lstStyle/>
          <a:p>
            <a:pPr indent="0" marL="0">
              <a:buNone/>
            </a:pPr>
            <a:r>
              <a:rPr lang="en-US" sz="1600" b="1" dirty="0">
                <a:solidFill>
                  <a:srgbClr val="123452"/>
                </a:solidFill>
              </a:rPr>
              <a:t>Golden-path demo tests</a:t>
            </a:r>
            <a:endParaRPr lang="en-US" sz="1600" dirty="0"/>
          </a:p>
        </p:txBody>
      </p:sp>
      <p:sp>
        <p:nvSpPr>
          <p:cNvPr id="22" name="Text 20"/>
          <p:cNvSpPr/>
          <p:nvPr/>
        </p:nvSpPr>
        <p:spPr>
          <a:xfrm>
            <a:off x="749808" y="3657600"/>
            <a:ext cx="10058400" cy="1508760"/>
          </a:xfrm>
          <a:prstGeom prst="rect">
            <a:avLst/>
          </a:prstGeom>
          <a:noFill/>
          <a:ln/>
        </p:spPr>
        <p:txBody>
          <a:bodyPr wrap="square" lIns="508" tIns="508" rIns="508" bIns="508" rtlCol="0" anchor="t">
            <a:normAutofit/>
          </a:bodyPr>
          <a:lstStyle/>
          <a:p>
            <a:r>
              <a:rPr lang="en-US" sz="1300" dirty="0">
                <a:solidFill>
                  <a:srgbClr val="1F2A37"/>
                </a:solidFill>
              </a:rPr>
              <a:t>API: same request produces same recommendation and evidence trail every run</a:t>
            </a:r>
            <a:endParaRPr lang="en-US" sz="1300" dirty="0"/>
          </a:p>
          <a:p>
            <a:r>
              <a:rPr lang="en-US" sz="1300" dirty="0">
                <a:solidFill>
                  <a:srgbClr val="1F2A37"/>
                </a:solidFill>
              </a:rPr>
              <a:t>MCP: AI host discovers the same tools and calls only allowed read-only tools before producing an answer</a:t>
            </a:r>
            <a:endParaRPr lang="en-US" sz="1300" dirty="0"/>
          </a:p>
          <a:p>
            <a:r>
              <a:rPr lang="en-US" sz="1300" dirty="0">
                <a:solidFill>
                  <a:srgbClr val="1F2A37"/>
                </a:solidFill>
              </a:rPr>
              <a:t>A2A: orchestrator creates a task, receives specialist output, and stores a final artifact with provenance</a:t>
            </a:r>
            <a:endParaRPr lang="en-US" sz="1300" dirty="0"/>
          </a:p>
          <a:p>
            <a:r>
              <a:rPr lang="en-US" sz="1300" dirty="0">
                <a:solidFill>
                  <a:srgbClr val="1F2A37"/>
                </a:solidFill>
              </a:rPr>
              <a:t>Hybrid: trace ID ties A2A task → MCP tool call → underlying API request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D99A3D"/>
          </a:solidFill>
          <a:ln w="12700">
            <a:solidFill>
              <a:srgbClr val="D99A3D"/>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D99A3D"/>
                </a:solidFill>
                <a:latin typeface="Aptos" pitchFamily="34" charset="0"/>
                <a:ea typeface="Aptos" pitchFamily="34" charset="-122"/>
                <a:cs typeface="Aptos" pitchFamily="34" charset="-120"/>
              </a:rPr>
              <a:t>COMPARE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Hybrid architecture is common: A2A coordinates agents, MCP equips each agent, APIs do the work</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34</a:t>
            </a:r>
            <a:endParaRPr lang="en-US" sz="800" dirty="0"/>
          </a:p>
        </p:txBody>
      </p:sp>
      <p:sp>
        <p:nvSpPr>
          <p:cNvPr id="9" name="Shape 7"/>
          <p:cNvSpPr/>
          <p:nvPr/>
        </p:nvSpPr>
        <p:spPr>
          <a:xfrm>
            <a:off x="640080" y="2240280"/>
            <a:ext cx="2240280" cy="822960"/>
          </a:xfrm>
          <a:prstGeom prst="roundRect">
            <a:avLst>
              <a:gd name="adj" fmla="val 7778"/>
            </a:avLst>
          </a:prstGeom>
          <a:solidFill>
            <a:srgbClr val="FFFFFF"/>
          </a:solidFill>
          <a:ln w="17145">
            <a:solidFill>
              <a:srgbClr val="123452"/>
            </a:solidFill>
            <a:prstDash val="solid"/>
          </a:ln>
        </p:spPr>
      </p:sp>
      <p:sp>
        <p:nvSpPr>
          <p:cNvPr id="10" name="Text 8"/>
          <p:cNvSpPr/>
          <p:nvPr/>
        </p:nvSpPr>
        <p:spPr>
          <a:xfrm>
            <a:off x="749808" y="2423160"/>
            <a:ext cx="2011680" cy="182880"/>
          </a:xfrm>
          <a:prstGeom prst="rect">
            <a:avLst/>
          </a:prstGeom>
          <a:noFill/>
          <a:ln/>
        </p:spPr>
        <p:txBody>
          <a:bodyPr wrap="square" lIns="0" tIns="0" rIns="0" bIns="0" rtlCol="0" anchor="ctr">
            <a:normAutofit/>
          </a:bodyPr>
          <a:lstStyle/>
          <a:p>
            <a:pPr algn="ctr" indent="0" marL="0">
              <a:buNone/>
            </a:pPr>
            <a:r>
              <a:rPr lang="en-US" sz="1250" b="1" dirty="0">
                <a:solidFill>
                  <a:srgbClr val="123452"/>
                </a:solidFill>
              </a:rPr>
              <a:t>User assistant</a:t>
            </a:r>
            <a:endParaRPr lang="en-US" sz="1250" dirty="0"/>
          </a:p>
        </p:txBody>
      </p:sp>
      <p:sp>
        <p:nvSpPr>
          <p:cNvPr id="11" name="Text 9"/>
          <p:cNvSpPr/>
          <p:nvPr/>
        </p:nvSpPr>
        <p:spPr>
          <a:xfrm>
            <a:off x="749808" y="2697480"/>
            <a:ext cx="2011680" cy="164592"/>
          </a:xfrm>
          <a:prstGeom prst="rect">
            <a:avLst/>
          </a:prstGeom>
          <a:noFill/>
          <a:ln/>
        </p:spPr>
        <p:txBody>
          <a:bodyPr wrap="square" lIns="0" tIns="0" rIns="0" bIns="0" rtlCol="0" anchor="ctr">
            <a:normAutofit/>
          </a:bodyPr>
          <a:lstStyle/>
          <a:p>
            <a:pPr algn="ctr" indent="0" marL="0">
              <a:buNone/>
            </a:pPr>
            <a:r>
              <a:rPr lang="en-US" sz="900" dirty="0">
                <a:solidFill>
                  <a:srgbClr val="617184"/>
                </a:solidFill>
              </a:rPr>
              <a:t>client agent</a:t>
            </a:r>
            <a:endParaRPr lang="en-US" sz="900" dirty="0"/>
          </a:p>
        </p:txBody>
      </p:sp>
      <p:sp>
        <p:nvSpPr>
          <p:cNvPr id="12" name="Shape 10"/>
          <p:cNvSpPr/>
          <p:nvPr/>
        </p:nvSpPr>
        <p:spPr>
          <a:xfrm>
            <a:off x="3703320" y="2240280"/>
            <a:ext cx="2240280" cy="822960"/>
          </a:xfrm>
          <a:prstGeom prst="roundRect">
            <a:avLst>
              <a:gd name="adj" fmla="val 7778"/>
            </a:avLst>
          </a:prstGeom>
          <a:solidFill>
            <a:srgbClr val="FFFFFF"/>
          </a:solidFill>
          <a:ln w="17145">
            <a:solidFill>
              <a:srgbClr val="446CA8"/>
            </a:solidFill>
            <a:prstDash val="solid"/>
          </a:ln>
        </p:spPr>
      </p:sp>
      <p:sp>
        <p:nvSpPr>
          <p:cNvPr id="13" name="Text 11"/>
          <p:cNvSpPr/>
          <p:nvPr/>
        </p:nvSpPr>
        <p:spPr>
          <a:xfrm>
            <a:off x="3813048" y="2423160"/>
            <a:ext cx="2011680" cy="182880"/>
          </a:xfrm>
          <a:prstGeom prst="rect">
            <a:avLst/>
          </a:prstGeom>
          <a:noFill/>
          <a:ln/>
        </p:spPr>
        <p:txBody>
          <a:bodyPr wrap="square" lIns="0" tIns="0" rIns="0" bIns="0" rtlCol="0" anchor="ctr">
            <a:normAutofit/>
          </a:bodyPr>
          <a:lstStyle/>
          <a:p>
            <a:pPr algn="ctr" indent="0" marL="0">
              <a:buNone/>
            </a:pPr>
            <a:r>
              <a:rPr lang="en-US" sz="1250" b="1" dirty="0">
                <a:solidFill>
                  <a:srgbClr val="446CA8"/>
                </a:solidFill>
              </a:rPr>
              <a:t>A2A</a:t>
            </a:r>
            <a:endParaRPr lang="en-US" sz="1250" dirty="0"/>
          </a:p>
        </p:txBody>
      </p:sp>
      <p:sp>
        <p:nvSpPr>
          <p:cNvPr id="14" name="Text 12"/>
          <p:cNvSpPr/>
          <p:nvPr/>
        </p:nvSpPr>
        <p:spPr>
          <a:xfrm>
            <a:off x="3813048" y="2697480"/>
            <a:ext cx="2011680" cy="164592"/>
          </a:xfrm>
          <a:prstGeom prst="rect">
            <a:avLst/>
          </a:prstGeom>
          <a:noFill/>
          <a:ln/>
        </p:spPr>
        <p:txBody>
          <a:bodyPr wrap="square" lIns="0" tIns="0" rIns="0" bIns="0" rtlCol="0" anchor="ctr">
            <a:normAutofit/>
          </a:bodyPr>
          <a:lstStyle/>
          <a:p>
            <a:pPr algn="ctr" indent="0" marL="0">
              <a:buNone/>
            </a:pPr>
            <a:r>
              <a:rPr lang="en-US" sz="900" dirty="0">
                <a:solidFill>
                  <a:srgbClr val="617184"/>
                </a:solidFill>
              </a:rPr>
              <a:t>collaboration</a:t>
            </a:r>
            <a:endParaRPr lang="en-US" sz="900" dirty="0"/>
          </a:p>
        </p:txBody>
      </p:sp>
      <p:sp>
        <p:nvSpPr>
          <p:cNvPr id="15" name="Shape 13"/>
          <p:cNvSpPr/>
          <p:nvPr/>
        </p:nvSpPr>
        <p:spPr>
          <a:xfrm>
            <a:off x="6629400" y="1325880"/>
            <a:ext cx="2240280" cy="822960"/>
          </a:xfrm>
          <a:prstGeom prst="roundRect">
            <a:avLst>
              <a:gd name="adj" fmla="val 7778"/>
            </a:avLst>
          </a:prstGeom>
          <a:solidFill>
            <a:srgbClr val="FFFFFF"/>
          </a:solidFill>
          <a:ln w="17145">
            <a:solidFill>
              <a:srgbClr val="446CA8"/>
            </a:solidFill>
            <a:prstDash val="solid"/>
          </a:ln>
        </p:spPr>
      </p:sp>
      <p:sp>
        <p:nvSpPr>
          <p:cNvPr id="16" name="Text 14"/>
          <p:cNvSpPr/>
          <p:nvPr/>
        </p:nvSpPr>
        <p:spPr>
          <a:xfrm>
            <a:off x="6739128" y="1508760"/>
            <a:ext cx="2011680" cy="182880"/>
          </a:xfrm>
          <a:prstGeom prst="rect">
            <a:avLst/>
          </a:prstGeom>
          <a:noFill/>
          <a:ln/>
        </p:spPr>
        <p:txBody>
          <a:bodyPr wrap="square" lIns="0" tIns="0" rIns="0" bIns="0" rtlCol="0" anchor="ctr">
            <a:normAutofit/>
          </a:bodyPr>
          <a:lstStyle/>
          <a:p>
            <a:pPr algn="ctr" indent="0" marL="0">
              <a:buNone/>
            </a:pPr>
            <a:r>
              <a:rPr lang="en-US" sz="1250" b="1" dirty="0">
                <a:solidFill>
                  <a:srgbClr val="446CA8"/>
                </a:solidFill>
              </a:rPr>
              <a:t>Billing agent</a:t>
            </a:r>
            <a:endParaRPr lang="en-US" sz="1250" dirty="0"/>
          </a:p>
        </p:txBody>
      </p:sp>
      <p:sp>
        <p:nvSpPr>
          <p:cNvPr id="17" name="Text 15"/>
          <p:cNvSpPr/>
          <p:nvPr/>
        </p:nvSpPr>
        <p:spPr>
          <a:xfrm>
            <a:off x="6739128" y="1783080"/>
            <a:ext cx="2011680" cy="164592"/>
          </a:xfrm>
          <a:prstGeom prst="rect">
            <a:avLst/>
          </a:prstGeom>
          <a:noFill/>
          <a:ln/>
        </p:spPr>
        <p:txBody>
          <a:bodyPr wrap="square" lIns="0" tIns="0" rIns="0" bIns="0" rtlCol="0" anchor="ctr">
            <a:normAutofit/>
          </a:bodyPr>
          <a:lstStyle/>
          <a:p>
            <a:pPr algn="ctr" indent="0" marL="0">
              <a:buNone/>
            </a:pPr>
            <a:r>
              <a:rPr lang="en-US" sz="900" dirty="0">
                <a:solidFill>
                  <a:srgbClr val="617184"/>
                </a:solidFill>
              </a:rPr>
              <a:t>MCP-equipped</a:t>
            </a:r>
            <a:endParaRPr lang="en-US" sz="900" dirty="0"/>
          </a:p>
        </p:txBody>
      </p:sp>
      <p:sp>
        <p:nvSpPr>
          <p:cNvPr id="18" name="Shape 16"/>
          <p:cNvSpPr/>
          <p:nvPr/>
        </p:nvSpPr>
        <p:spPr>
          <a:xfrm>
            <a:off x="6629400" y="3154680"/>
            <a:ext cx="2240280" cy="822960"/>
          </a:xfrm>
          <a:prstGeom prst="roundRect">
            <a:avLst>
              <a:gd name="adj" fmla="val 7778"/>
            </a:avLst>
          </a:prstGeom>
          <a:solidFill>
            <a:srgbClr val="FFFFFF"/>
          </a:solidFill>
          <a:ln w="17145">
            <a:solidFill>
              <a:srgbClr val="446CA8"/>
            </a:solidFill>
            <a:prstDash val="solid"/>
          </a:ln>
        </p:spPr>
      </p:sp>
      <p:sp>
        <p:nvSpPr>
          <p:cNvPr id="19" name="Text 17"/>
          <p:cNvSpPr/>
          <p:nvPr/>
        </p:nvSpPr>
        <p:spPr>
          <a:xfrm>
            <a:off x="6739128" y="3337560"/>
            <a:ext cx="2011680" cy="182880"/>
          </a:xfrm>
          <a:prstGeom prst="rect">
            <a:avLst/>
          </a:prstGeom>
          <a:noFill/>
          <a:ln/>
        </p:spPr>
        <p:txBody>
          <a:bodyPr wrap="square" lIns="0" tIns="0" rIns="0" bIns="0" rtlCol="0" anchor="ctr">
            <a:normAutofit/>
          </a:bodyPr>
          <a:lstStyle/>
          <a:p>
            <a:pPr algn="ctr" indent="0" marL="0">
              <a:buNone/>
            </a:pPr>
            <a:r>
              <a:rPr lang="en-US" sz="1250" b="1" dirty="0">
                <a:solidFill>
                  <a:srgbClr val="446CA8"/>
                </a:solidFill>
              </a:rPr>
              <a:t>Support agent</a:t>
            </a:r>
            <a:endParaRPr lang="en-US" sz="1250" dirty="0"/>
          </a:p>
        </p:txBody>
      </p:sp>
      <p:sp>
        <p:nvSpPr>
          <p:cNvPr id="20" name="Text 18"/>
          <p:cNvSpPr/>
          <p:nvPr/>
        </p:nvSpPr>
        <p:spPr>
          <a:xfrm>
            <a:off x="6739128" y="3611880"/>
            <a:ext cx="2011680" cy="164592"/>
          </a:xfrm>
          <a:prstGeom prst="rect">
            <a:avLst/>
          </a:prstGeom>
          <a:noFill/>
          <a:ln/>
        </p:spPr>
        <p:txBody>
          <a:bodyPr wrap="square" lIns="0" tIns="0" rIns="0" bIns="0" rtlCol="0" anchor="ctr">
            <a:normAutofit/>
          </a:bodyPr>
          <a:lstStyle/>
          <a:p>
            <a:pPr algn="ctr" indent="0" marL="0">
              <a:buNone/>
            </a:pPr>
            <a:r>
              <a:rPr lang="en-US" sz="900" dirty="0">
                <a:solidFill>
                  <a:srgbClr val="617184"/>
                </a:solidFill>
              </a:rPr>
              <a:t>MCP-equipped</a:t>
            </a:r>
            <a:endParaRPr lang="en-US" sz="900" dirty="0"/>
          </a:p>
        </p:txBody>
      </p:sp>
      <p:sp>
        <p:nvSpPr>
          <p:cNvPr id="21" name="Shape 19"/>
          <p:cNvSpPr/>
          <p:nvPr/>
        </p:nvSpPr>
        <p:spPr>
          <a:xfrm>
            <a:off x="9829800" y="1508760"/>
            <a:ext cx="2240280" cy="822960"/>
          </a:xfrm>
          <a:prstGeom prst="roundRect">
            <a:avLst>
              <a:gd name="adj" fmla="val 7778"/>
            </a:avLst>
          </a:prstGeom>
          <a:solidFill>
            <a:srgbClr val="FFFFFF"/>
          </a:solidFill>
          <a:ln w="17145">
            <a:solidFill>
              <a:srgbClr val="0A9B9B"/>
            </a:solidFill>
            <a:prstDash val="solid"/>
          </a:ln>
        </p:spPr>
      </p:sp>
      <p:sp>
        <p:nvSpPr>
          <p:cNvPr id="22" name="Text 20"/>
          <p:cNvSpPr/>
          <p:nvPr/>
        </p:nvSpPr>
        <p:spPr>
          <a:xfrm>
            <a:off x="9939528" y="1691640"/>
            <a:ext cx="2011680" cy="182880"/>
          </a:xfrm>
          <a:prstGeom prst="rect">
            <a:avLst/>
          </a:prstGeom>
          <a:noFill/>
          <a:ln/>
        </p:spPr>
        <p:txBody>
          <a:bodyPr wrap="square" lIns="0" tIns="0" rIns="0" bIns="0" rtlCol="0" anchor="ctr">
            <a:normAutofit/>
          </a:bodyPr>
          <a:lstStyle/>
          <a:p>
            <a:pPr algn="ctr" indent="0" marL="0">
              <a:buNone/>
            </a:pPr>
            <a:r>
              <a:rPr lang="en-US" sz="1250" b="1" dirty="0">
                <a:solidFill>
                  <a:srgbClr val="0A9B9B"/>
                </a:solidFill>
              </a:rPr>
              <a:t>Billing APIs</a:t>
            </a:r>
            <a:endParaRPr lang="en-US" sz="1250" dirty="0"/>
          </a:p>
        </p:txBody>
      </p:sp>
      <p:sp>
        <p:nvSpPr>
          <p:cNvPr id="23" name="Text 21"/>
          <p:cNvSpPr/>
          <p:nvPr/>
        </p:nvSpPr>
        <p:spPr>
          <a:xfrm>
            <a:off x="9939528" y="1965960"/>
            <a:ext cx="2011680" cy="164592"/>
          </a:xfrm>
          <a:prstGeom prst="rect">
            <a:avLst/>
          </a:prstGeom>
          <a:noFill/>
          <a:ln/>
        </p:spPr>
        <p:txBody>
          <a:bodyPr wrap="square" lIns="0" tIns="0" rIns="0" bIns="0" rtlCol="0" anchor="ctr">
            <a:normAutofit/>
          </a:bodyPr>
          <a:lstStyle/>
          <a:p>
            <a:pPr algn="ctr" indent="0" marL="0">
              <a:buNone/>
            </a:pPr>
            <a:r>
              <a:rPr lang="en-US" sz="900" dirty="0">
                <a:solidFill>
                  <a:srgbClr val="617184"/>
                </a:solidFill>
              </a:rPr>
              <a:t>contracts</a:t>
            </a:r>
            <a:endParaRPr lang="en-US" sz="900" dirty="0"/>
          </a:p>
        </p:txBody>
      </p:sp>
      <p:sp>
        <p:nvSpPr>
          <p:cNvPr id="24" name="Shape 22"/>
          <p:cNvSpPr/>
          <p:nvPr/>
        </p:nvSpPr>
        <p:spPr>
          <a:xfrm>
            <a:off x="9829800" y="3337560"/>
            <a:ext cx="2240280" cy="822960"/>
          </a:xfrm>
          <a:prstGeom prst="roundRect">
            <a:avLst>
              <a:gd name="adj" fmla="val 7778"/>
            </a:avLst>
          </a:prstGeom>
          <a:solidFill>
            <a:srgbClr val="FFFFFF"/>
          </a:solidFill>
          <a:ln w="17145">
            <a:solidFill>
              <a:srgbClr val="25A9C7"/>
            </a:solidFill>
            <a:prstDash val="solid"/>
          </a:ln>
        </p:spPr>
      </p:sp>
      <p:sp>
        <p:nvSpPr>
          <p:cNvPr id="25" name="Text 23"/>
          <p:cNvSpPr/>
          <p:nvPr/>
        </p:nvSpPr>
        <p:spPr>
          <a:xfrm>
            <a:off x="9939528" y="3520440"/>
            <a:ext cx="2011680" cy="182880"/>
          </a:xfrm>
          <a:prstGeom prst="rect">
            <a:avLst/>
          </a:prstGeom>
          <a:noFill/>
          <a:ln/>
        </p:spPr>
        <p:txBody>
          <a:bodyPr wrap="square" lIns="0" tIns="0" rIns="0" bIns="0" rtlCol="0" anchor="ctr">
            <a:normAutofit/>
          </a:bodyPr>
          <a:lstStyle/>
          <a:p>
            <a:pPr algn="ctr" indent="0" marL="0">
              <a:buNone/>
            </a:pPr>
            <a:r>
              <a:rPr lang="en-US" sz="1250" b="1" dirty="0">
                <a:solidFill>
                  <a:srgbClr val="25A9C7"/>
                </a:solidFill>
              </a:rPr>
              <a:t>Support DB</a:t>
            </a:r>
            <a:endParaRPr lang="en-US" sz="1250" dirty="0"/>
          </a:p>
        </p:txBody>
      </p:sp>
      <p:sp>
        <p:nvSpPr>
          <p:cNvPr id="26" name="Text 24"/>
          <p:cNvSpPr/>
          <p:nvPr/>
        </p:nvSpPr>
        <p:spPr>
          <a:xfrm>
            <a:off x="9939528" y="3794760"/>
            <a:ext cx="2011680" cy="164592"/>
          </a:xfrm>
          <a:prstGeom prst="rect">
            <a:avLst/>
          </a:prstGeom>
          <a:noFill/>
          <a:ln/>
        </p:spPr>
        <p:txBody>
          <a:bodyPr wrap="square" lIns="0" tIns="0" rIns="0" bIns="0" rtlCol="0" anchor="ctr">
            <a:normAutofit/>
          </a:bodyPr>
          <a:lstStyle/>
          <a:p>
            <a:pPr algn="ctr" indent="0" marL="0">
              <a:buNone/>
            </a:pPr>
            <a:r>
              <a:rPr lang="en-US" sz="900" dirty="0">
                <a:solidFill>
                  <a:srgbClr val="617184"/>
                </a:solidFill>
              </a:rPr>
              <a:t>resources</a:t>
            </a:r>
            <a:endParaRPr lang="en-US" sz="900" dirty="0"/>
          </a:p>
        </p:txBody>
      </p:sp>
      <p:sp>
        <p:nvSpPr>
          <p:cNvPr id="27" name="Shape 25"/>
          <p:cNvSpPr/>
          <p:nvPr/>
        </p:nvSpPr>
        <p:spPr>
          <a:xfrm>
            <a:off x="713232" y="4937760"/>
            <a:ext cx="10561320" cy="640080"/>
          </a:xfrm>
          <a:prstGeom prst="roundRect">
            <a:avLst>
              <a:gd name="adj" fmla="val 7143"/>
            </a:avLst>
          </a:prstGeom>
          <a:solidFill>
            <a:srgbClr val="F7FBFE"/>
          </a:solidFill>
          <a:ln w="12700">
            <a:solidFill>
              <a:srgbClr val="123452"/>
            </a:solidFill>
            <a:prstDash val="solid"/>
          </a:ln>
        </p:spPr>
      </p:sp>
      <p:sp>
        <p:nvSpPr>
          <p:cNvPr id="28" name="Shape 26"/>
          <p:cNvSpPr/>
          <p:nvPr/>
        </p:nvSpPr>
        <p:spPr>
          <a:xfrm>
            <a:off x="713232" y="4937760"/>
            <a:ext cx="73152" cy="640080"/>
          </a:xfrm>
          <a:prstGeom prst="rect">
            <a:avLst/>
          </a:prstGeom>
          <a:solidFill>
            <a:srgbClr val="123452"/>
          </a:solidFill>
          <a:ln w="12700">
            <a:solidFill>
              <a:srgbClr val="123452"/>
            </a:solidFill>
            <a:prstDash val="solid"/>
          </a:ln>
        </p:spPr>
      </p:sp>
      <p:sp>
        <p:nvSpPr>
          <p:cNvPr id="29" name="Text 27"/>
          <p:cNvSpPr/>
          <p:nvPr/>
        </p:nvSpPr>
        <p:spPr>
          <a:xfrm>
            <a:off x="877824" y="5065776"/>
            <a:ext cx="10305288" cy="228600"/>
          </a:xfrm>
          <a:prstGeom prst="rect">
            <a:avLst/>
          </a:prstGeom>
          <a:noFill/>
          <a:ln/>
        </p:spPr>
        <p:txBody>
          <a:bodyPr wrap="square" lIns="0" tIns="0" rIns="0" bIns="0" rtlCol="0" anchor="ctr">
            <a:normAutofit/>
          </a:bodyPr>
          <a:lstStyle/>
          <a:p>
            <a:pPr indent="0" marL="0">
              <a:buNone/>
            </a:pPr>
            <a:r>
              <a:rPr lang="en-US" sz="1270" b="1" dirty="0">
                <a:solidFill>
                  <a:srgbClr val="123452"/>
                </a:solidFill>
              </a:rPr>
              <a:t>Practical architecture pattern</a:t>
            </a:r>
            <a:endParaRPr lang="en-US" sz="1270" dirty="0"/>
          </a:p>
        </p:txBody>
      </p:sp>
      <p:sp>
        <p:nvSpPr>
          <p:cNvPr id="30" name="Text 28"/>
          <p:cNvSpPr/>
          <p:nvPr/>
        </p:nvSpPr>
        <p:spPr>
          <a:xfrm>
            <a:off x="877824" y="5394960"/>
            <a:ext cx="10305288" cy="73152"/>
          </a:xfrm>
          <a:prstGeom prst="rect">
            <a:avLst/>
          </a:prstGeom>
          <a:noFill/>
          <a:ln/>
        </p:spPr>
        <p:txBody>
          <a:bodyPr wrap="square" lIns="254" tIns="254" rIns="254" bIns="254" rtlCol="0" anchor="t">
            <a:normAutofit/>
          </a:bodyPr>
          <a:lstStyle/>
          <a:p>
            <a:pPr indent="0" marL="0">
              <a:buNone/>
            </a:pPr>
            <a:r>
              <a:rPr lang="en-US" sz="1220" dirty="0">
                <a:solidFill>
                  <a:srgbClr val="1F2A37"/>
                </a:solidFill>
              </a:rPr>
              <a:t>Do not ask one protocol to do every job: A2A is the outer collaboration layer; MCP is the agent capability layer; APIs remain the deterministic system-of-record layer.</a:t>
            </a:r>
            <a:endParaRPr lang="en-US" sz="12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D99A3D"/>
          </a:solidFill>
          <a:ln w="12700">
            <a:solidFill>
              <a:srgbClr val="D99A3D"/>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D99A3D"/>
                </a:solidFill>
                <a:latin typeface="Aptos" pitchFamily="34" charset="0"/>
                <a:ea typeface="Aptos" pitchFamily="34" charset="-122"/>
                <a:cs typeface="Aptos" pitchFamily="34" charset="-120"/>
              </a:rPr>
              <a:t>COMPARE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Anti-patterns: the wrong protocol usually adds ambiguity without adding capability</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35</a:t>
            </a:r>
            <a:endParaRPr lang="en-US" sz="800" dirty="0"/>
          </a:p>
        </p:txBody>
      </p:sp>
      <p:sp>
        <p:nvSpPr>
          <p:cNvPr id="9" name="Shape 7"/>
          <p:cNvSpPr/>
          <p:nvPr/>
        </p:nvSpPr>
        <p:spPr>
          <a:xfrm>
            <a:off x="640080" y="1371600"/>
            <a:ext cx="3291840" cy="1280160"/>
          </a:xfrm>
          <a:prstGeom prst="roundRect">
            <a:avLst>
              <a:gd name="adj" fmla="val 3571"/>
            </a:avLst>
          </a:prstGeom>
          <a:solidFill>
            <a:srgbClr val="F7FBFE"/>
          </a:solidFill>
          <a:ln w="12700">
            <a:solidFill>
              <a:srgbClr val="0A9B9B"/>
            </a:solidFill>
            <a:prstDash val="solid"/>
          </a:ln>
        </p:spPr>
      </p:sp>
      <p:sp>
        <p:nvSpPr>
          <p:cNvPr id="10" name="Shape 8"/>
          <p:cNvSpPr/>
          <p:nvPr/>
        </p:nvSpPr>
        <p:spPr>
          <a:xfrm>
            <a:off x="640080" y="1371600"/>
            <a:ext cx="73152" cy="1280160"/>
          </a:xfrm>
          <a:prstGeom prst="rect">
            <a:avLst/>
          </a:prstGeom>
          <a:solidFill>
            <a:srgbClr val="0A9B9B"/>
          </a:solidFill>
          <a:ln w="12700">
            <a:solidFill>
              <a:srgbClr val="0A9B9B"/>
            </a:solidFill>
            <a:prstDash val="solid"/>
          </a:ln>
        </p:spPr>
      </p:sp>
      <p:sp>
        <p:nvSpPr>
          <p:cNvPr id="11" name="Text 9"/>
          <p:cNvSpPr/>
          <p:nvPr/>
        </p:nvSpPr>
        <p:spPr>
          <a:xfrm>
            <a:off x="804672" y="1499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API anti-pattern</a:t>
            </a:r>
            <a:endParaRPr lang="en-US" sz="1300" dirty="0"/>
          </a:p>
        </p:txBody>
      </p:sp>
      <p:sp>
        <p:nvSpPr>
          <p:cNvPr id="12" name="Text 10"/>
          <p:cNvSpPr/>
          <p:nvPr/>
        </p:nvSpPr>
        <p:spPr>
          <a:xfrm>
            <a:off x="804672" y="1828800"/>
            <a:ext cx="3035808" cy="71323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Exposing low-level internals as “APIs” and forcing clients to recreate domain logic.</a:t>
            </a:r>
            <a:endParaRPr lang="en-US" sz="1100" dirty="0"/>
          </a:p>
        </p:txBody>
      </p:sp>
      <p:sp>
        <p:nvSpPr>
          <p:cNvPr id="13" name="Shape 11"/>
          <p:cNvSpPr/>
          <p:nvPr/>
        </p:nvSpPr>
        <p:spPr>
          <a:xfrm>
            <a:off x="4434840" y="1371600"/>
            <a:ext cx="3291840" cy="1280160"/>
          </a:xfrm>
          <a:prstGeom prst="roundRect">
            <a:avLst>
              <a:gd name="adj" fmla="val 3571"/>
            </a:avLst>
          </a:prstGeom>
          <a:solidFill>
            <a:srgbClr val="F7FBFE"/>
          </a:solidFill>
          <a:ln w="12700">
            <a:solidFill>
              <a:srgbClr val="25A9C7"/>
            </a:solidFill>
            <a:prstDash val="solid"/>
          </a:ln>
        </p:spPr>
      </p:sp>
      <p:sp>
        <p:nvSpPr>
          <p:cNvPr id="14" name="Shape 12"/>
          <p:cNvSpPr/>
          <p:nvPr/>
        </p:nvSpPr>
        <p:spPr>
          <a:xfrm>
            <a:off x="4434840" y="1371600"/>
            <a:ext cx="73152" cy="1280160"/>
          </a:xfrm>
          <a:prstGeom prst="rect">
            <a:avLst/>
          </a:prstGeom>
          <a:solidFill>
            <a:srgbClr val="25A9C7"/>
          </a:solidFill>
          <a:ln w="12700">
            <a:solidFill>
              <a:srgbClr val="25A9C7"/>
            </a:solidFill>
            <a:prstDash val="solid"/>
          </a:ln>
        </p:spPr>
      </p:sp>
      <p:sp>
        <p:nvSpPr>
          <p:cNvPr id="15" name="Text 13"/>
          <p:cNvSpPr/>
          <p:nvPr/>
        </p:nvSpPr>
        <p:spPr>
          <a:xfrm>
            <a:off x="4599432" y="1499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MCP anti-pattern</a:t>
            </a:r>
            <a:endParaRPr lang="en-US" sz="1300" dirty="0"/>
          </a:p>
        </p:txBody>
      </p:sp>
      <p:sp>
        <p:nvSpPr>
          <p:cNvPr id="16" name="Text 14"/>
          <p:cNvSpPr/>
          <p:nvPr/>
        </p:nvSpPr>
        <p:spPr>
          <a:xfrm>
            <a:off x="4599432" y="1828800"/>
            <a:ext cx="3035808" cy="71323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Creating huge, broad-permission servers with vague tool descriptions and unsafe side effects.</a:t>
            </a:r>
            <a:endParaRPr lang="en-US" sz="1100" dirty="0"/>
          </a:p>
        </p:txBody>
      </p:sp>
      <p:sp>
        <p:nvSpPr>
          <p:cNvPr id="17" name="Shape 15"/>
          <p:cNvSpPr/>
          <p:nvPr/>
        </p:nvSpPr>
        <p:spPr>
          <a:xfrm>
            <a:off x="8229600" y="1371600"/>
            <a:ext cx="3291840" cy="1280160"/>
          </a:xfrm>
          <a:prstGeom prst="roundRect">
            <a:avLst>
              <a:gd name="adj" fmla="val 3571"/>
            </a:avLst>
          </a:prstGeom>
          <a:solidFill>
            <a:srgbClr val="F7FBFE"/>
          </a:solidFill>
          <a:ln w="12700">
            <a:solidFill>
              <a:srgbClr val="446CA8"/>
            </a:solidFill>
            <a:prstDash val="solid"/>
          </a:ln>
        </p:spPr>
      </p:sp>
      <p:sp>
        <p:nvSpPr>
          <p:cNvPr id="18" name="Shape 16"/>
          <p:cNvSpPr/>
          <p:nvPr/>
        </p:nvSpPr>
        <p:spPr>
          <a:xfrm>
            <a:off x="8229600" y="1371600"/>
            <a:ext cx="73152" cy="1280160"/>
          </a:xfrm>
          <a:prstGeom prst="rect">
            <a:avLst/>
          </a:prstGeom>
          <a:solidFill>
            <a:srgbClr val="446CA8"/>
          </a:solidFill>
          <a:ln w="12700">
            <a:solidFill>
              <a:srgbClr val="446CA8"/>
            </a:solidFill>
            <a:prstDash val="solid"/>
          </a:ln>
        </p:spPr>
      </p:sp>
      <p:sp>
        <p:nvSpPr>
          <p:cNvPr id="19" name="Text 17"/>
          <p:cNvSpPr/>
          <p:nvPr/>
        </p:nvSpPr>
        <p:spPr>
          <a:xfrm>
            <a:off x="8394192" y="1499616"/>
            <a:ext cx="303580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A2A anti-pattern</a:t>
            </a:r>
            <a:endParaRPr lang="en-US" sz="1300" dirty="0"/>
          </a:p>
        </p:txBody>
      </p:sp>
      <p:sp>
        <p:nvSpPr>
          <p:cNvPr id="20" name="Text 18"/>
          <p:cNvSpPr/>
          <p:nvPr/>
        </p:nvSpPr>
        <p:spPr>
          <a:xfrm>
            <a:off x="8394192" y="1828800"/>
            <a:ext cx="3035808" cy="713232"/>
          </a:xfrm>
          <a:prstGeom prst="rect">
            <a:avLst/>
          </a:prstGeom>
          <a:noFill/>
          <a:ln/>
        </p:spPr>
        <p:txBody>
          <a:bodyPr wrap="square" lIns="254" tIns="254" rIns="254" bIns="254" rtlCol="0" anchor="t">
            <a:normAutofit/>
          </a:bodyPr>
          <a:lstStyle/>
          <a:p>
            <a:pPr indent="0" marL="0">
              <a:buNone/>
            </a:pPr>
            <a:r>
              <a:rPr lang="en-US" sz="1100" dirty="0">
                <a:solidFill>
                  <a:srgbClr val="1F2A37"/>
                </a:solidFill>
              </a:rPr>
              <a:t>Wrapping one deterministic function as an agent even though no collaboration or stateful task exists.</a:t>
            </a:r>
            <a:endParaRPr lang="en-US" sz="1100" dirty="0"/>
          </a:p>
        </p:txBody>
      </p:sp>
      <p:sp>
        <p:nvSpPr>
          <p:cNvPr id="21" name="Text 19"/>
          <p:cNvSpPr/>
          <p:nvPr/>
        </p:nvSpPr>
        <p:spPr>
          <a:xfrm>
            <a:off x="685800" y="3246120"/>
            <a:ext cx="2743200" cy="274320"/>
          </a:xfrm>
          <a:prstGeom prst="rect">
            <a:avLst/>
          </a:prstGeom>
          <a:noFill/>
          <a:ln/>
        </p:spPr>
        <p:txBody>
          <a:bodyPr wrap="square" lIns="0" tIns="0" rIns="0" bIns="0" rtlCol="0" anchor="ctr"/>
          <a:lstStyle/>
          <a:p>
            <a:pPr indent="0" marL="0">
              <a:buNone/>
            </a:pPr>
            <a:r>
              <a:rPr lang="en-US" sz="1600" b="1" dirty="0">
                <a:solidFill>
                  <a:srgbClr val="123452"/>
                </a:solidFill>
              </a:rPr>
              <a:t>Red-flag questions</a:t>
            </a:r>
            <a:endParaRPr lang="en-US" sz="1600" dirty="0"/>
          </a:p>
        </p:txBody>
      </p:sp>
      <p:sp>
        <p:nvSpPr>
          <p:cNvPr id="22" name="Text 20"/>
          <p:cNvSpPr/>
          <p:nvPr/>
        </p:nvSpPr>
        <p:spPr>
          <a:xfrm>
            <a:off x="777240" y="3611880"/>
            <a:ext cx="10058400" cy="1463040"/>
          </a:xfrm>
          <a:prstGeom prst="rect">
            <a:avLst/>
          </a:prstGeom>
          <a:noFill/>
          <a:ln/>
        </p:spPr>
        <p:txBody>
          <a:bodyPr wrap="square" lIns="508" tIns="508" rIns="508" bIns="508" rtlCol="0" anchor="t">
            <a:normAutofit/>
          </a:bodyPr>
          <a:lstStyle/>
          <a:p>
            <a:r>
              <a:rPr lang="en-US" sz="1350" dirty="0">
                <a:solidFill>
                  <a:srgbClr val="1F2A37"/>
                </a:solidFill>
              </a:rPr>
              <a:t>Can I explain why this must be an agent and not a tool or endpoint?</a:t>
            </a:r>
            <a:endParaRPr lang="en-US" sz="1350" dirty="0"/>
          </a:p>
          <a:p>
            <a:r>
              <a:rPr lang="en-US" sz="1350" dirty="0">
                <a:solidFill>
                  <a:srgbClr val="1F2A37"/>
                </a:solidFill>
              </a:rPr>
              <a:t>Who is authorized to take the final action, and where is approval recorded?</a:t>
            </a:r>
            <a:endParaRPr lang="en-US" sz="1350" dirty="0"/>
          </a:p>
          <a:p>
            <a:r>
              <a:rPr lang="en-US" sz="1350" dirty="0">
                <a:solidFill>
                  <a:srgbClr val="1F2A37"/>
                </a:solidFill>
              </a:rPr>
              <a:t>Can the team replay a run from user request to output artifact?</a:t>
            </a:r>
            <a:endParaRPr lang="en-US" sz="1350" dirty="0"/>
          </a:p>
          <a:p>
            <a:r>
              <a:rPr lang="en-US" sz="1350" dirty="0">
                <a:solidFill>
                  <a:srgbClr val="1F2A37"/>
                </a:solidFill>
              </a:rPr>
              <a:t>Can the protocol choice fail safely under bad data, malicious text, or remote agent downtime?</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F79B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F79B7"/>
          </a:solidFill>
          <a:ln w="12700">
            <a:solidFill>
              <a:srgbClr val="2F79B7"/>
            </a:solidFill>
            <a:prstDash val="solid"/>
          </a:ln>
        </p:spPr>
      </p:sp>
      <p:sp>
        <p:nvSpPr>
          <p:cNvPr id="3" name="Text 1"/>
          <p:cNvSpPr/>
          <p:nvPr/>
        </p:nvSpPr>
        <p:spPr>
          <a:xfrm>
            <a:off x="640080" y="658368"/>
            <a:ext cx="4754880" cy="228600"/>
          </a:xfrm>
          <a:prstGeom prst="rect">
            <a:avLst/>
          </a:prstGeom>
          <a:noFill/>
          <a:ln/>
        </p:spPr>
        <p:txBody>
          <a:bodyPr wrap="square" lIns="0" tIns="0" rIns="0" bIns="0" rtlCol="0" anchor="ctr"/>
          <a:lstStyle/>
          <a:p>
            <a:pPr indent="0" marL="0">
              <a:buNone/>
            </a:pPr>
            <a:r>
              <a:rPr lang="en-US" sz="1000" b="1" dirty="0">
                <a:solidFill>
                  <a:srgbClr val="FFFFFF"/>
                </a:solidFill>
              </a:rPr>
              <a:t>RETAIL</a:t>
            </a:r>
            <a:endParaRPr lang="en-US" sz="1000" dirty="0"/>
          </a:p>
        </p:txBody>
      </p:sp>
      <p:sp>
        <p:nvSpPr>
          <p:cNvPr id="4" name="Text 2"/>
          <p:cNvSpPr/>
          <p:nvPr/>
        </p:nvSpPr>
        <p:spPr>
          <a:xfrm>
            <a:off x="640080" y="1325880"/>
            <a:ext cx="9875520" cy="105156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Industry lens: retail plus legal and governance risk</a:t>
            </a:r>
            <a:endParaRPr lang="en-US" sz="3200" dirty="0"/>
          </a:p>
        </p:txBody>
      </p:sp>
      <p:sp>
        <p:nvSpPr>
          <p:cNvPr id="5" name="Text 3"/>
          <p:cNvSpPr/>
          <p:nvPr/>
        </p:nvSpPr>
        <p:spPr>
          <a:xfrm>
            <a:off x="658368" y="2788920"/>
            <a:ext cx="8778240" cy="548640"/>
          </a:xfrm>
          <a:prstGeom prst="rect">
            <a:avLst/>
          </a:prstGeom>
          <a:noFill/>
          <a:ln/>
        </p:spPr>
        <p:txBody>
          <a:bodyPr wrap="square" lIns="0" tIns="0" rIns="0" bIns="0" rtlCol="0" anchor="ctr">
            <a:normAutofit/>
          </a:bodyPr>
          <a:lstStyle/>
          <a:p>
            <a:pPr indent="0" marL="0">
              <a:buNone/>
            </a:pPr>
            <a:r>
              <a:rPr lang="en-US" sz="1800" dirty="0">
                <a:solidFill>
                  <a:srgbClr val="F8FAFC"/>
                </a:solidFill>
              </a:rPr>
              <a:t>Retail makes the protocol choice concrete: catalogs, orders, payments, returns, personal data, consent, and accountability all collide.</a:t>
            </a:r>
            <a:endParaRPr lang="en-US" sz="1800" dirty="0"/>
          </a:p>
        </p:txBody>
      </p:sp>
      <p:sp>
        <p:nvSpPr>
          <p:cNvPr id="6" name="Shape 4"/>
          <p:cNvSpPr/>
          <p:nvPr/>
        </p:nvSpPr>
        <p:spPr>
          <a:xfrm>
            <a:off x="658368" y="6163056"/>
            <a:ext cx="10881360" cy="0"/>
          </a:xfrm>
          <a:prstGeom prst="line">
            <a:avLst/>
          </a:prstGeom>
          <a:noFill/>
          <a:ln w="10160">
            <a:solidFill>
              <a:srgbClr val="FFFFFF">
                <a:alpha val="60000"/>
              </a:srgbClr>
            </a:solidFill>
            <a:prstDash val="solid"/>
          </a:ln>
        </p:spPr>
      </p:sp>
      <p:sp>
        <p:nvSpPr>
          <p:cNvPr id="7" name="Text 5"/>
          <p:cNvSpPr/>
          <p:nvPr/>
        </p:nvSpPr>
        <p:spPr>
          <a:xfrm>
            <a:off x="10899648" y="6236208"/>
            <a:ext cx="640080" cy="182880"/>
          </a:xfrm>
          <a:prstGeom prst="rect">
            <a:avLst/>
          </a:prstGeom>
          <a:noFill/>
          <a:ln/>
        </p:spPr>
        <p:txBody>
          <a:bodyPr wrap="square" lIns="0" tIns="0" rIns="0" bIns="0" rtlCol="0" anchor="ctr"/>
          <a:lstStyle/>
          <a:p>
            <a:pPr algn="r" indent="0" marL="0">
              <a:buNone/>
            </a:pPr>
            <a:r>
              <a:rPr lang="en-US" sz="850" dirty="0">
                <a:solidFill>
                  <a:srgbClr val="FFFFFF">
                    <a:alpha val="80000"/>
                  </a:srgbClr>
                </a:solidFill>
              </a:rPr>
              <a:t>36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F79B7"/>
          </a:solidFill>
          <a:ln w="12700">
            <a:solidFill>
              <a:srgbClr val="2F79B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F79B7"/>
                </a:solidFill>
                <a:latin typeface="Aptos" pitchFamily="34" charset="0"/>
                <a:ea typeface="Aptos" pitchFamily="34" charset="-122"/>
                <a:cs typeface="Aptos" pitchFamily="34" charset="-120"/>
              </a:rPr>
              <a:t>RETAIL</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Retail is the stress test because one customer journey crosses many system boundaries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Sources: Google UCP docs; AP2 docs; Reuters agentic shopping coverage</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37</a:t>
            </a:r>
            <a:endParaRPr lang="en-US" sz="800" dirty="0"/>
          </a:p>
        </p:txBody>
      </p:sp>
      <p:sp>
        <p:nvSpPr>
          <p:cNvPr id="9" name="Shape 7"/>
          <p:cNvSpPr/>
          <p:nvPr/>
        </p:nvSpPr>
        <p:spPr>
          <a:xfrm>
            <a:off x="594360" y="1298448"/>
            <a:ext cx="11384280" cy="457200"/>
          </a:xfrm>
          <a:prstGeom prst="rect">
            <a:avLst/>
          </a:prstGeom>
          <a:solidFill>
            <a:srgbClr val="2F79B7"/>
          </a:solidFill>
          <a:ln w="12700">
            <a:solidFill>
              <a:srgbClr val="2F79B7"/>
            </a:solidFill>
            <a:prstDash val="solid"/>
          </a:ln>
        </p:spPr>
      </p:sp>
      <p:sp>
        <p:nvSpPr>
          <p:cNvPr id="10" name="Text 8"/>
          <p:cNvSpPr/>
          <p:nvPr/>
        </p:nvSpPr>
        <p:spPr>
          <a:xfrm>
            <a:off x="640080" y="1399032"/>
            <a:ext cx="1965960" cy="347472"/>
          </a:xfrm>
          <a:prstGeom prst="rect">
            <a:avLst/>
          </a:prstGeom>
          <a:noFill/>
          <a:ln/>
        </p:spPr>
        <p:txBody>
          <a:bodyPr wrap="square" lIns="0" tIns="0" rIns="0" bIns="0" rtlCol="0" anchor="ctr">
            <a:normAutofit/>
          </a:bodyPr>
          <a:lstStyle/>
          <a:p>
            <a:pPr algn="l" indent="0" marL="0">
              <a:buNone/>
            </a:pPr>
            <a:r>
              <a:rPr lang="en-US" sz="780" b="1" dirty="0">
                <a:solidFill>
                  <a:srgbClr val="FFFFFF"/>
                </a:solidFill>
              </a:rPr>
              <a:t>Journey step</a:t>
            </a:r>
            <a:endParaRPr lang="en-US" sz="780" dirty="0"/>
          </a:p>
        </p:txBody>
      </p:sp>
      <p:sp>
        <p:nvSpPr>
          <p:cNvPr id="11" name="Text 9"/>
          <p:cNvSpPr/>
          <p:nvPr/>
        </p:nvSpPr>
        <p:spPr>
          <a:xfrm>
            <a:off x="2697480" y="1399032"/>
            <a:ext cx="2240280" cy="3474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API boundary</a:t>
            </a:r>
            <a:endParaRPr lang="en-US" sz="780" dirty="0"/>
          </a:p>
        </p:txBody>
      </p:sp>
      <p:sp>
        <p:nvSpPr>
          <p:cNvPr id="12" name="Shape 10"/>
          <p:cNvSpPr/>
          <p:nvPr/>
        </p:nvSpPr>
        <p:spPr>
          <a:xfrm>
            <a:off x="2651760" y="1298448"/>
            <a:ext cx="0" cy="2743200"/>
          </a:xfrm>
          <a:prstGeom prst="line">
            <a:avLst/>
          </a:prstGeom>
          <a:noFill/>
          <a:ln w="6350">
            <a:solidFill>
              <a:srgbClr val="FFFFFF">
                <a:alpha val="60000"/>
              </a:srgbClr>
            </a:solidFill>
            <a:prstDash val="solid"/>
          </a:ln>
        </p:spPr>
      </p:sp>
      <p:sp>
        <p:nvSpPr>
          <p:cNvPr id="13" name="Text 11"/>
          <p:cNvSpPr/>
          <p:nvPr/>
        </p:nvSpPr>
        <p:spPr>
          <a:xfrm>
            <a:off x="5029200" y="1399032"/>
            <a:ext cx="2240280" cy="3474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MCP boundary</a:t>
            </a:r>
            <a:endParaRPr lang="en-US" sz="780" dirty="0"/>
          </a:p>
        </p:txBody>
      </p:sp>
      <p:sp>
        <p:nvSpPr>
          <p:cNvPr id="14" name="Shape 12"/>
          <p:cNvSpPr/>
          <p:nvPr/>
        </p:nvSpPr>
        <p:spPr>
          <a:xfrm>
            <a:off x="4983480" y="1298448"/>
            <a:ext cx="0" cy="2743200"/>
          </a:xfrm>
          <a:prstGeom prst="line">
            <a:avLst/>
          </a:prstGeom>
          <a:noFill/>
          <a:ln w="6350">
            <a:solidFill>
              <a:srgbClr val="FFFFFF">
                <a:alpha val="60000"/>
              </a:srgbClr>
            </a:solidFill>
            <a:prstDash val="solid"/>
          </a:ln>
        </p:spPr>
      </p:sp>
      <p:sp>
        <p:nvSpPr>
          <p:cNvPr id="15" name="Text 13"/>
          <p:cNvSpPr/>
          <p:nvPr/>
        </p:nvSpPr>
        <p:spPr>
          <a:xfrm>
            <a:off x="7360920" y="1399032"/>
            <a:ext cx="2240280" cy="3474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A2A boundary</a:t>
            </a:r>
            <a:endParaRPr lang="en-US" sz="780" dirty="0"/>
          </a:p>
        </p:txBody>
      </p:sp>
      <p:sp>
        <p:nvSpPr>
          <p:cNvPr id="16" name="Shape 14"/>
          <p:cNvSpPr/>
          <p:nvPr/>
        </p:nvSpPr>
        <p:spPr>
          <a:xfrm>
            <a:off x="7315200" y="1298448"/>
            <a:ext cx="0" cy="2743200"/>
          </a:xfrm>
          <a:prstGeom prst="line">
            <a:avLst/>
          </a:prstGeom>
          <a:noFill/>
          <a:ln w="6350">
            <a:solidFill>
              <a:srgbClr val="FFFFFF">
                <a:alpha val="60000"/>
              </a:srgbClr>
            </a:solidFill>
            <a:prstDash val="solid"/>
          </a:ln>
        </p:spPr>
      </p:sp>
      <p:sp>
        <p:nvSpPr>
          <p:cNvPr id="17" name="Text 15"/>
          <p:cNvSpPr/>
          <p:nvPr/>
        </p:nvSpPr>
        <p:spPr>
          <a:xfrm>
            <a:off x="9692640" y="1399032"/>
            <a:ext cx="2240280" cy="347472"/>
          </a:xfrm>
          <a:prstGeom prst="rect">
            <a:avLst/>
          </a:prstGeom>
          <a:noFill/>
          <a:ln/>
        </p:spPr>
        <p:txBody>
          <a:bodyPr wrap="square" lIns="0" tIns="0" rIns="0" bIns="0" rtlCol="0" anchor="ctr">
            <a:normAutofit/>
          </a:bodyPr>
          <a:lstStyle/>
          <a:p>
            <a:pPr algn="ctr" indent="0" marL="0">
              <a:buNone/>
            </a:pPr>
            <a:r>
              <a:rPr lang="en-US" sz="780" b="1" dirty="0">
                <a:solidFill>
                  <a:srgbClr val="FFFFFF"/>
                </a:solidFill>
              </a:rPr>
              <a:t>Legal / risk question</a:t>
            </a:r>
            <a:endParaRPr lang="en-US" sz="780" dirty="0"/>
          </a:p>
        </p:txBody>
      </p:sp>
      <p:sp>
        <p:nvSpPr>
          <p:cNvPr id="18" name="Shape 16"/>
          <p:cNvSpPr/>
          <p:nvPr/>
        </p:nvSpPr>
        <p:spPr>
          <a:xfrm>
            <a:off x="9646920" y="1298448"/>
            <a:ext cx="0" cy="2743200"/>
          </a:xfrm>
          <a:prstGeom prst="line">
            <a:avLst/>
          </a:prstGeom>
          <a:noFill/>
          <a:ln w="6350">
            <a:solidFill>
              <a:srgbClr val="FFFFFF">
                <a:alpha val="60000"/>
              </a:srgbClr>
            </a:solidFill>
            <a:prstDash val="solid"/>
          </a:ln>
        </p:spPr>
      </p:sp>
      <p:sp>
        <p:nvSpPr>
          <p:cNvPr id="19" name="Shape 17"/>
          <p:cNvSpPr/>
          <p:nvPr/>
        </p:nvSpPr>
        <p:spPr>
          <a:xfrm>
            <a:off x="594360" y="1755648"/>
            <a:ext cx="11384280" cy="457200"/>
          </a:xfrm>
          <a:prstGeom prst="rect">
            <a:avLst/>
          </a:prstGeom>
          <a:solidFill>
            <a:srgbClr val="FFFFFF"/>
          </a:solidFill>
          <a:ln w="6350">
            <a:solidFill>
              <a:srgbClr val="D7E6F2"/>
            </a:solidFill>
            <a:prstDash val="solid"/>
          </a:ln>
        </p:spPr>
      </p:sp>
      <p:sp>
        <p:nvSpPr>
          <p:cNvPr id="20" name="Text 18"/>
          <p:cNvSpPr/>
          <p:nvPr/>
        </p:nvSpPr>
        <p:spPr>
          <a:xfrm>
            <a:off x="649224" y="1828800"/>
            <a:ext cx="1947672" cy="347472"/>
          </a:xfrm>
          <a:prstGeom prst="rect">
            <a:avLst/>
          </a:prstGeom>
          <a:noFill/>
          <a:ln/>
        </p:spPr>
        <p:txBody>
          <a:bodyPr wrap="square" lIns="0" tIns="0" rIns="0" bIns="0" rtlCol="0" anchor="ctr">
            <a:normAutofit/>
          </a:bodyPr>
          <a:lstStyle/>
          <a:p>
            <a:pPr algn="l" indent="0" marL="0">
              <a:buNone/>
            </a:pPr>
            <a:r>
              <a:rPr lang="en-US" sz="700" b="1" dirty="0">
                <a:solidFill>
                  <a:srgbClr val="123452"/>
                </a:solidFill>
              </a:rPr>
              <a:t>Discover</a:t>
            </a:r>
            <a:endParaRPr lang="en-US" sz="700" dirty="0"/>
          </a:p>
        </p:txBody>
      </p:sp>
      <p:sp>
        <p:nvSpPr>
          <p:cNvPr id="21" name="Text 19"/>
          <p:cNvSpPr/>
          <p:nvPr/>
        </p:nvSpPr>
        <p:spPr>
          <a:xfrm>
            <a:off x="2706624" y="18288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Search/catalog API</a:t>
            </a:r>
            <a:endParaRPr lang="en-US" sz="700" dirty="0"/>
          </a:p>
        </p:txBody>
      </p:sp>
      <p:sp>
        <p:nvSpPr>
          <p:cNvPr id="22" name="Text 20"/>
          <p:cNvSpPr/>
          <p:nvPr/>
        </p:nvSpPr>
        <p:spPr>
          <a:xfrm>
            <a:off x="5038344" y="18288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Expose catalog, policy, product facts</a:t>
            </a:r>
            <a:endParaRPr lang="en-US" sz="700" dirty="0"/>
          </a:p>
        </p:txBody>
      </p:sp>
      <p:sp>
        <p:nvSpPr>
          <p:cNvPr id="23" name="Text 21"/>
          <p:cNvSpPr/>
          <p:nvPr/>
        </p:nvSpPr>
        <p:spPr>
          <a:xfrm>
            <a:off x="7370064" y="18288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Shopper agent ↔ merchant agent</a:t>
            </a:r>
            <a:endParaRPr lang="en-US" sz="700" dirty="0"/>
          </a:p>
        </p:txBody>
      </p:sp>
      <p:sp>
        <p:nvSpPr>
          <p:cNvPr id="24" name="Text 22"/>
          <p:cNvSpPr/>
          <p:nvPr/>
        </p:nvSpPr>
        <p:spPr>
          <a:xfrm>
            <a:off x="9701784" y="18288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Are results transparent and non-deceptive?</a:t>
            </a:r>
            <a:endParaRPr lang="en-US" sz="700" dirty="0"/>
          </a:p>
        </p:txBody>
      </p:sp>
      <p:sp>
        <p:nvSpPr>
          <p:cNvPr id="25" name="Shape 23"/>
          <p:cNvSpPr/>
          <p:nvPr/>
        </p:nvSpPr>
        <p:spPr>
          <a:xfrm>
            <a:off x="594360" y="2212848"/>
            <a:ext cx="11384280" cy="457200"/>
          </a:xfrm>
          <a:prstGeom prst="rect">
            <a:avLst/>
          </a:prstGeom>
          <a:solidFill>
            <a:srgbClr val="F8FAFC"/>
          </a:solidFill>
          <a:ln w="6350">
            <a:solidFill>
              <a:srgbClr val="D7E6F2"/>
            </a:solidFill>
            <a:prstDash val="solid"/>
          </a:ln>
        </p:spPr>
      </p:sp>
      <p:sp>
        <p:nvSpPr>
          <p:cNvPr id="26" name="Text 24"/>
          <p:cNvSpPr/>
          <p:nvPr/>
        </p:nvSpPr>
        <p:spPr>
          <a:xfrm>
            <a:off x="649224" y="2286000"/>
            <a:ext cx="1947672" cy="347472"/>
          </a:xfrm>
          <a:prstGeom prst="rect">
            <a:avLst/>
          </a:prstGeom>
          <a:noFill/>
          <a:ln/>
        </p:spPr>
        <p:txBody>
          <a:bodyPr wrap="square" lIns="0" tIns="0" rIns="0" bIns="0" rtlCol="0" anchor="ctr">
            <a:normAutofit/>
          </a:bodyPr>
          <a:lstStyle/>
          <a:p>
            <a:pPr algn="l" indent="0" marL="0">
              <a:buNone/>
            </a:pPr>
            <a:r>
              <a:rPr lang="en-US" sz="700" b="1" dirty="0">
                <a:solidFill>
                  <a:srgbClr val="123452"/>
                </a:solidFill>
              </a:rPr>
              <a:t>Evaluate</a:t>
            </a:r>
            <a:endParaRPr lang="en-US" sz="700" dirty="0"/>
          </a:p>
        </p:txBody>
      </p:sp>
      <p:sp>
        <p:nvSpPr>
          <p:cNvPr id="27" name="Text 25"/>
          <p:cNvSpPr/>
          <p:nvPr/>
        </p:nvSpPr>
        <p:spPr>
          <a:xfrm>
            <a:off x="2706624" y="22860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Inventory/pricing/promo APIs</a:t>
            </a:r>
            <a:endParaRPr lang="en-US" sz="700" dirty="0"/>
          </a:p>
        </p:txBody>
      </p:sp>
      <p:sp>
        <p:nvSpPr>
          <p:cNvPr id="28" name="Text 26"/>
          <p:cNvSpPr/>
          <p:nvPr/>
        </p:nvSpPr>
        <p:spPr>
          <a:xfrm>
            <a:off x="5038344" y="22860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Tool-grounded comparison and policy lookup</a:t>
            </a:r>
            <a:endParaRPr lang="en-US" sz="700" dirty="0"/>
          </a:p>
        </p:txBody>
      </p:sp>
      <p:sp>
        <p:nvSpPr>
          <p:cNvPr id="29" name="Text 27"/>
          <p:cNvSpPr/>
          <p:nvPr/>
        </p:nvSpPr>
        <p:spPr>
          <a:xfrm>
            <a:off x="7370064" y="22860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Brand, marketplace, loyalty agents coordinate</a:t>
            </a:r>
            <a:endParaRPr lang="en-US" sz="700" dirty="0"/>
          </a:p>
        </p:txBody>
      </p:sp>
      <p:sp>
        <p:nvSpPr>
          <p:cNvPr id="30" name="Text 28"/>
          <p:cNvSpPr/>
          <p:nvPr/>
        </p:nvSpPr>
        <p:spPr>
          <a:xfrm>
            <a:off x="9701784" y="22860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Can the explanation be audited?</a:t>
            </a:r>
            <a:endParaRPr lang="en-US" sz="700" dirty="0"/>
          </a:p>
        </p:txBody>
      </p:sp>
      <p:sp>
        <p:nvSpPr>
          <p:cNvPr id="31" name="Shape 29"/>
          <p:cNvSpPr/>
          <p:nvPr/>
        </p:nvSpPr>
        <p:spPr>
          <a:xfrm>
            <a:off x="594360" y="2670048"/>
            <a:ext cx="11384280" cy="457200"/>
          </a:xfrm>
          <a:prstGeom prst="rect">
            <a:avLst/>
          </a:prstGeom>
          <a:solidFill>
            <a:srgbClr val="FFFFFF"/>
          </a:solidFill>
          <a:ln w="6350">
            <a:solidFill>
              <a:srgbClr val="D7E6F2"/>
            </a:solidFill>
            <a:prstDash val="solid"/>
          </a:ln>
        </p:spPr>
      </p:sp>
      <p:sp>
        <p:nvSpPr>
          <p:cNvPr id="32" name="Text 30"/>
          <p:cNvSpPr/>
          <p:nvPr/>
        </p:nvSpPr>
        <p:spPr>
          <a:xfrm>
            <a:off x="649224" y="2743200"/>
            <a:ext cx="1947672" cy="347472"/>
          </a:xfrm>
          <a:prstGeom prst="rect">
            <a:avLst/>
          </a:prstGeom>
          <a:noFill/>
          <a:ln/>
        </p:spPr>
        <p:txBody>
          <a:bodyPr wrap="square" lIns="0" tIns="0" rIns="0" bIns="0" rtlCol="0" anchor="ctr">
            <a:normAutofit/>
          </a:bodyPr>
          <a:lstStyle/>
          <a:p>
            <a:pPr algn="l" indent="0" marL="0">
              <a:buNone/>
            </a:pPr>
            <a:r>
              <a:rPr lang="en-US" sz="700" b="1" dirty="0">
                <a:solidFill>
                  <a:srgbClr val="123452"/>
                </a:solidFill>
              </a:rPr>
              <a:t>Commit</a:t>
            </a:r>
            <a:endParaRPr lang="en-US" sz="700" dirty="0"/>
          </a:p>
        </p:txBody>
      </p:sp>
      <p:sp>
        <p:nvSpPr>
          <p:cNvPr id="33" name="Text 31"/>
          <p:cNvSpPr/>
          <p:nvPr/>
        </p:nvSpPr>
        <p:spPr>
          <a:xfrm>
            <a:off x="2706624" y="27432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Checkout/payment APIs</a:t>
            </a:r>
            <a:endParaRPr lang="en-US" sz="700" dirty="0"/>
          </a:p>
        </p:txBody>
      </p:sp>
      <p:sp>
        <p:nvSpPr>
          <p:cNvPr id="34" name="Text 32"/>
          <p:cNvSpPr/>
          <p:nvPr/>
        </p:nvSpPr>
        <p:spPr>
          <a:xfrm>
            <a:off x="5038344" y="27432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Approval prompt + read/write tools</a:t>
            </a:r>
            <a:endParaRPr lang="en-US" sz="700" dirty="0"/>
          </a:p>
        </p:txBody>
      </p:sp>
      <p:sp>
        <p:nvSpPr>
          <p:cNvPr id="35" name="Text 33"/>
          <p:cNvSpPr/>
          <p:nvPr/>
        </p:nvSpPr>
        <p:spPr>
          <a:xfrm>
            <a:off x="7370064" y="27432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Payment / merchant / user agents negotiate</a:t>
            </a:r>
            <a:endParaRPr lang="en-US" sz="700" dirty="0"/>
          </a:p>
        </p:txBody>
      </p:sp>
      <p:sp>
        <p:nvSpPr>
          <p:cNvPr id="36" name="Text 34"/>
          <p:cNvSpPr/>
          <p:nvPr/>
        </p:nvSpPr>
        <p:spPr>
          <a:xfrm>
            <a:off x="9701784" y="27432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Who authorized the final transaction?</a:t>
            </a:r>
            <a:endParaRPr lang="en-US" sz="700" dirty="0"/>
          </a:p>
        </p:txBody>
      </p:sp>
      <p:sp>
        <p:nvSpPr>
          <p:cNvPr id="37" name="Shape 35"/>
          <p:cNvSpPr/>
          <p:nvPr/>
        </p:nvSpPr>
        <p:spPr>
          <a:xfrm>
            <a:off x="594360" y="3127248"/>
            <a:ext cx="11384280" cy="457200"/>
          </a:xfrm>
          <a:prstGeom prst="rect">
            <a:avLst/>
          </a:prstGeom>
          <a:solidFill>
            <a:srgbClr val="F8FAFC"/>
          </a:solidFill>
          <a:ln w="6350">
            <a:solidFill>
              <a:srgbClr val="D7E6F2"/>
            </a:solidFill>
            <a:prstDash val="solid"/>
          </a:ln>
        </p:spPr>
      </p:sp>
      <p:sp>
        <p:nvSpPr>
          <p:cNvPr id="38" name="Text 36"/>
          <p:cNvSpPr/>
          <p:nvPr/>
        </p:nvSpPr>
        <p:spPr>
          <a:xfrm>
            <a:off x="649224" y="3200400"/>
            <a:ext cx="1947672" cy="347472"/>
          </a:xfrm>
          <a:prstGeom prst="rect">
            <a:avLst/>
          </a:prstGeom>
          <a:noFill/>
          <a:ln/>
        </p:spPr>
        <p:txBody>
          <a:bodyPr wrap="square" lIns="0" tIns="0" rIns="0" bIns="0" rtlCol="0" anchor="ctr">
            <a:normAutofit/>
          </a:bodyPr>
          <a:lstStyle/>
          <a:p>
            <a:pPr algn="l" indent="0" marL="0">
              <a:buNone/>
            </a:pPr>
            <a:r>
              <a:rPr lang="en-US" sz="700" b="1" dirty="0">
                <a:solidFill>
                  <a:srgbClr val="123452"/>
                </a:solidFill>
              </a:rPr>
              <a:t>Fulfill</a:t>
            </a:r>
            <a:endParaRPr lang="en-US" sz="700" dirty="0"/>
          </a:p>
        </p:txBody>
      </p:sp>
      <p:sp>
        <p:nvSpPr>
          <p:cNvPr id="39" name="Text 37"/>
          <p:cNvSpPr/>
          <p:nvPr/>
        </p:nvSpPr>
        <p:spPr>
          <a:xfrm>
            <a:off x="2706624" y="32004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Order, delivery, returns APIs</a:t>
            </a:r>
            <a:endParaRPr lang="en-US" sz="700" dirty="0"/>
          </a:p>
        </p:txBody>
      </p:sp>
      <p:sp>
        <p:nvSpPr>
          <p:cNvPr id="40" name="Text 38"/>
          <p:cNvSpPr/>
          <p:nvPr/>
        </p:nvSpPr>
        <p:spPr>
          <a:xfrm>
            <a:off x="5038344" y="32004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Order context + return policy tools</a:t>
            </a:r>
            <a:endParaRPr lang="en-US" sz="700" dirty="0"/>
          </a:p>
        </p:txBody>
      </p:sp>
      <p:sp>
        <p:nvSpPr>
          <p:cNvPr id="41" name="Text 39"/>
          <p:cNvSpPr/>
          <p:nvPr/>
        </p:nvSpPr>
        <p:spPr>
          <a:xfrm>
            <a:off x="7370064" y="32004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Logistics and support agents exchange status</a:t>
            </a:r>
            <a:endParaRPr lang="en-US" sz="700" dirty="0"/>
          </a:p>
        </p:txBody>
      </p:sp>
      <p:sp>
        <p:nvSpPr>
          <p:cNvPr id="42" name="Text 40"/>
          <p:cNvSpPr/>
          <p:nvPr/>
        </p:nvSpPr>
        <p:spPr>
          <a:xfrm>
            <a:off x="9701784" y="32004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Who is liable for a wrong action?</a:t>
            </a:r>
            <a:endParaRPr lang="en-US" sz="700" dirty="0"/>
          </a:p>
        </p:txBody>
      </p:sp>
      <p:sp>
        <p:nvSpPr>
          <p:cNvPr id="43" name="Shape 41"/>
          <p:cNvSpPr/>
          <p:nvPr/>
        </p:nvSpPr>
        <p:spPr>
          <a:xfrm>
            <a:off x="594360" y="3584448"/>
            <a:ext cx="11384280" cy="457200"/>
          </a:xfrm>
          <a:prstGeom prst="rect">
            <a:avLst/>
          </a:prstGeom>
          <a:solidFill>
            <a:srgbClr val="FFFFFF"/>
          </a:solidFill>
          <a:ln w="6350">
            <a:solidFill>
              <a:srgbClr val="D7E6F2"/>
            </a:solidFill>
            <a:prstDash val="solid"/>
          </a:ln>
        </p:spPr>
      </p:sp>
      <p:sp>
        <p:nvSpPr>
          <p:cNvPr id="44" name="Text 42"/>
          <p:cNvSpPr/>
          <p:nvPr/>
        </p:nvSpPr>
        <p:spPr>
          <a:xfrm>
            <a:off x="649224" y="3657600"/>
            <a:ext cx="1947672" cy="347472"/>
          </a:xfrm>
          <a:prstGeom prst="rect">
            <a:avLst/>
          </a:prstGeom>
          <a:noFill/>
          <a:ln/>
        </p:spPr>
        <p:txBody>
          <a:bodyPr wrap="square" lIns="0" tIns="0" rIns="0" bIns="0" rtlCol="0" anchor="ctr">
            <a:normAutofit/>
          </a:bodyPr>
          <a:lstStyle/>
          <a:p>
            <a:pPr algn="l" indent="0" marL="0">
              <a:buNone/>
            </a:pPr>
            <a:r>
              <a:rPr lang="en-US" sz="700" b="1" dirty="0">
                <a:solidFill>
                  <a:srgbClr val="123452"/>
                </a:solidFill>
              </a:rPr>
              <a:t>Support</a:t>
            </a:r>
            <a:endParaRPr lang="en-US" sz="700" dirty="0"/>
          </a:p>
        </p:txBody>
      </p:sp>
      <p:sp>
        <p:nvSpPr>
          <p:cNvPr id="45" name="Text 43"/>
          <p:cNvSpPr/>
          <p:nvPr/>
        </p:nvSpPr>
        <p:spPr>
          <a:xfrm>
            <a:off x="2706624" y="36576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Case, refund, warranty APIs</a:t>
            </a:r>
            <a:endParaRPr lang="en-US" sz="700" dirty="0"/>
          </a:p>
        </p:txBody>
      </p:sp>
      <p:sp>
        <p:nvSpPr>
          <p:cNvPr id="46" name="Text 44"/>
          <p:cNvSpPr/>
          <p:nvPr/>
        </p:nvSpPr>
        <p:spPr>
          <a:xfrm>
            <a:off x="5038344" y="36576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Policy + evidence summarization</a:t>
            </a:r>
            <a:endParaRPr lang="en-US" sz="700" dirty="0"/>
          </a:p>
        </p:txBody>
      </p:sp>
      <p:sp>
        <p:nvSpPr>
          <p:cNvPr id="47" name="Text 45"/>
          <p:cNvSpPr/>
          <p:nvPr/>
        </p:nvSpPr>
        <p:spPr>
          <a:xfrm>
            <a:off x="7370064" y="36576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Customer agent delegates to specialist agents</a:t>
            </a:r>
            <a:endParaRPr lang="en-US" sz="700" dirty="0"/>
          </a:p>
        </p:txBody>
      </p:sp>
      <p:sp>
        <p:nvSpPr>
          <p:cNvPr id="48" name="Text 46"/>
          <p:cNvSpPr/>
          <p:nvPr/>
        </p:nvSpPr>
        <p:spPr>
          <a:xfrm>
            <a:off x="9701784" y="3657600"/>
            <a:ext cx="2221992" cy="347472"/>
          </a:xfrm>
          <a:prstGeom prst="rect">
            <a:avLst/>
          </a:prstGeom>
          <a:noFill/>
          <a:ln/>
        </p:spPr>
        <p:txBody>
          <a:bodyPr wrap="square" lIns="0" tIns="0" rIns="0" bIns="0" rtlCol="0" anchor="ctr">
            <a:normAutofit/>
          </a:bodyPr>
          <a:lstStyle/>
          <a:p>
            <a:pPr algn="ctr" indent="0" marL="0">
              <a:buNone/>
            </a:pPr>
            <a:r>
              <a:rPr lang="en-US" sz="700" dirty="0">
                <a:solidFill>
                  <a:srgbClr val="1F2A37"/>
                </a:solidFill>
              </a:rPr>
              <a:t>What personal data was shared, and why?</a:t>
            </a:r>
            <a:endParaRPr lang="en-US" sz="700" dirty="0"/>
          </a:p>
        </p:txBody>
      </p:sp>
      <p:sp>
        <p:nvSpPr>
          <p:cNvPr id="49" name="Shape 47"/>
          <p:cNvSpPr/>
          <p:nvPr/>
        </p:nvSpPr>
        <p:spPr>
          <a:xfrm>
            <a:off x="658368" y="4956048"/>
            <a:ext cx="10744200" cy="685800"/>
          </a:xfrm>
          <a:prstGeom prst="roundRect">
            <a:avLst>
              <a:gd name="adj" fmla="val 6667"/>
            </a:avLst>
          </a:prstGeom>
          <a:solidFill>
            <a:srgbClr val="F7FBFE"/>
          </a:solidFill>
          <a:ln w="12700">
            <a:solidFill>
              <a:srgbClr val="123452"/>
            </a:solidFill>
            <a:prstDash val="solid"/>
          </a:ln>
        </p:spPr>
      </p:sp>
      <p:sp>
        <p:nvSpPr>
          <p:cNvPr id="50" name="Shape 48"/>
          <p:cNvSpPr/>
          <p:nvPr/>
        </p:nvSpPr>
        <p:spPr>
          <a:xfrm>
            <a:off x="658368" y="4956048"/>
            <a:ext cx="73152" cy="685800"/>
          </a:xfrm>
          <a:prstGeom prst="rect">
            <a:avLst/>
          </a:prstGeom>
          <a:solidFill>
            <a:srgbClr val="123452"/>
          </a:solidFill>
          <a:ln w="12700">
            <a:solidFill>
              <a:srgbClr val="123452"/>
            </a:solidFill>
            <a:prstDash val="solid"/>
          </a:ln>
        </p:spPr>
      </p:sp>
      <p:sp>
        <p:nvSpPr>
          <p:cNvPr id="51" name="Text 49"/>
          <p:cNvSpPr/>
          <p:nvPr/>
        </p:nvSpPr>
        <p:spPr>
          <a:xfrm>
            <a:off x="822960" y="5084064"/>
            <a:ext cx="10488168" cy="228600"/>
          </a:xfrm>
          <a:prstGeom prst="rect">
            <a:avLst/>
          </a:prstGeom>
          <a:noFill/>
          <a:ln/>
        </p:spPr>
        <p:txBody>
          <a:bodyPr wrap="square" lIns="0" tIns="0" rIns="0" bIns="0" rtlCol="0" anchor="ctr">
            <a:normAutofit/>
          </a:bodyPr>
          <a:lstStyle/>
          <a:p>
            <a:pPr indent="0" marL="0">
              <a:buNone/>
            </a:pPr>
            <a:r>
              <a:rPr lang="en-US" sz="1250" b="1" dirty="0">
                <a:solidFill>
                  <a:srgbClr val="123452"/>
                </a:solidFill>
              </a:rPr>
              <a:t>Retail teaching point</a:t>
            </a:r>
            <a:endParaRPr lang="en-US" sz="1250" dirty="0"/>
          </a:p>
        </p:txBody>
      </p:sp>
      <p:sp>
        <p:nvSpPr>
          <p:cNvPr id="52" name="Text 50"/>
          <p:cNvSpPr/>
          <p:nvPr/>
        </p:nvSpPr>
        <p:spPr>
          <a:xfrm>
            <a:off x="822960" y="5413248"/>
            <a:ext cx="10488168" cy="118872"/>
          </a:xfrm>
          <a:prstGeom prst="rect">
            <a:avLst/>
          </a:prstGeom>
          <a:noFill/>
          <a:ln/>
        </p:spPr>
        <p:txBody>
          <a:bodyPr wrap="square" lIns="254" tIns="254" rIns="254" bIns="254" rtlCol="0" anchor="t">
            <a:normAutofit/>
          </a:bodyPr>
          <a:lstStyle/>
          <a:p>
            <a:pPr indent="0" marL="0">
              <a:buNone/>
            </a:pPr>
            <a:r>
              <a:rPr lang="en-US" sz="1150" dirty="0">
                <a:solidFill>
                  <a:srgbClr val="1F2A37"/>
                </a:solidFill>
              </a:rPr>
              <a:t>Do not ask “API vs MCP vs A2A” in the abstract. Ask where the retailer wants deterministic control, where the AI needs governed context, and where independent agents must collaborate.</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F79B7"/>
          </a:solidFill>
          <a:ln w="12700">
            <a:solidFill>
              <a:srgbClr val="2F79B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F79B7"/>
                </a:solidFill>
                <a:latin typeface="Aptos" pitchFamily="34" charset="0"/>
                <a:ea typeface="Aptos" pitchFamily="34" charset="-122"/>
                <a:cs typeface="Aptos" pitchFamily="34" charset="-120"/>
              </a:rPr>
              <a:t>RETAIL</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A retail architecture usually becomes layered: APIs underneath, MCP for capabilities, A2A for ecosystem collaboration</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38</a:t>
            </a:r>
            <a:endParaRPr lang="en-US" sz="800" dirty="0"/>
          </a:p>
        </p:txBody>
      </p:sp>
      <p:sp>
        <p:nvSpPr>
          <p:cNvPr id="9" name="Shape 7"/>
          <p:cNvSpPr/>
          <p:nvPr/>
        </p:nvSpPr>
        <p:spPr>
          <a:xfrm>
            <a:off x="2395728" y="1874520"/>
            <a:ext cx="1051560" cy="0"/>
          </a:xfrm>
          <a:prstGeom prst="line">
            <a:avLst/>
          </a:prstGeom>
          <a:noFill/>
          <a:ln w="19050">
            <a:solidFill>
              <a:srgbClr val="D7E6F2"/>
            </a:solidFill>
            <a:prstDash val="solid"/>
            <a:tailEnd type="triangle"/>
          </a:ln>
        </p:spPr>
      </p:sp>
      <p:sp>
        <p:nvSpPr>
          <p:cNvPr id="10" name="Shape 8"/>
          <p:cNvSpPr/>
          <p:nvPr/>
        </p:nvSpPr>
        <p:spPr>
          <a:xfrm>
            <a:off x="5230368" y="1874520"/>
            <a:ext cx="1051560" cy="0"/>
          </a:xfrm>
          <a:prstGeom prst="line">
            <a:avLst/>
          </a:prstGeom>
          <a:noFill/>
          <a:ln w="19050">
            <a:solidFill>
              <a:srgbClr val="D7E6F2"/>
            </a:solidFill>
            <a:prstDash val="solid"/>
            <a:tailEnd type="triangle"/>
          </a:ln>
        </p:spPr>
      </p:sp>
      <p:sp>
        <p:nvSpPr>
          <p:cNvPr id="11" name="Shape 9"/>
          <p:cNvSpPr/>
          <p:nvPr/>
        </p:nvSpPr>
        <p:spPr>
          <a:xfrm>
            <a:off x="8065008" y="1874520"/>
            <a:ext cx="1051560" cy="0"/>
          </a:xfrm>
          <a:prstGeom prst="line">
            <a:avLst/>
          </a:prstGeom>
          <a:noFill/>
          <a:ln w="19050">
            <a:solidFill>
              <a:srgbClr val="D7E6F2"/>
            </a:solidFill>
            <a:prstDash val="solid"/>
            <a:tailEnd type="triangle"/>
          </a:ln>
        </p:spPr>
      </p:sp>
      <p:sp>
        <p:nvSpPr>
          <p:cNvPr id="12" name="Shape 10"/>
          <p:cNvSpPr/>
          <p:nvPr/>
        </p:nvSpPr>
        <p:spPr>
          <a:xfrm>
            <a:off x="548640" y="1417320"/>
            <a:ext cx="2240280" cy="914400"/>
          </a:xfrm>
          <a:prstGeom prst="roundRect">
            <a:avLst>
              <a:gd name="adj" fmla="val 6000"/>
            </a:avLst>
          </a:prstGeom>
          <a:solidFill>
            <a:srgbClr val="FFFFFF"/>
          </a:solidFill>
          <a:ln w="17780">
            <a:solidFill>
              <a:srgbClr val="123452"/>
            </a:solidFill>
            <a:prstDash val="solid"/>
          </a:ln>
        </p:spPr>
      </p:sp>
      <p:sp>
        <p:nvSpPr>
          <p:cNvPr id="13" name="Text 11"/>
          <p:cNvSpPr/>
          <p:nvPr/>
        </p:nvSpPr>
        <p:spPr>
          <a:xfrm>
            <a:off x="658368" y="1618488"/>
            <a:ext cx="2011680" cy="182880"/>
          </a:xfrm>
          <a:prstGeom prst="rect">
            <a:avLst/>
          </a:prstGeom>
          <a:noFill/>
          <a:ln/>
        </p:spPr>
        <p:txBody>
          <a:bodyPr wrap="square" lIns="0" tIns="0" rIns="0" bIns="0" rtlCol="0" anchor="ctr">
            <a:normAutofit/>
          </a:bodyPr>
          <a:lstStyle/>
          <a:p>
            <a:pPr algn="ctr" indent="0" marL="0">
              <a:buNone/>
            </a:pPr>
            <a:r>
              <a:rPr lang="en-US" sz="1200" b="1" dirty="0">
                <a:solidFill>
                  <a:srgbClr val="123452"/>
                </a:solidFill>
              </a:rPr>
              <a:t>Customer surface</a:t>
            </a:r>
            <a:endParaRPr lang="en-US" sz="1200" dirty="0"/>
          </a:p>
        </p:txBody>
      </p:sp>
      <p:sp>
        <p:nvSpPr>
          <p:cNvPr id="14" name="Text 12"/>
          <p:cNvSpPr/>
          <p:nvPr/>
        </p:nvSpPr>
        <p:spPr>
          <a:xfrm>
            <a:off x="658368" y="1901952"/>
            <a:ext cx="2011680" cy="182880"/>
          </a:xfrm>
          <a:prstGeom prst="rect">
            <a:avLst/>
          </a:prstGeom>
          <a:noFill/>
          <a:ln/>
        </p:spPr>
        <p:txBody>
          <a:bodyPr wrap="square" lIns="0" tIns="0" rIns="0" bIns="0" rtlCol="0" anchor="ctr">
            <a:normAutofit/>
          </a:bodyPr>
          <a:lstStyle/>
          <a:p>
            <a:pPr algn="ctr" indent="0" marL="0">
              <a:buNone/>
            </a:pPr>
            <a:r>
              <a:rPr lang="en-US" sz="870" dirty="0">
                <a:solidFill>
                  <a:srgbClr val="617184"/>
                </a:solidFill>
              </a:rPr>
              <a:t>mobile / web / chat</a:t>
            </a:r>
            <a:endParaRPr lang="en-US" sz="870" dirty="0"/>
          </a:p>
        </p:txBody>
      </p:sp>
      <p:sp>
        <p:nvSpPr>
          <p:cNvPr id="15" name="Shape 13"/>
          <p:cNvSpPr/>
          <p:nvPr/>
        </p:nvSpPr>
        <p:spPr>
          <a:xfrm>
            <a:off x="3383280" y="1417320"/>
            <a:ext cx="2240280" cy="914400"/>
          </a:xfrm>
          <a:prstGeom prst="roundRect">
            <a:avLst>
              <a:gd name="adj" fmla="val 6000"/>
            </a:avLst>
          </a:prstGeom>
          <a:solidFill>
            <a:srgbClr val="FFFFFF"/>
          </a:solidFill>
          <a:ln w="17780">
            <a:solidFill>
              <a:srgbClr val="0A9B9B"/>
            </a:solidFill>
            <a:prstDash val="solid"/>
          </a:ln>
        </p:spPr>
      </p:sp>
      <p:sp>
        <p:nvSpPr>
          <p:cNvPr id="16" name="Text 14"/>
          <p:cNvSpPr/>
          <p:nvPr/>
        </p:nvSpPr>
        <p:spPr>
          <a:xfrm>
            <a:off x="3493008" y="1618488"/>
            <a:ext cx="2011680" cy="182880"/>
          </a:xfrm>
          <a:prstGeom prst="rect">
            <a:avLst/>
          </a:prstGeom>
          <a:noFill/>
          <a:ln/>
        </p:spPr>
        <p:txBody>
          <a:bodyPr wrap="square" lIns="0" tIns="0" rIns="0" bIns="0" rtlCol="0" anchor="ctr">
            <a:normAutofit/>
          </a:bodyPr>
          <a:lstStyle/>
          <a:p>
            <a:pPr algn="ctr" indent="0" marL="0">
              <a:buNone/>
            </a:pPr>
            <a:r>
              <a:rPr lang="en-US" sz="1200" b="1" dirty="0">
                <a:solidFill>
                  <a:srgbClr val="0A9B9B"/>
                </a:solidFill>
              </a:rPr>
              <a:t>Merchant APIs</a:t>
            </a:r>
            <a:endParaRPr lang="en-US" sz="1200" dirty="0"/>
          </a:p>
        </p:txBody>
      </p:sp>
      <p:sp>
        <p:nvSpPr>
          <p:cNvPr id="17" name="Text 15"/>
          <p:cNvSpPr/>
          <p:nvPr/>
        </p:nvSpPr>
        <p:spPr>
          <a:xfrm>
            <a:off x="3493008" y="1901952"/>
            <a:ext cx="2011680" cy="182880"/>
          </a:xfrm>
          <a:prstGeom prst="rect">
            <a:avLst/>
          </a:prstGeom>
          <a:noFill/>
          <a:ln/>
        </p:spPr>
        <p:txBody>
          <a:bodyPr wrap="square" lIns="0" tIns="0" rIns="0" bIns="0" rtlCol="0" anchor="ctr">
            <a:normAutofit/>
          </a:bodyPr>
          <a:lstStyle/>
          <a:p>
            <a:pPr algn="ctr" indent="0" marL="0">
              <a:buNone/>
            </a:pPr>
            <a:r>
              <a:rPr lang="en-US" sz="870" dirty="0">
                <a:solidFill>
                  <a:srgbClr val="617184"/>
                </a:solidFill>
              </a:rPr>
              <a:t>catalog, price, order</a:t>
            </a:r>
            <a:endParaRPr lang="en-US" sz="870" dirty="0"/>
          </a:p>
        </p:txBody>
      </p:sp>
      <p:sp>
        <p:nvSpPr>
          <p:cNvPr id="18" name="Shape 16"/>
          <p:cNvSpPr/>
          <p:nvPr/>
        </p:nvSpPr>
        <p:spPr>
          <a:xfrm>
            <a:off x="6217920" y="1417320"/>
            <a:ext cx="2240280" cy="914400"/>
          </a:xfrm>
          <a:prstGeom prst="roundRect">
            <a:avLst>
              <a:gd name="adj" fmla="val 6000"/>
            </a:avLst>
          </a:prstGeom>
          <a:solidFill>
            <a:srgbClr val="FFFFFF"/>
          </a:solidFill>
          <a:ln w="17780">
            <a:solidFill>
              <a:srgbClr val="25A9C7"/>
            </a:solidFill>
            <a:prstDash val="solid"/>
          </a:ln>
        </p:spPr>
      </p:sp>
      <p:sp>
        <p:nvSpPr>
          <p:cNvPr id="19" name="Text 17"/>
          <p:cNvSpPr/>
          <p:nvPr/>
        </p:nvSpPr>
        <p:spPr>
          <a:xfrm>
            <a:off x="6327648" y="1618488"/>
            <a:ext cx="2011680" cy="182880"/>
          </a:xfrm>
          <a:prstGeom prst="rect">
            <a:avLst/>
          </a:prstGeom>
          <a:noFill/>
          <a:ln/>
        </p:spPr>
        <p:txBody>
          <a:bodyPr wrap="square" lIns="0" tIns="0" rIns="0" bIns="0" rtlCol="0" anchor="ctr">
            <a:normAutofit/>
          </a:bodyPr>
          <a:lstStyle/>
          <a:p>
            <a:pPr algn="ctr" indent="0" marL="0">
              <a:buNone/>
            </a:pPr>
            <a:r>
              <a:rPr lang="en-US" sz="1200" b="1" dirty="0">
                <a:solidFill>
                  <a:srgbClr val="25A9C7"/>
                </a:solidFill>
              </a:rPr>
              <a:t>MCP servers</a:t>
            </a:r>
            <a:endParaRPr lang="en-US" sz="1200" dirty="0"/>
          </a:p>
        </p:txBody>
      </p:sp>
      <p:sp>
        <p:nvSpPr>
          <p:cNvPr id="20" name="Text 18"/>
          <p:cNvSpPr/>
          <p:nvPr/>
        </p:nvSpPr>
        <p:spPr>
          <a:xfrm>
            <a:off x="6327648" y="1901952"/>
            <a:ext cx="2011680" cy="182880"/>
          </a:xfrm>
          <a:prstGeom prst="rect">
            <a:avLst/>
          </a:prstGeom>
          <a:noFill/>
          <a:ln/>
        </p:spPr>
        <p:txBody>
          <a:bodyPr wrap="square" lIns="0" tIns="0" rIns="0" bIns="0" rtlCol="0" anchor="ctr">
            <a:normAutofit/>
          </a:bodyPr>
          <a:lstStyle/>
          <a:p>
            <a:pPr algn="ctr" indent="0" marL="0">
              <a:buNone/>
            </a:pPr>
            <a:r>
              <a:rPr lang="en-US" sz="870" dirty="0">
                <a:solidFill>
                  <a:srgbClr val="617184"/>
                </a:solidFill>
              </a:rPr>
              <a:t>tools + policy context</a:t>
            </a:r>
            <a:endParaRPr lang="en-US" sz="870" dirty="0"/>
          </a:p>
        </p:txBody>
      </p:sp>
      <p:sp>
        <p:nvSpPr>
          <p:cNvPr id="21" name="Shape 19"/>
          <p:cNvSpPr/>
          <p:nvPr/>
        </p:nvSpPr>
        <p:spPr>
          <a:xfrm>
            <a:off x="9052560" y="1417320"/>
            <a:ext cx="2240280" cy="914400"/>
          </a:xfrm>
          <a:prstGeom prst="roundRect">
            <a:avLst>
              <a:gd name="adj" fmla="val 6000"/>
            </a:avLst>
          </a:prstGeom>
          <a:solidFill>
            <a:srgbClr val="FFFFFF"/>
          </a:solidFill>
          <a:ln w="17780">
            <a:solidFill>
              <a:srgbClr val="446CA8"/>
            </a:solidFill>
            <a:prstDash val="solid"/>
          </a:ln>
        </p:spPr>
      </p:sp>
      <p:sp>
        <p:nvSpPr>
          <p:cNvPr id="22" name="Text 20"/>
          <p:cNvSpPr/>
          <p:nvPr/>
        </p:nvSpPr>
        <p:spPr>
          <a:xfrm>
            <a:off x="9162288" y="1618488"/>
            <a:ext cx="2011680" cy="182880"/>
          </a:xfrm>
          <a:prstGeom prst="rect">
            <a:avLst/>
          </a:prstGeom>
          <a:noFill/>
          <a:ln/>
        </p:spPr>
        <p:txBody>
          <a:bodyPr wrap="square" lIns="0" tIns="0" rIns="0" bIns="0" rtlCol="0" anchor="ctr">
            <a:normAutofit/>
          </a:bodyPr>
          <a:lstStyle/>
          <a:p>
            <a:pPr algn="ctr" indent="0" marL="0">
              <a:buNone/>
            </a:pPr>
            <a:r>
              <a:rPr lang="en-US" sz="1200" b="1" dirty="0">
                <a:solidFill>
                  <a:srgbClr val="446CA8"/>
                </a:solidFill>
              </a:rPr>
              <a:t>A2A agents</a:t>
            </a:r>
            <a:endParaRPr lang="en-US" sz="1200" dirty="0"/>
          </a:p>
        </p:txBody>
      </p:sp>
      <p:sp>
        <p:nvSpPr>
          <p:cNvPr id="23" name="Text 21"/>
          <p:cNvSpPr/>
          <p:nvPr/>
        </p:nvSpPr>
        <p:spPr>
          <a:xfrm>
            <a:off x="9162288" y="1901952"/>
            <a:ext cx="2011680" cy="182880"/>
          </a:xfrm>
          <a:prstGeom prst="rect">
            <a:avLst/>
          </a:prstGeom>
          <a:noFill/>
          <a:ln/>
        </p:spPr>
        <p:txBody>
          <a:bodyPr wrap="square" lIns="0" tIns="0" rIns="0" bIns="0" rtlCol="0" anchor="ctr">
            <a:normAutofit/>
          </a:bodyPr>
          <a:lstStyle/>
          <a:p>
            <a:pPr algn="ctr" indent="0" marL="0">
              <a:buNone/>
            </a:pPr>
            <a:r>
              <a:rPr lang="en-US" sz="870" dirty="0">
                <a:solidFill>
                  <a:srgbClr val="617184"/>
                </a:solidFill>
              </a:rPr>
              <a:t>shopper, merchant, payments</a:t>
            </a:r>
            <a:endParaRPr lang="en-US" sz="870" dirty="0"/>
          </a:p>
        </p:txBody>
      </p:sp>
      <p:sp>
        <p:nvSpPr>
          <p:cNvPr id="24" name="Shape 22"/>
          <p:cNvSpPr/>
          <p:nvPr/>
        </p:nvSpPr>
        <p:spPr>
          <a:xfrm>
            <a:off x="658368" y="3063240"/>
            <a:ext cx="3429000" cy="1051560"/>
          </a:xfrm>
          <a:prstGeom prst="roundRect">
            <a:avLst>
              <a:gd name="adj" fmla="val 4348"/>
            </a:avLst>
          </a:prstGeom>
          <a:solidFill>
            <a:srgbClr val="F7FBFE"/>
          </a:solidFill>
          <a:ln w="12700">
            <a:solidFill>
              <a:srgbClr val="0A9B9B"/>
            </a:solidFill>
            <a:prstDash val="solid"/>
          </a:ln>
        </p:spPr>
      </p:sp>
      <p:sp>
        <p:nvSpPr>
          <p:cNvPr id="25" name="Shape 23"/>
          <p:cNvSpPr/>
          <p:nvPr/>
        </p:nvSpPr>
        <p:spPr>
          <a:xfrm>
            <a:off x="658368" y="3063240"/>
            <a:ext cx="73152" cy="1051560"/>
          </a:xfrm>
          <a:prstGeom prst="rect">
            <a:avLst/>
          </a:prstGeom>
          <a:solidFill>
            <a:srgbClr val="0A9B9B"/>
          </a:solidFill>
          <a:ln w="12700">
            <a:solidFill>
              <a:srgbClr val="0A9B9B"/>
            </a:solidFill>
            <a:prstDash val="solid"/>
          </a:ln>
        </p:spPr>
      </p:sp>
      <p:sp>
        <p:nvSpPr>
          <p:cNvPr id="26" name="Text 24"/>
          <p:cNvSpPr/>
          <p:nvPr/>
        </p:nvSpPr>
        <p:spPr>
          <a:xfrm>
            <a:off x="822960" y="3191256"/>
            <a:ext cx="317296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Where APIs dominate</a:t>
            </a:r>
            <a:endParaRPr lang="en-US" sz="1300" dirty="0"/>
          </a:p>
        </p:txBody>
      </p:sp>
      <p:sp>
        <p:nvSpPr>
          <p:cNvPr id="27" name="Text 25"/>
          <p:cNvSpPr/>
          <p:nvPr/>
        </p:nvSpPr>
        <p:spPr>
          <a:xfrm>
            <a:off x="822960" y="3520440"/>
            <a:ext cx="3172968" cy="48463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Systems of record: price, inventory, tax, order capture, refunds, loyalty points, and fulfillment state.</a:t>
            </a:r>
            <a:endParaRPr lang="en-US" sz="1080" dirty="0"/>
          </a:p>
        </p:txBody>
      </p:sp>
      <p:sp>
        <p:nvSpPr>
          <p:cNvPr id="28" name="Shape 26"/>
          <p:cNvSpPr/>
          <p:nvPr/>
        </p:nvSpPr>
        <p:spPr>
          <a:xfrm>
            <a:off x="4389120" y="3063240"/>
            <a:ext cx="3429000" cy="1051560"/>
          </a:xfrm>
          <a:prstGeom prst="roundRect">
            <a:avLst>
              <a:gd name="adj" fmla="val 4348"/>
            </a:avLst>
          </a:prstGeom>
          <a:solidFill>
            <a:srgbClr val="F7FBFE"/>
          </a:solidFill>
          <a:ln w="12700">
            <a:solidFill>
              <a:srgbClr val="25A9C7"/>
            </a:solidFill>
            <a:prstDash val="solid"/>
          </a:ln>
        </p:spPr>
      </p:sp>
      <p:sp>
        <p:nvSpPr>
          <p:cNvPr id="29" name="Shape 27"/>
          <p:cNvSpPr/>
          <p:nvPr/>
        </p:nvSpPr>
        <p:spPr>
          <a:xfrm>
            <a:off x="4389120" y="3063240"/>
            <a:ext cx="73152" cy="1051560"/>
          </a:xfrm>
          <a:prstGeom prst="rect">
            <a:avLst/>
          </a:prstGeom>
          <a:solidFill>
            <a:srgbClr val="25A9C7"/>
          </a:solidFill>
          <a:ln w="12700">
            <a:solidFill>
              <a:srgbClr val="25A9C7"/>
            </a:solidFill>
            <a:prstDash val="solid"/>
          </a:ln>
        </p:spPr>
      </p:sp>
      <p:sp>
        <p:nvSpPr>
          <p:cNvPr id="30" name="Text 28"/>
          <p:cNvSpPr/>
          <p:nvPr/>
        </p:nvSpPr>
        <p:spPr>
          <a:xfrm>
            <a:off x="4553712" y="3191256"/>
            <a:ext cx="317296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Where MCP helps</a:t>
            </a:r>
            <a:endParaRPr lang="en-US" sz="1300" dirty="0"/>
          </a:p>
        </p:txBody>
      </p:sp>
      <p:sp>
        <p:nvSpPr>
          <p:cNvPr id="31" name="Text 29"/>
          <p:cNvSpPr/>
          <p:nvPr/>
        </p:nvSpPr>
        <p:spPr>
          <a:xfrm>
            <a:off x="4553712" y="3520440"/>
            <a:ext cx="3172968" cy="48463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Agent can discover approved tools and read policy/product resources without hard-coding every integration.</a:t>
            </a:r>
            <a:endParaRPr lang="en-US" sz="1080" dirty="0"/>
          </a:p>
        </p:txBody>
      </p:sp>
      <p:sp>
        <p:nvSpPr>
          <p:cNvPr id="32" name="Shape 30"/>
          <p:cNvSpPr/>
          <p:nvPr/>
        </p:nvSpPr>
        <p:spPr>
          <a:xfrm>
            <a:off x="8119872" y="3063240"/>
            <a:ext cx="3429000" cy="1051560"/>
          </a:xfrm>
          <a:prstGeom prst="roundRect">
            <a:avLst>
              <a:gd name="adj" fmla="val 4348"/>
            </a:avLst>
          </a:prstGeom>
          <a:solidFill>
            <a:srgbClr val="F7FBFE"/>
          </a:solidFill>
          <a:ln w="12700">
            <a:solidFill>
              <a:srgbClr val="446CA8"/>
            </a:solidFill>
            <a:prstDash val="solid"/>
          </a:ln>
        </p:spPr>
      </p:sp>
      <p:sp>
        <p:nvSpPr>
          <p:cNvPr id="33" name="Shape 31"/>
          <p:cNvSpPr/>
          <p:nvPr/>
        </p:nvSpPr>
        <p:spPr>
          <a:xfrm>
            <a:off x="8119872" y="3063240"/>
            <a:ext cx="73152" cy="1051560"/>
          </a:xfrm>
          <a:prstGeom prst="rect">
            <a:avLst/>
          </a:prstGeom>
          <a:solidFill>
            <a:srgbClr val="446CA8"/>
          </a:solidFill>
          <a:ln w="12700">
            <a:solidFill>
              <a:srgbClr val="446CA8"/>
            </a:solidFill>
            <a:prstDash val="solid"/>
          </a:ln>
        </p:spPr>
      </p:sp>
      <p:sp>
        <p:nvSpPr>
          <p:cNvPr id="34" name="Text 32"/>
          <p:cNvSpPr/>
          <p:nvPr/>
        </p:nvSpPr>
        <p:spPr>
          <a:xfrm>
            <a:off x="8284464" y="3191256"/>
            <a:ext cx="317296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Where A2A helps</a:t>
            </a:r>
            <a:endParaRPr lang="en-US" sz="1300" dirty="0"/>
          </a:p>
        </p:txBody>
      </p:sp>
      <p:sp>
        <p:nvSpPr>
          <p:cNvPr id="35" name="Text 33"/>
          <p:cNvSpPr/>
          <p:nvPr/>
        </p:nvSpPr>
        <p:spPr>
          <a:xfrm>
            <a:off x="8284464" y="3520440"/>
            <a:ext cx="3172968" cy="48463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Independent shopper, merchant, payment, fraud, delivery, and support agents coordinate without sharing internals.</a:t>
            </a:r>
            <a:endParaRPr lang="en-US" sz="1080" dirty="0"/>
          </a:p>
        </p:txBody>
      </p:sp>
      <p:sp>
        <p:nvSpPr>
          <p:cNvPr id="36" name="Shape 34"/>
          <p:cNvSpPr/>
          <p:nvPr/>
        </p:nvSpPr>
        <p:spPr>
          <a:xfrm>
            <a:off x="658368" y="4709160"/>
            <a:ext cx="10881360" cy="685800"/>
          </a:xfrm>
          <a:prstGeom prst="roundRect">
            <a:avLst>
              <a:gd name="adj" fmla="val 6667"/>
            </a:avLst>
          </a:prstGeom>
          <a:solidFill>
            <a:srgbClr val="F7FBFE"/>
          </a:solidFill>
          <a:ln w="12700">
            <a:solidFill>
              <a:srgbClr val="2F79B7"/>
            </a:solidFill>
            <a:prstDash val="solid"/>
          </a:ln>
        </p:spPr>
      </p:sp>
      <p:sp>
        <p:nvSpPr>
          <p:cNvPr id="37" name="Shape 35"/>
          <p:cNvSpPr/>
          <p:nvPr/>
        </p:nvSpPr>
        <p:spPr>
          <a:xfrm>
            <a:off x="658368" y="4709160"/>
            <a:ext cx="73152" cy="685800"/>
          </a:xfrm>
          <a:prstGeom prst="rect">
            <a:avLst/>
          </a:prstGeom>
          <a:solidFill>
            <a:srgbClr val="2F79B7"/>
          </a:solidFill>
          <a:ln w="12700">
            <a:solidFill>
              <a:srgbClr val="2F79B7"/>
            </a:solidFill>
            <a:prstDash val="solid"/>
          </a:ln>
        </p:spPr>
      </p:sp>
      <p:sp>
        <p:nvSpPr>
          <p:cNvPr id="38" name="Text 36"/>
          <p:cNvSpPr/>
          <p:nvPr/>
        </p:nvSpPr>
        <p:spPr>
          <a:xfrm>
            <a:off x="822960" y="4837176"/>
            <a:ext cx="10625328" cy="228600"/>
          </a:xfrm>
          <a:prstGeom prst="rect">
            <a:avLst/>
          </a:prstGeom>
          <a:noFill/>
          <a:ln/>
        </p:spPr>
        <p:txBody>
          <a:bodyPr wrap="square" lIns="0" tIns="0" rIns="0" bIns="0" rtlCol="0" anchor="ctr">
            <a:normAutofit/>
          </a:bodyPr>
          <a:lstStyle/>
          <a:p>
            <a:pPr indent="0" marL="0">
              <a:buNone/>
            </a:pPr>
            <a:r>
              <a:rPr lang="en-US" sz="1250" b="1" dirty="0">
                <a:solidFill>
                  <a:srgbClr val="2F79B7"/>
                </a:solidFill>
              </a:rPr>
              <a:t>Commerce protocol note</a:t>
            </a:r>
            <a:endParaRPr lang="en-US" sz="1250" dirty="0"/>
          </a:p>
        </p:txBody>
      </p:sp>
      <p:sp>
        <p:nvSpPr>
          <p:cNvPr id="39" name="Text 37"/>
          <p:cNvSpPr/>
          <p:nvPr/>
        </p:nvSpPr>
        <p:spPr>
          <a:xfrm>
            <a:off x="822960" y="5166360"/>
            <a:ext cx="10625328" cy="118872"/>
          </a:xfrm>
          <a:prstGeom prst="rect">
            <a:avLst/>
          </a:prstGeom>
          <a:noFill/>
          <a:ln/>
        </p:spPr>
        <p:txBody>
          <a:bodyPr wrap="square" lIns="254" tIns="254" rIns="254" bIns="254" rtlCol="0" anchor="t">
            <a:normAutofit/>
          </a:bodyPr>
          <a:lstStyle/>
          <a:p>
            <a:pPr indent="0" marL="0">
              <a:buNone/>
            </a:pPr>
            <a:r>
              <a:rPr lang="en-US" sz="1120" dirty="0">
                <a:solidFill>
                  <a:srgbClr val="1F2A37"/>
                </a:solidFill>
              </a:rPr>
              <a:t>For full agentic commerce, UCP/AP2 become relevant: UCP standardizes commerce operations; AP2 focuses on verifiable payment authorization and accountability.</a:t>
            </a:r>
            <a:endParaRPr lang="en-US" sz="11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B65F62"/>
          </a:solidFill>
          <a:ln w="12700">
            <a:solidFill>
              <a:srgbClr val="B65F6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B65F62"/>
                </a:solidFill>
                <a:latin typeface="Aptos" pitchFamily="34" charset="0"/>
                <a:ea typeface="Aptos" pitchFamily="34" charset="-122"/>
                <a:cs typeface="Aptos" pitchFamily="34" charset="-120"/>
              </a:rPr>
              <a:t>LEGAL</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Legal and governance design is not an appendix — it changes the architecture</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39</a:t>
            </a:r>
            <a:endParaRPr lang="en-US" sz="800" dirty="0"/>
          </a:p>
        </p:txBody>
      </p:sp>
      <p:sp>
        <p:nvSpPr>
          <p:cNvPr id="9" name="Shape 7"/>
          <p:cNvSpPr/>
          <p:nvPr/>
        </p:nvSpPr>
        <p:spPr>
          <a:xfrm>
            <a:off x="640080" y="1298448"/>
            <a:ext cx="3337560" cy="1078992"/>
          </a:xfrm>
          <a:prstGeom prst="roundRect">
            <a:avLst>
              <a:gd name="adj" fmla="val 4237"/>
            </a:avLst>
          </a:prstGeom>
          <a:solidFill>
            <a:srgbClr val="F7FBFE"/>
          </a:solidFill>
          <a:ln w="12700">
            <a:solidFill>
              <a:srgbClr val="B65F62"/>
            </a:solidFill>
            <a:prstDash val="solid"/>
          </a:ln>
        </p:spPr>
      </p:sp>
      <p:sp>
        <p:nvSpPr>
          <p:cNvPr id="10" name="Shape 8"/>
          <p:cNvSpPr/>
          <p:nvPr/>
        </p:nvSpPr>
        <p:spPr>
          <a:xfrm>
            <a:off x="640080" y="1298448"/>
            <a:ext cx="73152" cy="1078992"/>
          </a:xfrm>
          <a:prstGeom prst="rect">
            <a:avLst/>
          </a:prstGeom>
          <a:solidFill>
            <a:srgbClr val="B65F62"/>
          </a:solidFill>
          <a:ln w="12700">
            <a:solidFill>
              <a:srgbClr val="B65F62"/>
            </a:solidFill>
            <a:prstDash val="solid"/>
          </a:ln>
        </p:spPr>
      </p:sp>
      <p:sp>
        <p:nvSpPr>
          <p:cNvPr id="11" name="Text 9"/>
          <p:cNvSpPr/>
          <p:nvPr/>
        </p:nvSpPr>
        <p:spPr>
          <a:xfrm>
            <a:off x="804672" y="1426464"/>
            <a:ext cx="3081528" cy="228600"/>
          </a:xfrm>
          <a:prstGeom prst="rect">
            <a:avLst/>
          </a:prstGeom>
          <a:noFill/>
          <a:ln/>
        </p:spPr>
        <p:txBody>
          <a:bodyPr wrap="square" lIns="0" tIns="0" rIns="0" bIns="0" rtlCol="0" anchor="ctr">
            <a:normAutofit/>
          </a:bodyPr>
          <a:lstStyle/>
          <a:p>
            <a:pPr indent="0" marL="0">
              <a:buNone/>
            </a:pPr>
            <a:r>
              <a:rPr lang="en-US" sz="1300" b="1" dirty="0">
                <a:solidFill>
                  <a:srgbClr val="B65F62"/>
                </a:solidFill>
              </a:rPr>
              <a:t>Consent and authority</a:t>
            </a:r>
            <a:endParaRPr lang="en-US" sz="1300" dirty="0"/>
          </a:p>
        </p:txBody>
      </p:sp>
      <p:sp>
        <p:nvSpPr>
          <p:cNvPr id="12" name="Text 10"/>
          <p:cNvSpPr/>
          <p:nvPr/>
        </p:nvSpPr>
        <p:spPr>
          <a:xfrm>
            <a:off x="804672" y="1755648"/>
            <a:ext cx="3081528" cy="512064"/>
          </a:xfrm>
          <a:prstGeom prst="rect">
            <a:avLst/>
          </a:prstGeom>
          <a:noFill/>
          <a:ln/>
        </p:spPr>
        <p:txBody>
          <a:bodyPr wrap="square" lIns="254" tIns="254" rIns="254" bIns="254" rtlCol="0" anchor="t">
            <a:normAutofit/>
          </a:bodyPr>
          <a:lstStyle/>
          <a:p>
            <a:pPr indent="0" marL="0">
              <a:buNone/>
            </a:pPr>
            <a:r>
              <a:rPr lang="en-US" sz="1070" dirty="0">
                <a:solidFill>
                  <a:srgbClr val="1F2A37"/>
                </a:solidFill>
              </a:rPr>
              <a:t>What exactly was the agent allowed to do? Was the user present? Is approval scoped by amount, item, merchant, and time?</a:t>
            </a:r>
            <a:endParaRPr lang="en-US" sz="1070" dirty="0"/>
          </a:p>
        </p:txBody>
      </p:sp>
      <p:sp>
        <p:nvSpPr>
          <p:cNvPr id="13" name="Shape 11"/>
          <p:cNvSpPr/>
          <p:nvPr/>
        </p:nvSpPr>
        <p:spPr>
          <a:xfrm>
            <a:off x="4434840" y="1298448"/>
            <a:ext cx="3337560" cy="1078992"/>
          </a:xfrm>
          <a:prstGeom prst="roundRect">
            <a:avLst>
              <a:gd name="adj" fmla="val 4237"/>
            </a:avLst>
          </a:prstGeom>
          <a:solidFill>
            <a:srgbClr val="F7FBFE"/>
          </a:solidFill>
          <a:ln w="12700">
            <a:solidFill>
              <a:srgbClr val="D99A3D"/>
            </a:solidFill>
            <a:prstDash val="solid"/>
          </a:ln>
        </p:spPr>
      </p:sp>
      <p:sp>
        <p:nvSpPr>
          <p:cNvPr id="14" name="Shape 12"/>
          <p:cNvSpPr/>
          <p:nvPr/>
        </p:nvSpPr>
        <p:spPr>
          <a:xfrm>
            <a:off x="4434840" y="1298448"/>
            <a:ext cx="73152" cy="1078992"/>
          </a:xfrm>
          <a:prstGeom prst="rect">
            <a:avLst/>
          </a:prstGeom>
          <a:solidFill>
            <a:srgbClr val="D99A3D"/>
          </a:solidFill>
          <a:ln w="12700">
            <a:solidFill>
              <a:srgbClr val="D99A3D"/>
            </a:solidFill>
            <a:prstDash val="solid"/>
          </a:ln>
        </p:spPr>
      </p:sp>
      <p:sp>
        <p:nvSpPr>
          <p:cNvPr id="15" name="Text 13"/>
          <p:cNvSpPr/>
          <p:nvPr/>
        </p:nvSpPr>
        <p:spPr>
          <a:xfrm>
            <a:off x="4599432" y="1426464"/>
            <a:ext cx="3081528" cy="228600"/>
          </a:xfrm>
          <a:prstGeom prst="rect">
            <a:avLst/>
          </a:prstGeom>
          <a:noFill/>
          <a:ln/>
        </p:spPr>
        <p:txBody>
          <a:bodyPr wrap="square" lIns="0" tIns="0" rIns="0" bIns="0" rtlCol="0" anchor="ctr">
            <a:normAutofit/>
          </a:bodyPr>
          <a:lstStyle/>
          <a:p>
            <a:pPr indent="0" marL="0">
              <a:buNone/>
            </a:pPr>
            <a:r>
              <a:rPr lang="en-US" sz="1300" b="1" dirty="0">
                <a:solidFill>
                  <a:srgbClr val="D99A3D"/>
                </a:solidFill>
              </a:rPr>
              <a:t>Liability and accountability</a:t>
            </a:r>
            <a:endParaRPr lang="en-US" sz="1300" dirty="0"/>
          </a:p>
        </p:txBody>
      </p:sp>
      <p:sp>
        <p:nvSpPr>
          <p:cNvPr id="16" name="Text 14"/>
          <p:cNvSpPr/>
          <p:nvPr/>
        </p:nvSpPr>
        <p:spPr>
          <a:xfrm>
            <a:off x="4599432" y="1755648"/>
            <a:ext cx="3081528" cy="512064"/>
          </a:xfrm>
          <a:prstGeom prst="rect">
            <a:avLst/>
          </a:prstGeom>
          <a:noFill/>
          <a:ln/>
        </p:spPr>
        <p:txBody>
          <a:bodyPr wrap="square" lIns="254" tIns="254" rIns="254" bIns="254" rtlCol="0" anchor="t">
            <a:normAutofit/>
          </a:bodyPr>
          <a:lstStyle/>
          <a:p>
            <a:pPr indent="0" marL="0">
              <a:buNone/>
            </a:pPr>
            <a:r>
              <a:rPr lang="en-US" sz="1070" dirty="0">
                <a:solidFill>
                  <a:srgbClr val="1F2A37"/>
                </a:solidFill>
              </a:rPr>
              <a:t>If the agent buys the wrong product, shares data, or violates merchant terms, who bears responsibility?</a:t>
            </a:r>
            <a:endParaRPr lang="en-US" sz="1070" dirty="0"/>
          </a:p>
        </p:txBody>
      </p:sp>
      <p:sp>
        <p:nvSpPr>
          <p:cNvPr id="17" name="Shape 15"/>
          <p:cNvSpPr/>
          <p:nvPr/>
        </p:nvSpPr>
        <p:spPr>
          <a:xfrm>
            <a:off x="8229600" y="1298448"/>
            <a:ext cx="3337560" cy="1078992"/>
          </a:xfrm>
          <a:prstGeom prst="roundRect">
            <a:avLst>
              <a:gd name="adj" fmla="val 4237"/>
            </a:avLst>
          </a:prstGeom>
          <a:solidFill>
            <a:srgbClr val="F7FBFE"/>
          </a:solidFill>
          <a:ln w="12700">
            <a:solidFill>
              <a:srgbClr val="2F79B7"/>
            </a:solidFill>
            <a:prstDash val="solid"/>
          </a:ln>
        </p:spPr>
      </p:sp>
      <p:sp>
        <p:nvSpPr>
          <p:cNvPr id="18" name="Shape 16"/>
          <p:cNvSpPr/>
          <p:nvPr/>
        </p:nvSpPr>
        <p:spPr>
          <a:xfrm>
            <a:off x="8229600" y="1298448"/>
            <a:ext cx="73152" cy="1078992"/>
          </a:xfrm>
          <a:prstGeom prst="rect">
            <a:avLst/>
          </a:prstGeom>
          <a:solidFill>
            <a:srgbClr val="2F79B7"/>
          </a:solidFill>
          <a:ln w="12700">
            <a:solidFill>
              <a:srgbClr val="2F79B7"/>
            </a:solidFill>
            <a:prstDash val="solid"/>
          </a:ln>
        </p:spPr>
      </p:sp>
      <p:sp>
        <p:nvSpPr>
          <p:cNvPr id="19" name="Text 17"/>
          <p:cNvSpPr/>
          <p:nvPr/>
        </p:nvSpPr>
        <p:spPr>
          <a:xfrm>
            <a:off x="8394192" y="1426464"/>
            <a:ext cx="3081528" cy="228600"/>
          </a:xfrm>
          <a:prstGeom prst="rect">
            <a:avLst/>
          </a:prstGeom>
          <a:noFill/>
          <a:ln/>
        </p:spPr>
        <p:txBody>
          <a:bodyPr wrap="square" lIns="0" tIns="0" rIns="0" bIns="0" rtlCol="0" anchor="ctr">
            <a:normAutofit/>
          </a:bodyPr>
          <a:lstStyle/>
          <a:p>
            <a:pPr indent="0" marL="0">
              <a:buNone/>
            </a:pPr>
            <a:r>
              <a:rPr lang="en-US" sz="1300" b="1" dirty="0">
                <a:solidFill>
                  <a:srgbClr val="2F79B7"/>
                </a:solidFill>
              </a:rPr>
              <a:t>Privacy and minimization</a:t>
            </a:r>
            <a:endParaRPr lang="en-US" sz="1300" dirty="0"/>
          </a:p>
        </p:txBody>
      </p:sp>
      <p:sp>
        <p:nvSpPr>
          <p:cNvPr id="20" name="Text 18"/>
          <p:cNvSpPr/>
          <p:nvPr/>
        </p:nvSpPr>
        <p:spPr>
          <a:xfrm>
            <a:off x="8394192" y="1755648"/>
            <a:ext cx="3081528" cy="512064"/>
          </a:xfrm>
          <a:prstGeom prst="rect">
            <a:avLst/>
          </a:prstGeom>
          <a:noFill/>
          <a:ln/>
        </p:spPr>
        <p:txBody>
          <a:bodyPr wrap="square" lIns="254" tIns="254" rIns="254" bIns="254" rtlCol="0" anchor="t">
            <a:normAutofit/>
          </a:bodyPr>
          <a:lstStyle/>
          <a:p>
            <a:pPr indent="0" marL="0">
              <a:buNone/>
            </a:pPr>
            <a:r>
              <a:rPr lang="en-US" sz="1070" dirty="0">
                <a:solidFill>
                  <a:srgbClr val="1F2A37"/>
                </a:solidFill>
              </a:rPr>
              <a:t>Agents should share the minimum necessary personal data and retain evidence only under defined policy.</a:t>
            </a:r>
            <a:endParaRPr lang="en-US" sz="1070" dirty="0"/>
          </a:p>
        </p:txBody>
      </p:sp>
      <p:sp>
        <p:nvSpPr>
          <p:cNvPr id="21" name="Shape 19"/>
          <p:cNvSpPr/>
          <p:nvPr/>
        </p:nvSpPr>
        <p:spPr>
          <a:xfrm>
            <a:off x="640080" y="2743200"/>
            <a:ext cx="3337560" cy="1078992"/>
          </a:xfrm>
          <a:prstGeom prst="roundRect">
            <a:avLst>
              <a:gd name="adj" fmla="val 4237"/>
            </a:avLst>
          </a:prstGeom>
          <a:solidFill>
            <a:srgbClr val="F7FBFE"/>
          </a:solidFill>
          <a:ln w="12700">
            <a:solidFill>
              <a:srgbClr val="446CA8"/>
            </a:solidFill>
            <a:prstDash val="solid"/>
          </a:ln>
        </p:spPr>
      </p:sp>
      <p:sp>
        <p:nvSpPr>
          <p:cNvPr id="22" name="Shape 20"/>
          <p:cNvSpPr/>
          <p:nvPr/>
        </p:nvSpPr>
        <p:spPr>
          <a:xfrm>
            <a:off x="640080" y="2743200"/>
            <a:ext cx="73152" cy="1078992"/>
          </a:xfrm>
          <a:prstGeom prst="rect">
            <a:avLst/>
          </a:prstGeom>
          <a:solidFill>
            <a:srgbClr val="446CA8"/>
          </a:solidFill>
          <a:ln w="12700">
            <a:solidFill>
              <a:srgbClr val="446CA8"/>
            </a:solidFill>
            <a:prstDash val="solid"/>
          </a:ln>
        </p:spPr>
      </p:sp>
      <p:sp>
        <p:nvSpPr>
          <p:cNvPr id="23" name="Text 21"/>
          <p:cNvSpPr/>
          <p:nvPr/>
        </p:nvSpPr>
        <p:spPr>
          <a:xfrm>
            <a:off x="804672" y="2871216"/>
            <a:ext cx="308152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Terms and platform access</a:t>
            </a:r>
            <a:endParaRPr lang="en-US" sz="1300" dirty="0"/>
          </a:p>
        </p:txBody>
      </p:sp>
      <p:sp>
        <p:nvSpPr>
          <p:cNvPr id="24" name="Text 22"/>
          <p:cNvSpPr/>
          <p:nvPr/>
        </p:nvSpPr>
        <p:spPr>
          <a:xfrm>
            <a:off x="804672" y="3200400"/>
            <a:ext cx="3081528" cy="512064"/>
          </a:xfrm>
          <a:prstGeom prst="rect">
            <a:avLst/>
          </a:prstGeom>
          <a:noFill/>
          <a:ln/>
        </p:spPr>
        <p:txBody>
          <a:bodyPr wrap="square" lIns="254" tIns="254" rIns="254" bIns="254" rtlCol="0" anchor="t">
            <a:normAutofit/>
          </a:bodyPr>
          <a:lstStyle/>
          <a:p>
            <a:pPr indent="0" marL="0">
              <a:buNone/>
            </a:pPr>
            <a:r>
              <a:rPr lang="en-US" sz="1070" dirty="0">
                <a:solidFill>
                  <a:srgbClr val="1F2A37"/>
                </a:solidFill>
              </a:rPr>
              <a:t>Agentic browsing/scraping can conflict with site terms and platform participation choices.</a:t>
            </a:r>
            <a:endParaRPr lang="en-US" sz="1070" dirty="0"/>
          </a:p>
        </p:txBody>
      </p:sp>
      <p:sp>
        <p:nvSpPr>
          <p:cNvPr id="25" name="Shape 23"/>
          <p:cNvSpPr/>
          <p:nvPr/>
        </p:nvSpPr>
        <p:spPr>
          <a:xfrm>
            <a:off x="4434840" y="2743200"/>
            <a:ext cx="3337560" cy="1078992"/>
          </a:xfrm>
          <a:prstGeom prst="roundRect">
            <a:avLst>
              <a:gd name="adj" fmla="val 4237"/>
            </a:avLst>
          </a:prstGeom>
          <a:solidFill>
            <a:srgbClr val="F7FBFE"/>
          </a:solidFill>
          <a:ln w="12700">
            <a:solidFill>
              <a:srgbClr val="25A9C7"/>
            </a:solidFill>
            <a:prstDash val="solid"/>
          </a:ln>
        </p:spPr>
      </p:sp>
      <p:sp>
        <p:nvSpPr>
          <p:cNvPr id="26" name="Shape 24"/>
          <p:cNvSpPr/>
          <p:nvPr/>
        </p:nvSpPr>
        <p:spPr>
          <a:xfrm>
            <a:off x="4434840" y="2743200"/>
            <a:ext cx="73152" cy="1078992"/>
          </a:xfrm>
          <a:prstGeom prst="rect">
            <a:avLst/>
          </a:prstGeom>
          <a:solidFill>
            <a:srgbClr val="25A9C7"/>
          </a:solidFill>
          <a:ln w="12700">
            <a:solidFill>
              <a:srgbClr val="25A9C7"/>
            </a:solidFill>
            <a:prstDash val="solid"/>
          </a:ln>
        </p:spPr>
      </p:sp>
      <p:sp>
        <p:nvSpPr>
          <p:cNvPr id="27" name="Text 25"/>
          <p:cNvSpPr/>
          <p:nvPr/>
        </p:nvSpPr>
        <p:spPr>
          <a:xfrm>
            <a:off x="4599432" y="2871216"/>
            <a:ext cx="308152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Explainability and redress</a:t>
            </a:r>
            <a:endParaRPr lang="en-US" sz="1300" dirty="0"/>
          </a:p>
        </p:txBody>
      </p:sp>
      <p:sp>
        <p:nvSpPr>
          <p:cNvPr id="28" name="Text 26"/>
          <p:cNvSpPr/>
          <p:nvPr/>
        </p:nvSpPr>
        <p:spPr>
          <a:xfrm>
            <a:off x="4599432" y="3200400"/>
            <a:ext cx="3081528" cy="512064"/>
          </a:xfrm>
          <a:prstGeom prst="rect">
            <a:avLst/>
          </a:prstGeom>
          <a:noFill/>
          <a:ln/>
        </p:spPr>
        <p:txBody>
          <a:bodyPr wrap="square" lIns="254" tIns="254" rIns="254" bIns="254" rtlCol="0" anchor="t">
            <a:normAutofit/>
          </a:bodyPr>
          <a:lstStyle/>
          <a:p>
            <a:pPr indent="0" marL="0">
              <a:buNone/>
            </a:pPr>
            <a:r>
              <a:rPr lang="en-US" sz="1070" dirty="0">
                <a:solidFill>
                  <a:srgbClr val="1F2A37"/>
                </a:solidFill>
              </a:rPr>
              <a:t>Users need a way to inspect, dispute, and reverse agent-initiated decisions.</a:t>
            </a:r>
            <a:endParaRPr lang="en-US" sz="1070" dirty="0"/>
          </a:p>
        </p:txBody>
      </p:sp>
      <p:sp>
        <p:nvSpPr>
          <p:cNvPr id="29" name="Shape 27"/>
          <p:cNvSpPr/>
          <p:nvPr/>
        </p:nvSpPr>
        <p:spPr>
          <a:xfrm>
            <a:off x="8229600" y="2743200"/>
            <a:ext cx="3337560" cy="1078992"/>
          </a:xfrm>
          <a:prstGeom prst="roundRect">
            <a:avLst>
              <a:gd name="adj" fmla="val 4237"/>
            </a:avLst>
          </a:prstGeom>
          <a:solidFill>
            <a:srgbClr val="F7FBFE"/>
          </a:solidFill>
          <a:ln w="12700">
            <a:solidFill>
              <a:srgbClr val="123452"/>
            </a:solidFill>
            <a:prstDash val="solid"/>
          </a:ln>
        </p:spPr>
      </p:sp>
      <p:sp>
        <p:nvSpPr>
          <p:cNvPr id="30" name="Shape 28"/>
          <p:cNvSpPr/>
          <p:nvPr/>
        </p:nvSpPr>
        <p:spPr>
          <a:xfrm>
            <a:off x="8229600" y="2743200"/>
            <a:ext cx="73152" cy="1078992"/>
          </a:xfrm>
          <a:prstGeom prst="rect">
            <a:avLst/>
          </a:prstGeom>
          <a:solidFill>
            <a:srgbClr val="123452"/>
          </a:solidFill>
          <a:ln w="12700">
            <a:solidFill>
              <a:srgbClr val="123452"/>
            </a:solidFill>
            <a:prstDash val="solid"/>
          </a:ln>
        </p:spPr>
      </p:sp>
      <p:sp>
        <p:nvSpPr>
          <p:cNvPr id="31" name="Text 29"/>
          <p:cNvSpPr/>
          <p:nvPr/>
        </p:nvSpPr>
        <p:spPr>
          <a:xfrm>
            <a:off x="8394192" y="2871216"/>
            <a:ext cx="308152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Security and prompt injection</a:t>
            </a:r>
            <a:endParaRPr lang="en-US" sz="1300" dirty="0"/>
          </a:p>
        </p:txBody>
      </p:sp>
      <p:sp>
        <p:nvSpPr>
          <p:cNvPr id="32" name="Text 30"/>
          <p:cNvSpPr/>
          <p:nvPr/>
        </p:nvSpPr>
        <p:spPr>
          <a:xfrm>
            <a:off x="8394192" y="3200400"/>
            <a:ext cx="3081528" cy="512064"/>
          </a:xfrm>
          <a:prstGeom prst="rect">
            <a:avLst/>
          </a:prstGeom>
          <a:noFill/>
          <a:ln/>
        </p:spPr>
        <p:txBody>
          <a:bodyPr wrap="square" lIns="254" tIns="254" rIns="254" bIns="254" rtlCol="0" anchor="t">
            <a:normAutofit/>
          </a:bodyPr>
          <a:lstStyle/>
          <a:p>
            <a:pPr indent="0" marL="0">
              <a:buNone/>
            </a:pPr>
            <a:r>
              <a:rPr lang="en-US" sz="1070" dirty="0">
                <a:solidFill>
                  <a:srgbClr val="1F2A37"/>
                </a:solidFill>
              </a:rPr>
              <a:t>Remote agent cards, messages, artifacts, and tool outputs must be treated as untrusted input.</a:t>
            </a:r>
            <a:endParaRPr lang="en-US" sz="1070" dirty="0"/>
          </a:p>
        </p:txBody>
      </p:sp>
      <p:sp>
        <p:nvSpPr>
          <p:cNvPr id="33" name="Text 31"/>
          <p:cNvSpPr/>
          <p:nvPr/>
        </p:nvSpPr>
        <p:spPr>
          <a:xfrm>
            <a:off x="685800" y="4572000"/>
            <a:ext cx="2377440" cy="274320"/>
          </a:xfrm>
          <a:prstGeom prst="rect">
            <a:avLst/>
          </a:prstGeom>
          <a:noFill/>
          <a:ln/>
        </p:spPr>
        <p:txBody>
          <a:bodyPr wrap="square" lIns="0" tIns="0" rIns="0" bIns="0" rtlCol="0" anchor="ctr"/>
          <a:lstStyle/>
          <a:p>
            <a:pPr indent="0" marL="0">
              <a:buNone/>
            </a:pPr>
            <a:r>
              <a:rPr lang="en-US" sz="1600" b="1" dirty="0">
                <a:solidFill>
                  <a:srgbClr val="123452"/>
                </a:solidFill>
              </a:rPr>
              <a:t>Architecture implication</a:t>
            </a:r>
            <a:endParaRPr lang="en-US" sz="1600" dirty="0"/>
          </a:p>
        </p:txBody>
      </p:sp>
      <p:sp>
        <p:nvSpPr>
          <p:cNvPr id="34" name="Text 32"/>
          <p:cNvSpPr/>
          <p:nvPr/>
        </p:nvSpPr>
        <p:spPr>
          <a:xfrm>
            <a:off x="3246120" y="4553712"/>
            <a:ext cx="8001000" cy="502920"/>
          </a:xfrm>
          <a:prstGeom prst="rect">
            <a:avLst/>
          </a:prstGeom>
          <a:noFill/>
          <a:ln/>
        </p:spPr>
        <p:txBody>
          <a:bodyPr wrap="square" lIns="381" tIns="381" rIns="381" bIns="381" rtlCol="0" anchor="ctr">
            <a:normAutofit/>
          </a:bodyPr>
          <a:lstStyle/>
          <a:p>
            <a:pPr indent="0" marL="0">
              <a:buNone/>
            </a:pPr>
            <a:r>
              <a:rPr lang="en-US" sz="1250" dirty="0">
                <a:solidFill>
                  <a:srgbClr val="1F2A37"/>
                </a:solidFill>
              </a:rPr>
              <a:t>High-risk retail/legal workflows need stronger identity, policy scoping, human approval, audit trails, data retention rules, and replayable traces. That may push you away from “browser automation” toward explicit APIs, MCP allowlists, A2A identity, and AP2-style mandates.</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2F79B7"/>
          </a:solidFill>
          <a:ln w="12700">
            <a:solidFill>
              <a:srgbClr val="2F79B7"/>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2F79B7"/>
                </a:solidFill>
                <a:latin typeface="Aptos" pitchFamily="34" charset="0"/>
                <a:ea typeface="Aptos" pitchFamily="34" charset="-122"/>
                <a:cs typeface="Aptos" pitchFamily="34" charset="-120"/>
              </a:rPr>
              <a:t>RETAIL</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Retail + legal demo storyline: “Can my agent return this item and get the right outcome?”</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40</a:t>
            </a:r>
            <a:endParaRPr lang="en-US" sz="800" dirty="0"/>
          </a:p>
        </p:txBody>
      </p:sp>
      <p:sp>
        <p:nvSpPr>
          <p:cNvPr id="9" name="Shape 7"/>
          <p:cNvSpPr/>
          <p:nvPr/>
        </p:nvSpPr>
        <p:spPr>
          <a:xfrm>
            <a:off x="594360" y="1298448"/>
            <a:ext cx="10972800" cy="475488"/>
          </a:xfrm>
          <a:prstGeom prst="rect">
            <a:avLst/>
          </a:prstGeom>
          <a:solidFill>
            <a:srgbClr val="2F79B7"/>
          </a:solidFill>
          <a:ln w="12700">
            <a:solidFill>
              <a:srgbClr val="2F79B7"/>
            </a:solidFill>
            <a:prstDash val="solid"/>
          </a:ln>
        </p:spPr>
      </p:sp>
      <p:sp>
        <p:nvSpPr>
          <p:cNvPr id="10" name="Text 8"/>
          <p:cNvSpPr/>
          <p:nvPr/>
        </p:nvSpPr>
        <p:spPr>
          <a:xfrm>
            <a:off x="640080" y="1399032"/>
            <a:ext cx="1600200" cy="365760"/>
          </a:xfrm>
          <a:prstGeom prst="rect">
            <a:avLst/>
          </a:prstGeom>
          <a:noFill/>
          <a:ln/>
        </p:spPr>
        <p:txBody>
          <a:bodyPr wrap="square" lIns="0" tIns="0" rIns="0" bIns="0" rtlCol="0" anchor="ctr">
            <a:normAutofit/>
          </a:bodyPr>
          <a:lstStyle/>
          <a:p>
            <a:pPr algn="l" indent="0" marL="0">
              <a:buNone/>
            </a:pPr>
            <a:r>
              <a:rPr lang="en-US" sz="790" b="1" dirty="0">
                <a:solidFill>
                  <a:srgbClr val="FFFFFF"/>
                </a:solidFill>
              </a:rPr>
              <a:t>Path</a:t>
            </a:r>
            <a:endParaRPr lang="en-US" sz="790" dirty="0"/>
          </a:p>
        </p:txBody>
      </p:sp>
      <p:sp>
        <p:nvSpPr>
          <p:cNvPr id="11" name="Text 9"/>
          <p:cNvSpPr/>
          <p:nvPr/>
        </p:nvSpPr>
        <p:spPr>
          <a:xfrm>
            <a:off x="2331720" y="1399032"/>
            <a:ext cx="2423160" cy="365760"/>
          </a:xfrm>
          <a:prstGeom prst="rect">
            <a:avLst/>
          </a:prstGeom>
          <a:noFill/>
          <a:ln/>
        </p:spPr>
        <p:txBody>
          <a:bodyPr wrap="square" lIns="0" tIns="0" rIns="0" bIns="0" rtlCol="0" anchor="ctr">
            <a:normAutofit/>
          </a:bodyPr>
          <a:lstStyle/>
          <a:p>
            <a:pPr algn="ctr" indent="0" marL="0">
              <a:buNone/>
            </a:pPr>
            <a:r>
              <a:rPr lang="en-US" sz="790" b="1" dirty="0">
                <a:solidFill>
                  <a:srgbClr val="FFFFFF"/>
                </a:solidFill>
              </a:rPr>
              <a:t>What happens</a:t>
            </a:r>
            <a:endParaRPr lang="en-US" sz="790" dirty="0"/>
          </a:p>
        </p:txBody>
      </p:sp>
      <p:sp>
        <p:nvSpPr>
          <p:cNvPr id="12" name="Shape 10"/>
          <p:cNvSpPr/>
          <p:nvPr/>
        </p:nvSpPr>
        <p:spPr>
          <a:xfrm>
            <a:off x="2286000" y="1298448"/>
            <a:ext cx="0" cy="2377440"/>
          </a:xfrm>
          <a:prstGeom prst="line">
            <a:avLst/>
          </a:prstGeom>
          <a:noFill/>
          <a:ln w="6350">
            <a:solidFill>
              <a:srgbClr val="FFFFFF">
                <a:alpha val="60000"/>
              </a:srgbClr>
            </a:solidFill>
            <a:prstDash val="solid"/>
          </a:ln>
        </p:spPr>
      </p:sp>
      <p:sp>
        <p:nvSpPr>
          <p:cNvPr id="13" name="Text 11"/>
          <p:cNvSpPr/>
          <p:nvPr/>
        </p:nvSpPr>
        <p:spPr>
          <a:xfrm>
            <a:off x="4846320" y="1399032"/>
            <a:ext cx="2423160" cy="365760"/>
          </a:xfrm>
          <a:prstGeom prst="rect">
            <a:avLst/>
          </a:prstGeom>
          <a:noFill/>
          <a:ln/>
        </p:spPr>
        <p:txBody>
          <a:bodyPr wrap="square" lIns="0" tIns="0" rIns="0" bIns="0" rtlCol="0" anchor="ctr">
            <a:normAutofit/>
          </a:bodyPr>
          <a:lstStyle/>
          <a:p>
            <a:pPr algn="ctr" indent="0" marL="0">
              <a:buNone/>
            </a:pPr>
            <a:r>
              <a:rPr lang="en-US" sz="790" b="1" dirty="0">
                <a:solidFill>
                  <a:srgbClr val="FFFFFF"/>
                </a:solidFill>
              </a:rPr>
              <a:t>Best lesson</a:t>
            </a:r>
            <a:endParaRPr lang="en-US" sz="790" dirty="0"/>
          </a:p>
        </p:txBody>
      </p:sp>
      <p:sp>
        <p:nvSpPr>
          <p:cNvPr id="14" name="Shape 12"/>
          <p:cNvSpPr/>
          <p:nvPr/>
        </p:nvSpPr>
        <p:spPr>
          <a:xfrm>
            <a:off x="4800600" y="1298448"/>
            <a:ext cx="0" cy="2377440"/>
          </a:xfrm>
          <a:prstGeom prst="line">
            <a:avLst/>
          </a:prstGeom>
          <a:noFill/>
          <a:ln w="6350">
            <a:solidFill>
              <a:srgbClr val="FFFFFF">
                <a:alpha val="60000"/>
              </a:srgbClr>
            </a:solidFill>
            <a:prstDash val="solid"/>
          </a:ln>
        </p:spPr>
      </p:sp>
      <p:sp>
        <p:nvSpPr>
          <p:cNvPr id="15" name="Text 13"/>
          <p:cNvSpPr/>
          <p:nvPr/>
        </p:nvSpPr>
        <p:spPr>
          <a:xfrm>
            <a:off x="7360920" y="1399032"/>
            <a:ext cx="2423160" cy="365760"/>
          </a:xfrm>
          <a:prstGeom prst="rect">
            <a:avLst/>
          </a:prstGeom>
          <a:noFill/>
          <a:ln/>
        </p:spPr>
        <p:txBody>
          <a:bodyPr wrap="square" lIns="0" tIns="0" rIns="0" bIns="0" rtlCol="0" anchor="ctr">
            <a:normAutofit/>
          </a:bodyPr>
          <a:lstStyle/>
          <a:p>
            <a:pPr algn="ctr" indent="0" marL="0">
              <a:buNone/>
            </a:pPr>
            <a:r>
              <a:rPr lang="en-US" sz="790" b="1" dirty="0">
                <a:solidFill>
                  <a:srgbClr val="FFFFFF"/>
                </a:solidFill>
              </a:rPr>
              <a:t>Risk control</a:t>
            </a:r>
            <a:endParaRPr lang="en-US" sz="790" dirty="0"/>
          </a:p>
        </p:txBody>
      </p:sp>
      <p:sp>
        <p:nvSpPr>
          <p:cNvPr id="16" name="Shape 14"/>
          <p:cNvSpPr/>
          <p:nvPr/>
        </p:nvSpPr>
        <p:spPr>
          <a:xfrm>
            <a:off x="7315200" y="1298448"/>
            <a:ext cx="0" cy="2377440"/>
          </a:xfrm>
          <a:prstGeom prst="line">
            <a:avLst/>
          </a:prstGeom>
          <a:noFill/>
          <a:ln w="6350">
            <a:solidFill>
              <a:srgbClr val="FFFFFF">
                <a:alpha val="60000"/>
              </a:srgbClr>
            </a:solidFill>
            <a:prstDash val="solid"/>
          </a:ln>
        </p:spPr>
      </p:sp>
      <p:sp>
        <p:nvSpPr>
          <p:cNvPr id="17" name="Text 15"/>
          <p:cNvSpPr/>
          <p:nvPr/>
        </p:nvSpPr>
        <p:spPr>
          <a:xfrm>
            <a:off x="9875520" y="1399032"/>
            <a:ext cx="1645920" cy="365760"/>
          </a:xfrm>
          <a:prstGeom prst="rect">
            <a:avLst/>
          </a:prstGeom>
          <a:noFill/>
          <a:ln/>
        </p:spPr>
        <p:txBody>
          <a:bodyPr wrap="square" lIns="0" tIns="0" rIns="0" bIns="0" rtlCol="0" anchor="ctr">
            <a:normAutofit/>
          </a:bodyPr>
          <a:lstStyle/>
          <a:p>
            <a:pPr algn="ctr" indent="0" marL="0">
              <a:buNone/>
            </a:pPr>
            <a:r>
              <a:rPr lang="en-US" sz="790" b="1" dirty="0">
                <a:solidFill>
                  <a:srgbClr val="FFFFFF"/>
                </a:solidFill>
              </a:rPr>
              <a:t>Verdict</a:t>
            </a:r>
            <a:endParaRPr lang="en-US" sz="790" dirty="0"/>
          </a:p>
        </p:txBody>
      </p:sp>
      <p:sp>
        <p:nvSpPr>
          <p:cNvPr id="18" name="Shape 16"/>
          <p:cNvSpPr/>
          <p:nvPr/>
        </p:nvSpPr>
        <p:spPr>
          <a:xfrm>
            <a:off x="9829800" y="1298448"/>
            <a:ext cx="0" cy="2377440"/>
          </a:xfrm>
          <a:prstGeom prst="line">
            <a:avLst/>
          </a:prstGeom>
          <a:noFill/>
          <a:ln w="6350">
            <a:solidFill>
              <a:srgbClr val="FFFFFF">
                <a:alpha val="60000"/>
              </a:srgbClr>
            </a:solidFill>
            <a:prstDash val="solid"/>
          </a:ln>
        </p:spPr>
      </p:sp>
      <p:sp>
        <p:nvSpPr>
          <p:cNvPr id="19" name="Shape 17"/>
          <p:cNvSpPr/>
          <p:nvPr/>
        </p:nvSpPr>
        <p:spPr>
          <a:xfrm>
            <a:off x="594360" y="1773936"/>
            <a:ext cx="10972800" cy="475488"/>
          </a:xfrm>
          <a:prstGeom prst="rect">
            <a:avLst/>
          </a:prstGeom>
          <a:solidFill>
            <a:srgbClr val="FFFFFF"/>
          </a:solidFill>
          <a:ln w="6350">
            <a:solidFill>
              <a:srgbClr val="D7E6F2"/>
            </a:solidFill>
            <a:prstDash val="solid"/>
          </a:ln>
        </p:spPr>
      </p:sp>
      <p:sp>
        <p:nvSpPr>
          <p:cNvPr id="20" name="Text 18"/>
          <p:cNvSpPr/>
          <p:nvPr/>
        </p:nvSpPr>
        <p:spPr>
          <a:xfrm>
            <a:off x="649224" y="1847088"/>
            <a:ext cx="1581912" cy="365760"/>
          </a:xfrm>
          <a:prstGeom prst="rect">
            <a:avLst/>
          </a:prstGeom>
          <a:noFill/>
          <a:ln/>
        </p:spPr>
        <p:txBody>
          <a:bodyPr wrap="square" lIns="0" tIns="0" rIns="0" bIns="0" rtlCol="0" anchor="ctr">
            <a:normAutofit/>
          </a:bodyPr>
          <a:lstStyle/>
          <a:p>
            <a:pPr algn="l" indent="0" marL="0">
              <a:buNone/>
            </a:pPr>
            <a:r>
              <a:rPr lang="en-US" sz="710" b="1" dirty="0">
                <a:solidFill>
                  <a:srgbClr val="123452"/>
                </a:solidFill>
              </a:rPr>
              <a:t>API only</a:t>
            </a:r>
            <a:endParaRPr lang="en-US" sz="710" dirty="0"/>
          </a:p>
        </p:txBody>
      </p:sp>
      <p:sp>
        <p:nvSpPr>
          <p:cNvPr id="21" name="Text 19"/>
          <p:cNvSpPr/>
          <p:nvPr/>
        </p:nvSpPr>
        <p:spPr>
          <a:xfrm>
            <a:off x="2340864" y="1847088"/>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App calls order, inventory, return-policy and refund services directly</a:t>
            </a:r>
            <a:endParaRPr lang="en-US" sz="710" dirty="0"/>
          </a:p>
        </p:txBody>
      </p:sp>
      <p:sp>
        <p:nvSpPr>
          <p:cNvPr id="22" name="Text 20"/>
          <p:cNvSpPr/>
          <p:nvPr/>
        </p:nvSpPr>
        <p:spPr>
          <a:xfrm>
            <a:off x="4855464" y="1847088"/>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Fast, testable, easy to govern</a:t>
            </a:r>
            <a:endParaRPr lang="en-US" sz="710" dirty="0"/>
          </a:p>
        </p:txBody>
      </p:sp>
      <p:sp>
        <p:nvSpPr>
          <p:cNvPr id="23" name="Text 21"/>
          <p:cNvSpPr/>
          <p:nvPr/>
        </p:nvSpPr>
        <p:spPr>
          <a:xfrm>
            <a:off x="7370064" y="1847088"/>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Strong service contracts and audit logs</a:t>
            </a:r>
            <a:endParaRPr lang="en-US" sz="710" dirty="0"/>
          </a:p>
        </p:txBody>
      </p:sp>
      <p:sp>
        <p:nvSpPr>
          <p:cNvPr id="24" name="Text 22"/>
          <p:cNvSpPr/>
          <p:nvPr/>
        </p:nvSpPr>
        <p:spPr>
          <a:xfrm>
            <a:off x="9884664" y="1847088"/>
            <a:ext cx="162763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Best baseline</a:t>
            </a:r>
            <a:endParaRPr lang="en-US" sz="710" dirty="0"/>
          </a:p>
        </p:txBody>
      </p:sp>
      <p:sp>
        <p:nvSpPr>
          <p:cNvPr id="25" name="Shape 23"/>
          <p:cNvSpPr/>
          <p:nvPr/>
        </p:nvSpPr>
        <p:spPr>
          <a:xfrm>
            <a:off x="594360" y="2249424"/>
            <a:ext cx="10972800" cy="475488"/>
          </a:xfrm>
          <a:prstGeom prst="rect">
            <a:avLst/>
          </a:prstGeom>
          <a:solidFill>
            <a:srgbClr val="F8FAFC"/>
          </a:solidFill>
          <a:ln w="6350">
            <a:solidFill>
              <a:srgbClr val="D7E6F2"/>
            </a:solidFill>
            <a:prstDash val="solid"/>
          </a:ln>
        </p:spPr>
      </p:sp>
      <p:sp>
        <p:nvSpPr>
          <p:cNvPr id="26" name="Text 24"/>
          <p:cNvSpPr/>
          <p:nvPr/>
        </p:nvSpPr>
        <p:spPr>
          <a:xfrm>
            <a:off x="649224" y="2322576"/>
            <a:ext cx="1581912" cy="365760"/>
          </a:xfrm>
          <a:prstGeom prst="rect">
            <a:avLst/>
          </a:prstGeom>
          <a:noFill/>
          <a:ln/>
        </p:spPr>
        <p:txBody>
          <a:bodyPr wrap="square" lIns="0" tIns="0" rIns="0" bIns="0" rtlCol="0" anchor="ctr">
            <a:normAutofit/>
          </a:bodyPr>
          <a:lstStyle/>
          <a:p>
            <a:pPr algn="l" indent="0" marL="0">
              <a:buNone/>
            </a:pPr>
            <a:r>
              <a:rPr lang="en-US" sz="710" b="1" dirty="0">
                <a:solidFill>
                  <a:srgbClr val="123452"/>
                </a:solidFill>
              </a:rPr>
              <a:t>MCP</a:t>
            </a:r>
            <a:endParaRPr lang="en-US" sz="710" dirty="0"/>
          </a:p>
        </p:txBody>
      </p:sp>
      <p:sp>
        <p:nvSpPr>
          <p:cNvPr id="27" name="Text 25"/>
          <p:cNvSpPr/>
          <p:nvPr/>
        </p:nvSpPr>
        <p:spPr>
          <a:xfrm>
            <a:off x="2340864" y="2322576"/>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Assistant discovers approved tools/resources and explains policy fit</a:t>
            </a:r>
            <a:endParaRPr lang="en-US" sz="710" dirty="0"/>
          </a:p>
        </p:txBody>
      </p:sp>
      <p:sp>
        <p:nvSpPr>
          <p:cNvPr id="28" name="Text 26"/>
          <p:cNvSpPr/>
          <p:nvPr/>
        </p:nvSpPr>
        <p:spPr>
          <a:xfrm>
            <a:off x="4855464" y="2322576"/>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Flexible context access without bespoke client code</a:t>
            </a:r>
            <a:endParaRPr lang="en-US" sz="710" dirty="0"/>
          </a:p>
        </p:txBody>
      </p:sp>
      <p:sp>
        <p:nvSpPr>
          <p:cNvPr id="29" name="Text 27"/>
          <p:cNvSpPr/>
          <p:nvPr/>
        </p:nvSpPr>
        <p:spPr>
          <a:xfrm>
            <a:off x="7370064" y="2322576"/>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Tool allowlist, approvals, read/write separation</a:t>
            </a:r>
            <a:endParaRPr lang="en-US" sz="710" dirty="0"/>
          </a:p>
        </p:txBody>
      </p:sp>
      <p:sp>
        <p:nvSpPr>
          <p:cNvPr id="30" name="Text 28"/>
          <p:cNvSpPr/>
          <p:nvPr/>
        </p:nvSpPr>
        <p:spPr>
          <a:xfrm>
            <a:off x="9884664" y="2322576"/>
            <a:ext cx="162763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Best AI UX</a:t>
            </a:r>
            <a:endParaRPr lang="en-US" sz="710" dirty="0"/>
          </a:p>
        </p:txBody>
      </p:sp>
      <p:sp>
        <p:nvSpPr>
          <p:cNvPr id="31" name="Shape 29"/>
          <p:cNvSpPr/>
          <p:nvPr/>
        </p:nvSpPr>
        <p:spPr>
          <a:xfrm>
            <a:off x="594360" y="2724912"/>
            <a:ext cx="10972800" cy="475488"/>
          </a:xfrm>
          <a:prstGeom prst="rect">
            <a:avLst/>
          </a:prstGeom>
          <a:solidFill>
            <a:srgbClr val="FFFFFF"/>
          </a:solidFill>
          <a:ln w="6350">
            <a:solidFill>
              <a:srgbClr val="D7E6F2"/>
            </a:solidFill>
            <a:prstDash val="solid"/>
          </a:ln>
        </p:spPr>
      </p:sp>
      <p:sp>
        <p:nvSpPr>
          <p:cNvPr id="32" name="Text 30"/>
          <p:cNvSpPr/>
          <p:nvPr/>
        </p:nvSpPr>
        <p:spPr>
          <a:xfrm>
            <a:off x="649224" y="2798064"/>
            <a:ext cx="1581912" cy="365760"/>
          </a:xfrm>
          <a:prstGeom prst="rect">
            <a:avLst/>
          </a:prstGeom>
          <a:noFill/>
          <a:ln/>
        </p:spPr>
        <p:txBody>
          <a:bodyPr wrap="square" lIns="0" tIns="0" rIns="0" bIns="0" rtlCol="0" anchor="ctr">
            <a:normAutofit/>
          </a:bodyPr>
          <a:lstStyle/>
          <a:p>
            <a:pPr algn="l" indent="0" marL="0">
              <a:buNone/>
            </a:pPr>
            <a:r>
              <a:rPr lang="en-US" sz="710" b="1" dirty="0">
                <a:solidFill>
                  <a:srgbClr val="123452"/>
                </a:solidFill>
              </a:rPr>
              <a:t>A2A</a:t>
            </a:r>
            <a:endParaRPr lang="en-US" sz="710" dirty="0"/>
          </a:p>
        </p:txBody>
      </p:sp>
      <p:sp>
        <p:nvSpPr>
          <p:cNvPr id="33" name="Text 31"/>
          <p:cNvSpPr/>
          <p:nvPr/>
        </p:nvSpPr>
        <p:spPr>
          <a:xfrm>
            <a:off x="2340864" y="2798064"/>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Customer agent asks merchant agent and payment/refund agent to coordinate</a:t>
            </a:r>
            <a:endParaRPr lang="en-US" sz="710" dirty="0"/>
          </a:p>
        </p:txBody>
      </p:sp>
      <p:sp>
        <p:nvSpPr>
          <p:cNvPr id="34" name="Text 32"/>
          <p:cNvSpPr/>
          <p:nvPr/>
        </p:nvSpPr>
        <p:spPr>
          <a:xfrm>
            <a:off x="4855464" y="2798064"/>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Delegation when independent systems own parts of work</a:t>
            </a:r>
            <a:endParaRPr lang="en-US" sz="710" dirty="0"/>
          </a:p>
        </p:txBody>
      </p:sp>
      <p:sp>
        <p:nvSpPr>
          <p:cNvPr id="35" name="Text 33"/>
          <p:cNvSpPr/>
          <p:nvPr/>
        </p:nvSpPr>
        <p:spPr>
          <a:xfrm>
            <a:off x="7370064" y="2798064"/>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Agent identity, task state, artifact provenance</a:t>
            </a:r>
            <a:endParaRPr lang="en-US" sz="710" dirty="0"/>
          </a:p>
        </p:txBody>
      </p:sp>
      <p:sp>
        <p:nvSpPr>
          <p:cNvPr id="36" name="Text 34"/>
          <p:cNvSpPr/>
          <p:nvPr/>
        </p:nvSpPr>
        <p:spPr>
          <a:xfrm>
            <a:off x="9884664" y="2798064"/>
            <a:ext cx="162763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Best ecosystem</a:t>
            </a:r>
            <a:endParaRPr lang="en-US" sz="710" dirty="0"/>
          </a:p>
        </p:txBody>
      </p:sp>
      <p:sp>
        <p:nvSpPr>
          <p:cNvPr id="37" name="Shape 35"/>
          <p:cNvSpPr/>
          <p:nvPr/>
        </p:nvSpPr>
        <p:spPr>
          <a:xfrm>
            <a:off x="594360" y="3200400"/>
            <a:ext cx="10972800" cy="475488"/>
          </a:xfrm>
          <a:prstGeom prst="rect">
            <a:avLst/>
          </a:prstGeom>
          <a:solidFill>
            <a:srgbClr val="F8FAFC"/>
          </a:solidFill>
          <a:ln w="6350">
            <a:solidFill>
              <a:srgbClr val="D7E6F2"/>
            </a:solidFill>
            <a:prstDash val="solid"/>
          </a:ln>
        </p:spPr>
      </p:sp>
      <p:sp>
        <p:nvSpPr>
          <p:cNvPr id="38" name="Text 36"/>
          <p:cNvSpPr/>
          <p:nvPr/>
        </p:nvSpPr>
        <p:spPr>
          <a:xfrm>
            <a:off x="649224" y="3273552"/>
            <a:ext cx="1581912" cy="365760"/>
          </a:xfrm>
          <a:prstGeom prst="rect">
            <a:avLst/>
          </a:prstGeom>
          <a:noFill/>
          <a:ln/>
        </p:spPr>
        <p:txBody>
          <a:bodyPr wrap="square" lIns="0" tIns="0" rIns="0" bIns="0" rtlCol="0" anchor="ctr">
            <a:normAutofit/>
          </a:bodyPr>
          <a:lstStyle/>
          <a:p>
            <a:pPr algn="l" indent="0" marL="0">
              <a:buNone/>
            </a:pPr>
            <a:r>
              <a:rPr lang="en-US" sz="710" b="1" dirty="0">
                <a:solidFill>
                  <a:srgbClr val="123452"/>
                </a:solidFill>
              </a:rPr>
              <a:t>Hybrid</a:t>
            </a:r>
            <a:endParaRPr lang="en-US" sz="710" dirty="0"/>
          </a:p>
        </p:txBody>
      </p:sp>
      <p:sp>
        <p:nvSpPr>
          <p:cNvPr id="39" name="Text 37"/>
          <p:cNvSpPr/>
          <p:nvPr/>
        </p:nvSpPr>
        <p:spPr>
          <a:xfrm>
            <a:off x="2340864" y="3273552"/>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A2A outside, MCP inside each agent, APIs underneath</a:t>
            </a:r>
            <a:endParaRPr lang="en-US" sz="710" dirty="0"/>
          </a:p>
        </p:txBody>
      </p:sp>
      <p:sp>
        <p:nvSpPr>
          <p:cNvPr id="40" name="Text 38"/>
          <p:cNvSpPr/>
          <p:nvPr/>
        </p:nvSpPr>
        <p:spPr>
          <a:xfrm>
            <a:off x="4855464" y="3273552"/>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Realistic enterprise pattern</a:t>
            </a:r>
            <a:endParaRPr lang="en-US" sz="710" dirty="0"/>
          </a:p>
        </p:txBody>
      </p:sp>
      <p:sp>
        <p:nvSpPr>
          <p:cNvPr id="41" name="Text 39"/>
          <p:cNvSpPr/>
          <p:nvPr/>
        </p:nvSpPr>
        <p:spPr>
          <a:xfrm>
            <a:off x="7370064" y="3273552"/>
            <a:ext cx="240487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End-to-end trace + human approval for final action</a:t>
            </a:r>
            <a:endParaRPr lang="en-US" sz="710" dirty="0"/>
          </a:p>
        </p:txBody>
      </p:sp>
      <p:sp>
        <p:nvSpPr>
          <p:cNvPr id="42" name="Text 40"/>
          <p:cNvSpPr/>
          <p:nvPr/>
        </p:nvSpPr>
        <p:spPr>
          <a:xfrm>
            <a:off x="9884664" y="3273552"/>
            <a:ext cx="1627632" cy="365760"/>
          </a:xfrm>
          <a:prstGeom prst="rect">
            <a:avLst/>
          </a:prstGeom>
          <a:noFill/>
          <a:ln/>
        </p:spPr>
        <p:txBody>
          <a:bodyPr wrap="square" lIns="0" tIns="0" rIns="0" bIns="0" rtlCol="0" anchor="ctr">
            <a:normAutofit/>
          </a:bodyPr>
          <a:lstStyle/>
          <a:p>
            <a:pPr algn="ctr" indent="0" marL="0">
              <a:buNone/>
            </a:pPr>
            <a:r>
              <a:rPr lang="en-US" sz="710" dirty="0">
                <a:solidFill>
                  <a:srgbClr val="1F2A37"/>
                </a:solidFill>
              </a:rPr>
              <a:t>Most likely</a:t>
            </a:r>
            <a:endParaRPr lang="en-US" sz="710" dirty="0"/>
          </a:p>
        </p:txBody>
      </p:sp>
      <p:sp>
        <p:nvSpPr>
          <p:cNvPr id="43" name="Shape 41"/>
          <p:cNvSpPr/>
          <p:nvPr/>
        </p:nvSpPr>
        <p:spPr>
          <a:xfrm>
            <a:off x="658368" y="4892040"/>
            <a:ext cx="10744200" cy="713232"/>
          </a:xfrm>
          <a:prstGeom prst="roundRect">
            <a:avLst>
              <a:gd name="adj" fmla="val 6410"/>
            </a:avLst>
          </a:prstGeom>
          <a:solidFill>
            <a:srgbClr val="F7FBFE"/>
          </a:solidFill>
          <a:ln w="12700">
            <a:solidFill>
              <a:srgbClr val="123452"/>
            </a:solidFill>
            <a:prstDash val="solid"/>
          </a:ln>
        </p:spPr>
      </p:sp>
      <p:sp>
        <p:nvSpPr>
          <p:cNvPr id="44" name="Shape 42"/>
          <p:cNvSpPr/>
          <p:nvPr/>
        </p:nvSpPr>
        <p:spPr>
          <a:xfrm>
            <a:off x="658368" y="4892040"/>
            <a:ext cx="73152" cy="713232"/>
          </a:xfrm>
          <a:prstGeom prst="rect">
            <a:avLst/>
          </a:prstGeom>
          <a:solidFill>
            <a:srgbClr val="123452"/>
          </a:solidFill>
          <a:ln w="12700">
            <a:solidFill>
              <a:srgbClr val="123452"/>
            </a:solidFill>
            <a:prstDash val="solid"/>
          </a:ln>
        </p:spPr>
      </p:sp>
      <p:sp>
        <p:nvSpPr>
          <p:cNvPr id="45" name="Text 43"/>
          <p:cNvSpPr/>
          <p:nvPr/>
        </p:nvSpPr>
        <p:spPr>
          <a:xfrm>
            <a:off x="822960" y="5020056"/>
            <a:ext cx="10488168" cy="228600"/>
          </a:xfrm>
          <a:prstGeom prst="rect">
            <a:avLst/>
          </a:prstGeom>
          <a:noFill/>
          <a:ln/>
        </p:spPr>
        <p:txBody>
          <a:bodyPr wrap="square" lIns="0" tIns="0" rIns="0" bIns="0" rtlCol="0" anchor="ctr">
            <a:normAutofit/>
          </a:bodyPr>
          <a:lstStyle/>
          <a:p>
            <a:pPr indent="0" marL="0">
              <a:buNone/>
            </a:pPr>
            <a:r>
              <a:rPr lang="en-US" sz="1250" b="1" dirty="0">
                <a:solidFill>
                  <a:srgbClr val="123452"/>
                </a:solidFill>
              </a:rPr>
              <a:t>Suggested demo script</a:t>
            </a:r>
            <a:endParaRPr lang="en-US" sz="1250" dirty="0"/>
          </a:p>
        </p:txBody>
      </p:sp>
      <p:sp>
        <p:nvSpPr>
          <p:cNvPr id="46" name="Text 44"/>
          <p:cNvSpPr/>
          <p:nvPr/>
        </p:nvSpPr>
        <p:spPr>
          <a:xfrm>
            <a:off x="822960" y="5349240"/>
            <a:ext cx="10488168" cy="146304"/>
          </a:xfrm>
          <a:prstGeom prst="rect">
            <a:avLst/>
          </a:prstGeom>
          <a:noFill/>
          <a:ln/>
        </p:spPr>
        <p:txBody>
          <a:bodyPr wrap="square" lIns="254" tIns="254" rIns="254" bIns="254" rtlCol="0" anchor="t">
            <a:normAutofit/>
          </a:bodyPr>
          <a:lstStyle/>
          <a:p>
            <a:pPr indent="0" marL="0">
              <a:buNone/>
            </a:pPr>
            <a:r>
              <a:rPr lang="en-US" sz="1140" dirty="0">
                <a:solidFill>
                  <a:srgbClr val="1F2A37"/>
                </a:solidFill>
              </a:rPr>
              <a:t>Customer: “I bought shoes yesterday, they arrived damaged, I used a promo code, and I need an exchange or refund.” Compare the same facts across API, MCP, and A2A paths.</a:t>
            </a:r>
            <a:endParaRPr lang="en-US" sz="114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B65F6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B65F62"/>
          </a:solidFill>
          <a:ln w="12700">
            <a:solidFill>
              <a:srgbClr val="B65F62"/>
            </a:solidFill>
            <a:prstDash val="solid"/>
          </a:ln>
        </p:spPr>
      </p:sp>
      <p:sp>
        <p:nvSpPr>
          <p:cNvPr id="3" name="Text 1"/>
          <p:cNvSpPr/>
          <p:nvPr/>
        </p:nvSpPr>
        <p:spPr>
          <a:xfrm>
            <a:off x="640080" y="658368"/>
            <a:ext cx="4754880" cy="228600"/>
          </a:xfrm>
          <a:prstGeom prst="rect">
            <a:avLst/>
          </a:prstGeom>
          <a:noFill/>
          <a:ln/>
        </p:spPr>
        <p:txBody>
          <a:bodyPr wrap="square" lIns="0" tIns="0" rIns="0" bIns="0" rtlCol="0" anchor="ctr"/>
          <a:lstStyle/>
          <a:p>
            <a:pPr indent="0" marL="0">
              <a:buNone/>
            </a:pPr>
            <a:r>
              <a:rPr lang="en-US" sz="1000" b="1" dirty="0">
                <a:solidFill>
                  <a:srgbClr val="FFFFFF"/>
                </a:solidFill>
              </a:rPr>
              <a:t>DEMO</a:t>
            </a:r>
            <a:endParaRPr lang="en-US" sz="1000" dirty="0"/>
          </a:p>
        </p:txBody>
      </p:sp>
      <p:sp>
        <p:nvSpPr>
          <p:cNvPr id="4" name="Text 2"/>
          <p:cNvSpPr/>
          <p:nvPr/>
        </p:nvSpPr>
        <p:spPr>
          <a:xfrm>
            <a:off x="640080" y="1325880"/>
            <a:ext cx="9875520" cy="105156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Demo: one retail/legal workflow, three architectures</a:t>
            </a:r>
            <a:endParaRPr lang="en-US" sz="3200" dirty="0"/>
          </a:p>
        </p:txBody>
      </p:sp>
      <p:sp>
        <p:nvSpPr>
          <p:cNvPr id="5" name="Text 3"/>
          <p:cNvSpPr/>
          <p:nvPr/>
        </p:nvSpPr>
        <p:spPr>
          <a:xfrm>
            <a:off x="658368" y="2788920"/>
            <a:ext cx="8778240" cy="548640"/>
          </a:xfrm>
          <a:prstGeom prst="rect">
            <a:avLst/>
          </a:prstGeom>
          <a:noFill/>
          <a:ln/>
        </p:spPr>
        <p:txBody>
          <a:bodyPr wrap="square" lIns="0" tIns="0" rIns="0" bIns="0" rtlCol="0" anchor="ctr">
            <a:normAutofit/>
          </a:bodyPr>
          <a:lstStyle/>
          <a:p>
            <a:pPr indent="0" marL="0">
              <a:buNone/>
            </a:pPr>
            <a:r>
              <a:rPr lang="en-US" sz="1800" dirty="0">
                <a:solidFill>
                  <a:srgbClr val="F8FAFC"/>
                </a:solidFill>
              </a:rPr>
              <a:t>Use the same local scenario to show why APIs, MCP, A2A, and hybrid designs each exist.</a:t>
            </a:r>
            <a:endParaRPr lang="en-US" sz="1800" dirty="0"/>
          </a:p>
        </p:txBody>
      </p:sp>
      <p:sp>
        <p:nvSpPr>
          <p:cNvPr id="6" name="Shape 4"/>
          <p:cNvSpPr/>
          <p:nvPr/>
        </p:nvSpPr>
        <p:spPr>
          <a:xfrm>
            <a:off x="658368" y="6163056"/>
            <a:ext cx="10881360" cy="0"/>
          </a:xfrm>
          <a:prstGeom prst="line">
            <a:avLst/>
          </a:prstGeom>
          <a:noFill/>
          <a:ln w="10160">
            <a:solidFill>
              <a:srgbClr val="FFFFFF">
                <a:alpha val="60000"/>
              </a:srgbClr>
            </a:solidFill>
            <a:prstDash val="solid"/>
          </a:ln>
        </p:spPr>
      </p:sp>
      <p:sp>
        <p:nvSpPr>
          <p:cNvPr id="7" name="Text 5"/>
          <p:cNvSpPr/>
          <p:nvPr/>
        </p:nvSpPr>
        <p:spPr>
          <a:xfrm>
            <a:off x="10899648" y="6236208"/>
            <a:ext cx="640080" cy="182880"/>
          </a:xfrm>
          <a:prstGeom prst="rect">
            <a:avLst/>
          </a:prstGeom>
          <a:noFill/>
          <a:ln/>
        </p:spPr>
        <p:txBody>
          <a:bodyPr wrap="square" lIns="0" tIns="0" rIns="0" bIns="0" rtlCol="0" anchor="ctr"/>
          <a:lstStyle/>
          <a:p>
            <a:pPr algn="r" indent="0" marL="0">
              <a:buNone/>
            </a:pPr>
            <a:r>
              <a:rPr lang="en-US" sz="850" dirty="0">
                <a:solidFill>
                  <a:srgbClr val="FFFFFF">
                    <a:alpha val="80000"/>
                  </a:srgbClr>
                </a:solidFill>
              </a:rPr>
              <a:t>41</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B65F62"/>
          </a:solidFill>
          <a:ln w="12700">
            <a:solidFill>
              <a:srgbClr val="B65F6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B65F62"/>
                </a:solidFill>
                <a:latin typeface="Aptos" pitchFamily="34" charset="0"/>
                <a:ea typeface="Aptos" pitchFamily="34" charset="-122"/>
                <a:cs typeface="Aptos" pitchFamily="34" charset="-120"/>
              </a:rPr>
              <a:t>DEMO</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The demo compares behavior, not code: same workflow, three integration boundaries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42</a:t>
            </a:r>
            <a:endParaRPr lang="en-US" sz="800" dirty="0"/>
          </a:p>
        </p:txBody>
      </p:sp>
      <p:sp>
        <p:nvSpPr>
          <p:cNvPr id="9" name="Shape 7"/>
          <p:cNvSpPr/>
          <p:nvPr/>
        </p:nvSpPr>
        <p:spPr>
          <a:xfrm>
            <a:off x="594360" y="1325880"/>
            <a:ext cx="10698480" cy="502920"/>
          </a:xfrm>
          <a:prstGeom prst="rect">
            <a:avLst/>
          </a:prstGeom>
          <a:solidFill>
            <a:srgbClr val="B65F62"/>
          </a:solidFill>
          <a:ln w="12700">
            <a:solidFill>
              <a:srgbClr val="B65F62"/>
            </a:solidFill>
            <a:prstDash val="solid"/>
          </a:ln>
        </p:spPr>
      </p:sp>
      <p:sp>
        <p:nvSpPr>
          <p:cNvPr id="10" name="Text 8"/>
          <p:cNvSpPr/>
          <p:nvPr/>
        </p:nvSpPr>
        <p:spPr>
          <a:xfrm>
            <a:off x="640080" y="1426464"/>
            <a:ext cx="1554480" cy="393192"/>
          </a:xfrm>
          <a:prstGeom prst="rect">
            <a:avLst/>
          </a:prstGeom>
          <a:noFill/>
          <a:ln/>
        </p:spPr>
        <p:txBody>
          <a:bodyPr wrap="square" lIns="0" tIns="0" rIns="0" bIns="0" rtlCol="0" anchor="ctr">
            <a:normAutofit/>
          </a:bodyPr>
          <a:lstStyle/>
          <a:p>
            <a:pPr algn="l" indent="0" marL="0">
              <a:buNone/>
            </a:pPr>
            <a:r>
              <a:rPr lang="en-US" sz="820" b="1" dirty="0">
                <a:solidFill>
                  <a:srgbClr val="FFFFFF"/>
                </a:solidFill>
              </a:rPr>
              <a:t>Demo path</a:t>
            </a:r>
            <a:endParaRPr lang="en-US" sz="820" dirty="0"/>
          </a:p>
        </p:txBody>
      </p:sp>
      <p:sp>
        <p:nvSpPr>
          <p:cNvPr id="11" name="Text 9"/>
          <p:cNvSpPr/>
          <p:nvPr/>
        </p:nvSpPr>
        <p:spPr>
          <a:xfrm>
            <a:off x="2286000" y="1426464"/>
            <a:ext cx="2926080" cy="393192"/>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What you run locally</a:t>
            </a:r>
            <a:endParaRPr lang="en-US" sz="820" dirty="0"/>
          </a:p>
        </p:txBody>
      </p:sp>
      <p:sp>
        <p:nvSpPr>
          <p:cNvPr id="12" name="Shape 10"/>
          <p:cNvSpPr/>
          <p:nvPr/>
        </p:nvSpPr>
        <p:spPr>
          <a:xfrm>
            <a:off x="2240280" y="1325880"/>
            <a:ext cx="0" cy="2011680"/>
          </a:xfrm>
          <a:prstGeom prst="line">
            <a:avLst/>
          </a:prstGeom>
          <a:noFill/>
          <a:ln w="6350">
            <a:solidFill>
              <a:srgbClr val="FFFFFF">
                <a:alpha val="60000"/>
              </a:srgbClr>
            </a:solidFill>
            <a:prstDash val="solid"/>
          </a:ln>
        </p:spPr>
      </p:sp>
      <p:sp>
        <p:nvSpPr>
          <p:cNvPr id="13" name="Text 11"/>
          <p:cNvSpPr/>
          <p:nvPr/>
        </p:nvSpPr>
        <p:spPr>
          <a:xfrm>
            <a:off x="5303520" y="1426464"/>
            <a:ext cx="2926080" cy="393192"/>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What audience observes</a:t>
            </a:r>
            <a:endParaRPr lang="en-US" sz="820" dirty="0"/>
          </a:p>
        </p:txBody>
      </p:sp>
      <p:sp>
        <p:nvSpPr>
          <p:cNvPr id="14" name="Shape 12"/>
          <p:cNvSpPr/>
          <p:nvPr/>
        </p:nvSpPr>
        <p:spPr>
          <a:xfrm>
            <a:off x="5257800" y="1325880"/>
            <a:ext cx="0" cy="2011680"/>
          </a:xfrm>
          <a:prstGeom prst="line">
            <a:avLst/>
          </a:prstGeom>
          <a:noFill/>
          <a:ln w="6350">
            <a:solidFill>
              <a:srgbClr val="FFFFFF">
                <a:alpha val="60000"/>
              </a:srgbClr>
            </a:solidFill>
            <a:prstDash val="solid"/>
          </a:ln>
        </p:spPr>
      </p:sp>
      <p:sp>
        <p:nvSpPr>
          <p:cNvPr id="15" name="Text 13"/>
          <p:cNvSpPr/>
          <p:nvPr/>
        </p:nvSpPr>
        <p:spPr>
          <a:xfrm>
            <a:off x="8321040" y="1426464"/>
            <a:ext cx="2926080" cy="393192"/>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Point to teach</a:t>
            </a:r>
            <a:endParaRPr lang="en-US" sz="820" dirty="0"/>
          </a:p>
        </p:txBody>
      </p:sp>
      <p:sp>
        <p:nvSpPr>
          <p:cNvPr id="16" name="Shape 14"/>
          <p:cNvSpPr/>
          <p:nvPr/>
        </p:nvSpPr>
        <p:spPr>
          <a:xfrm>
            <a:off x="8275320" y="1325880"/>
            <a:ext cx="0" cy="2011680"/>
          </a:xfrm>
          <a:prstGeom prst="line">
            <a:avLst/>
          </a:prstGeom>
          <a:noFill/>
          <a:ln w="6350">
            <a:solidFill>
              <a:srgbClr val="FFFFFF">
                <a:alpha val="60000"/>
              </a:srgbClr>
            </a:solidFill>
            <a:prstDash val="solid"/>
          </a:ln>
        </p:spPr>
      </p:sp>
      <p:sp>
        <p:nvSpPr>
          <p:cNvPr id="17" name="Shape 15"/>
          <p:cNvSpPr/>
          <p:nvPr/>
        </p:nvSpPr>
        <p:spPr>
          <a:xfrm>
            <a:off x="594360" y="1828800"/>
            <a:ext cx="10698480" cy="502920"/>
          </a:xfrm>
          <a:prstGeom prst="rect">
            <a:avLst/>
          </a:prstGeom>
          <a:solidFill>
            <a:srgbClr val="FFFFFF"/>
          </a:solidFill>
          <a:ln w="6350">
            <a:solidFill>
              <a:srgbClr val="D7E6F2"/>
            </a:solidFill>
            <a:prstDash val="solid"/>
          </a:ln>
        </p:spPr>
      </p:sp>
      <p:sp>
        <p:nvSpPr>
          <p:cNvPr id="18" name="Text 16"/>
          <p:cNvSpPr/>
          <p:nvPr/>
        </p:nvSpPr>
        <p:spPr>
          <a:xfrm>
            <a:off x="649224" y="1901952"/>
            <a:ext cx="1536192" cy="393192"/>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1. API</a:t>
            </a:r>
            <a:endParaRPr lang="en-US" sz="770" dirty="0"/>
          </a:p>
        </p:txBody>
      </p:sp>
      <p:sp>
        <p:nvSpPr>
          <p:cNvPr id="19" name="Text 17"/>
          <p:cNvSpPr/>
          <p:nvPr/>
        </p:nvSpPr>
        <p:spPr>
          <a:xfrm>
            <a:off x="2295144" y="1901952"/>
            <a:ext cx="2907792" cy="393192"/>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Local app calls mock REST/GraphQL/gRPC-style services</a:t>
            </a:r>
            <a:endParaRPr lang="en-US" sz="770" dirty="0"/>
          </a:p>
        </p:txBody>
      </p:sp>
      <p:sp>
        <p:nvSpPr>
          <p:cNvPr id="20" name="Text 18"/>
          <p:cNvSpPr/>
          <p:nvPr/>
        </p:nvSpPr>
        <p:spPr>
          <a:xfrm>
            <a:off x="5312664" y="1901952"/>
            <a:ext cx="2907792" cy="393192"/>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Deterministic request/response logs</a:t>
            </a:r>
            <a:endParaRPr lang="en-US" sz="770" dirty="0"/>
          </a:p>
        </p:txBody>
      </p:sp>
      <p:sp>
        <p:nvSpPr>
          <p:cNvPr id="21" name="Text 19"/>
          <p:cNvSpPr/>
          <p:nvPr/>
        </p:nvSpPr>
        <p:spPr>
          <a:xfrm>
            <a:off x="8330184" y="1901952"/>
            <a:ext cx="2907792" cy="393192"/>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Use API when caller knows capability</a:t>
            </a:r>
            <a:endParaRPr lang="en-US" sz="770" dirty="0"/>
          </a:p>
        </p:txBody>
      </p:sp>
      <p:sp>
        <p:nvSpPr>
          <p:cNvPr id="22" name="Shape 20"/>
          <p:cNvSpPr/>
          <p:nvPr/>
        </p:nvSpPr>
        <p:spPr>
          <a:xfrm>
            <a:off x="594360" y="2331720"/>
            <a:ext cx="10698480" cy="502920"/>
          </a:xfrm>
          <a:prstGeom prst="rect">
            <a:avLst/>
          </a:prstGeom>
          <a:solidFill>
            <a:srgbClr val="F8FAFC"/>
          </a:solidFill>
          <a:ln w="6350">
            <a:solidFill>
              <a:srgbClr val="D7E6F2"/>
            </a:solidFill>
            <a:prstDash val="solid"/>
          </a:ln>
        </p:spPr>
      </p:sp>
      <p:sp>
        <p:nvSpPr>
          <p:cNvPr id="23" name="Text 21"/>
          <p:cNvSpPr/>
          <p:nvPr/>
        </p:nvSpPr>
        <p:spPr>
          <a:xfrm>
            <a:off x="649224" y="2404872"/>
            <a:ext cx="1536192" cy="393192"/>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2. MCP</a:t>
            </a:r>
            <a:endParaRPr lang="en-US" sz="770" dirty="0"/>
          </a:p>
        </p:txBody>
      </p:sp>
      <p:sp>
        <p:nvSpPr>
          <p:cNvPr id="24" name="Text 22"/>
          <p:cNvSpPr/>
          <p:nvPr/>
        </p:nvSpPr>
        <p:spPr>
          <a:xfrm>
            <a:off x="2295144" y="2404872"/>
            <a:ext cx="2907792" cy="393192"/>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AI host connects to local MCP servers wrapping same data</a:t>
            </a:r>
            <a:endParaRPr lang="en-US" sz="770" dirty="0"/>
          </a:p>
        </p:txBody>
      </p:sp>
      <p:sp>
        <p:nvSpPr>
          <p:cNvPr id="25" name="Text 23"/>
          <p:cNvSpPr/>
          <p:nvPr/>
        </p:nvSpPr>
        <p:spPr>
          <a:xfrm>
            <a:off x="5312664" y="2404872"/>
            <a:ext cx="2907792" cy="393192"/>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Tool discovery + model-guided tool selection</a:t>
            </a:r>
            <a:endParaRPr lang="en-US" sz="770" dirty="0"/>
          </a:p>
        </p:txBody>
      </p:sp>
      <p:sp>
        <p:nvSpPr>
          <p:cNvPr id="26" name="Text 24"/>
          <p:cNvSpPr/>
          <p:nvPr/>
        </p:nvSpPr>
        <p:spPr>
          <a:xfrm>
            <a:off x="8330184" y="2404872"/>
            <a:ext cx="2907792" cy="393192"/>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Use MCP when AI needs tools/context</a:t>
            </a:r>
            <a:endParaRPr lang="en-US" sz="770" dirty="0"/>
          </a:p>
        </p:txBody>
      </p:sp>
      <p:sp>
        <p:nvSpPr>
          <p:cNvPr id="27" name="Shape 25"/>
          <p:cNvSpPr/>
          <p:nvPr/>
        </p:nvSpPr>
        <p:spPr>
          <a:xfrm>
            <a:off x="594360" y="2834640"/>
            <a:ext cx="10698480" cy="502920"/>
          </a:xfrm>
          <a:prstGeom prst="rect">
            <a:avLst/>
          </a:prstGeom>
          <a:solidFill>
            <a:srgbClr val="FFFFFF"/>
          </a:solidFill>
          <a:ln w="6350">
            <a:solidFill>
              <a:srgbClr val="D7E6F2"/>
            </a:solidFill>
            <a:prstDash val="solid"/>
          </a:ln>
        </p:spPr>
      </p:sp>
      <p:sp>
        <p:nvSpPr>
          <p:cNvPr id="28" name="Text 26"/>
          <p:cNvSpPr/>
          <p:nvPr/>
        </p:nvSpPr>
        <p:spPr>
          <a:xfrm>
            <a:off x="649224" y="2907792"/>
            <a:ext cx="1536192" cy="393192"/>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3. A2A</a:t>
            </a:r>
            <a:endParaRPr lang="en-US" sz="770" dirty="0"/>
          </a:p>
        </p:txBody>
      </p:sp>
      <p:sp>
        <p:nvSpPr>
          <p:cNvPr id="29" name="Text 27"/>
          <p:cNvSpPr/>
          <p:nvPr/>
        </p:nvSpPr>
        <p:spPr>
          <a:xfrm>
            <a:off x="2295144" y="2907792"/>
            <a:ext cx="2907792" cy="393192"/>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Orchestrator agent delegates to specialist agents</a:t>
            </a:r>
            <a:endParaRPr lang="en-US" sz="770" dirty="0"/>
          </a:p>
        </p:txBody>
      </p:sp>
      <p:sp>
        <p:nvSpPr>
          <p:cNvPr id="30" name="Text 28"/>
          <p:cNvSpPr/>
          <p:nvPr/>
        </p:nvSpPr>
        <p:spPr>
          <a:xfrm>
            <a:off x="5312664" y="2907792"/>
            <a:ext cx="2907792" cy="393192"/>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Task lifecycle + agent messages + artifacts</a:t>
            </a:r>
            <a:endParaRPr lang="en-US" sz="770" dirty="0"/>
          </a:p>
        </p:txBody>
      </p:sp>
      <p:sp>
        <p:nvSpPr>
          <p:cNvPr id="31" name="Text 29"/>
          <p:cNvSpPr/>
          <p:nvPr/>
        </p:nvSpPr>
        <p:spPr>
          <a:xfrm>
            <a:off x="8330184" y="2907792"/>
            <a:ext cx="2907792" cy="393192"/>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Use A2A when agents collaborate</a:t>
            </a:r>
            <a:endParaRPr lang="en-US" sz="770" dirty="0"/>
          </a:p>
        </p:txBody>
      </p:sp>
      <p:sp>
        <p:nvSpPr>
          <p:cNvPr id="32" name="Shape 30"/>
          <p:cNvSpPr/>
          <p:nvPr/>
        </p:nvSpPr>
        <p:spPr>
          <a:xfrm>
            <a:off x="777240" y="4663440"/>
            <a:ext cx="10241280" cy="868680"/>
          </a:xfrm>
          <a:prstGeom prst="roundRect">
            <a:avLst>
              <a:gd name="adj" fmla="val 5263"/>
            </a:avLst>
          </a:prstGeom>
          <a:solidFill>
            <a:srgbClr val="F7FBFE"/>
          </a:solidFill>
          <a:ln w="12700">
            <a:solidFill>
              <a:srgbClr val="123452"/>
            </a:solidFill>
            <a:prstDash val="solid"/>
          </a:ln>
        </p:spPr>
      </p:sp>
      <p:sp>
        <p:nvSpPr>
          <p:cNvPr id="33" name="Shape 31"/>
          <p:cNvSpPr/>
          <p:nvPr/>
        </p:nvSpPr>
        <p:spPr>
          <a:xfrm>
            <a:off x="777240" y="4663440"/>
            <a:ext cx="73152" cy="868680"/>
          </a:xfrm>
          <a:prstGeom prst="rect">
            <a:avLst/>
          </a:prstGeom>
          <a:solidFill>
            <a:srgbClr val="123452"/>
          </a:solidFill>
          <a:ln w="12700">
            <a:solidFill>
              <a:srgbClr val="123452"/>
            </a:solidFill>
            <a:prstDash val="solid"/>
          </a:ln>
        </p:spPr>
      </p:sp>
      <p:sp>
        <p:nvSpPr>
          <p:cNvPr id="34" name="Text 32"/>
          <p:cNvSpPr/>
          <p:nvPr/>
        </p:nvSpPr>
        <p:spPr>
          <a:xfrm>
            <a:off x="941832" y="4791456"/>
            <a:ext cx="998524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Demo success criterion</a:t>
            </a:r>
            <a:endParaRPr lang="en-US" sz="1300" dirty="0"/>
          </a:p>
        </p:txBody>
      </p:sp>
      <p:sp>
        <p:nvSpPr>
          <p:cNvPr id="35" name="Text 33"/>
          <p:cNvSpPr/>
          <p:nvPr/>
        </p:nvSpPr>
        <p:spPr>
          <a:xfrm>
            <a:off x="941832" y="5120640"/>
            <a:ext cx="9985248" cy="301752"/>
          </a:xfrm>
          <a:prstGeom prst="rect">
            <a:avLst/>
          </a:prstGeom>
          <a:noFill/>
          <a:ln/>
        </p:spPr>
        <p:txBody>
          <a:bodyPr wrap="square" lIns="254" tIns="254" rIns="254" bIns="254" rtlCol="0" anchor="t">
            <a:normAutofit/>
          </a:bodyPr>
          <a:lstStyle/>
          <a:p>
            <a:pPr indent="0" marL="0">
              <a:buNone/>
            </a:pPr>
            <a:r>
              <a:rPr lang="en-US" sz="1230" dirty="0">
                <a:solidFill>
                  <a:srgbClr val="1F2A37"/>
                </a:solidFill>
              </a:rPr>
              <a:t>Participants should be able to explain why each path is valid, where it breaks, and why the hybrid pattern is often the real architecture.</a:t>
            </a:r>
            <a:endParaRPr lang="en-US" sz="123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B65F62"/>
          </a:solidFill>
          <a:ln w="12700">
            <a:solidFill>
              <a:srgbClr val="B65F6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B65F62"/>
                </a:solidFill>
                <a:latin typeface="Aptos" pitchFamily="34" charset="0"/>
                <a:ea typeface="Aptos" pitchFamily="34" charset="-122"/>
                <a:cs typeface="Aptos" pitchFamily="34" charset="-120"/>
              </a:rPr>
              <a:t>DEMO</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Local directory structure should make the architecture choices inspectable</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43</a:t>
            </a:r>
            <a:endParaRPr lang="en-US" sz="800" dirty="0"/>
          </a:p>
        </p:txBody>
      </p:sp>
      <p:sp>
        <p:nvSpPr>
          <p:cNvPr id="9" name="Text 7"/>
          <p:cNvSpPr/>
          <p:nvPr/>
        </p:nvSpPr>
        <p:spPr>
          <a:xfrm>
            <a:off x="685800" y="1389888"/>
            <a:ext cx="3840480" cy="274320"/>
          </a:xfrm>
          <a:prstGeom prst="rect">
            <a:avLst/>
          </a:prstGeom>
          <a:noFill/>
          <a:ln/>
        </p:spPr>
        <p:txBody>
          <a:bodyPr wrap="square" lIns="0" tIns="0" rIns="0" bIns="0" rtlCol="0" anchor="ctr"/>
          <a:lstStyle/>
          <a:p>
            <a:pPr indent="0" marL="0">
              <a:buNone/>
            </a:pPr>
            <a:r>
              <a:rPr lang="en-US" sz="1700" b="1" dirty="0">
                <a:solidFill>
                  <a:srgbClr val="123452"/>
                </a:solidFill>
              </a:rPr>
              <a:t>/demo-agentic-retail-legal</a:t>
            </a:r>
            <a:endParaRPr lang="en-US" sz="1700" dirty="0"/>
          </a:p>
        </p:txBody>
      </p:sp>
      <p:sp>
        <p:nvSpPr>
          <p:cNvPr id="10" name="Shape 8"/>
          <p:cNvSpPr/>
          <p:nvPr/>
        </p:nvSpPr>
        <p:spPr>
          <a:xfrm>
            <a:off x="713232" y="1874520"/>
            <a:ext cx="5669280" cy="3429000"/>
          </a:xfrm>
          <a:prstGeom prst="roundRect">
            <a:avLst>
              <a:gd name="adj" fmla="val 1067"/>
            </a:avLst>
          </a:prstGeom>
          <a:solidFill>
            <a:srgbClr val="F8FAFC"/>
          </a:solidFill>
          <a:ln w="12700">
            <a:solidFill>
              <a:srgbClr val="D7E6F2"/>
            </a:solidFill>
            <a:prstDash val="solid"/>
          </a:ln>
        </p:spPr>
      </p:sp>
      <p:sp>
        <p:nvSpPr>
          <p:cNvPr id="11" name="Text 9"/>
          <p:cNvSpPr/>
          <p:nvPr/>
        </p:nvSpPr>
        <p:spPr>
          <a:xfrm>
            <a:off x="914400" y="2029968"/>
            <a:ext cx="5303520" cy="2971800"/>
          </a:xfrm>
          <a:prstGeom prst="rect">
            <a:avLst/>
          </a:prstGeom>
          <a:noFill/>
          <a:ln/>
        </p:spPr>
        <p:txBody>
          <a:bodyPr wrap="square" lIns="381" tIns="381" rIns="381" bIns="381" rtlCol="0" anchor="ctr">
            <a:normAutofit/>
          </a:bodyPr>
          <a:lstStyle/>
          <a:p>
            <a:pPr indent="0" marL="0">
              <a:buNone/>
            </a:pPr>
            <a:r>
              <a:rPr lang="en-US" sz="1050" dirty="0">
                <a:solidFill>
                  <a:srgbClr val="1F2A37"/>
                </a:solidFill>
                <a:latin typeface="Courier New" pitchFamily="34" charset="0"/>
                <a:ea typeface="Courier New" pitchFamily="34" charset="-122"/>
                <a:cs typeface="Courier New" pitchFamily="34" charset="-120"/>
              </a:rPr>
              <a:t>mock-services/            # deterministic retail capabilities and data</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  catalog/ orders/ inventory/ returns/ payments/ policies/</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api-client/               # baseline orchestration using explicit service calls</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mcp-servers/              # tool/resource/prompt wrappers over same data</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agent-host/               # local AI host config and tool approvals</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a2a-agents/               # shopper, merchant, payment, legal, support agents</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scenarios/                # scripted prompts and expected observations</a:t>
            </a:r>
            <a:endParaRPr lang="en-US" sz="1050" dirty="0"/>
          </a:p>
          <a:p>
            <a:pPr indent="0" marL="0">
              <a:buNone/>
            </a:pPr>
            <a:r>
              <a:rPr lang="en-US" sz="1050" dirty="0">
                <a:solidFill>
                  <a:srgbClr val="1F2A37"/>
                </a:solidFill>
                <a:latin typeface="Courier New" pitchFamily="34" charset="0"/>
                <a:ea typeface="Courier New" pitchFamily="34" charset="-122"/>
                <a:cs typeface="Courier New" pitchFamily="34" charset="-120"/>
              </a:rPr>
              <a:t>evidence/                 # logs, artifacts, screenshots, trace IDs</a:t>
            </a:r>
            <a:endParaRPr lang="en-US" sz="1050" dirty="0"/>
          </a:p>
        </p:txBody>
      </p:sp>
      <p:sp>
        <p:nvSpPr>
          <p:cNvPr id="12" name="Shape 10"/>
          <p:cNvSpPr/>
          <p:nvPr/>
        </p:nvSpPr>
        <p:spPr>
          <a:xfrm>
            <a:off x="6812280" y="1874520"/>
            <a:ext cx="4480560" cy="960120"/>
          </a:xfrm>
          <a:prstGeom prst="roundRect">
            <a:avLst>
              <a:gd name="adj" fmla="val 4762"/>
            </a:avLst>
          </a:prstGeom>
          <a:solidFill>
            <a:srgbClr val="F7FBFE"/>
          </a:solidFill>
          <a:ln w="12700">
            <a:solidFill>
              <a:srgbClr val="0A9B9B"/>
            </a:solidFill>
            <a:prstDash val="solid"/>
          </a:ln>
        </p:spPr>
      </p:sp>
      <p:sp>
        <p:nvSpPr>
          <p:cNvPr id="13" name="Shape 11"/>
          <p:cNvSpPr/>
          <p:nvPr/>
        </p:nvSpPr>
        <p:spPr>
          <a:xfrm>
            <a:off x="6812280" y="1874520"/>
            <a:ext cx="73152" cy="960120"/>
          </a:xfrm>
          <a:prstGeom prst="rect">
            <a:avLst/>
          </a:prstGeom>
          <a:solidFill>
            <a:srgbClr val="0A9B9B"/>
          </a:solidFill>
          <a:ln w="12700">
            <a:solidFill>
              <a:srgbClr val="0A9B9B"/>
            </a:solidFill>
            <a:prstDash val="solid"/>
          </a:ln>
        </p:spPr>
      </p:sp>
      <p:sp>
        <p:nvSpPr>
          <p:cNvPr id="14" name="Text 12"/>
          <p:cNvSpPr/>
          <p:nvPr/>
        </p:nvSpPr>
        <p:spPr>
          <a:xfrm>
            <a:off x="6976872" y="2002536"/>
            <a:ext cx="422452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Keep demo data constant</a:t>
            </a:r>
            <a:endParaRPr lang="en-US" sz="1300" dirty="0"/>
          </a:p>
        </p:txBody>
      </p:sp>
      <p:sp>
        <p:nvSpPr>
          <p:cNvPr id="15" name="Text 13"/>
          <p:cNvSpPr/>
          <p:nvPr/>
        </p:nvSpPr>
        <p:spPr>
          <a:xfrm>
            <a:off x="6976872" y="2331720"/>
            <a:ext cx="4224528" cy="393192"/>
          </a:xfrm>
          <a:prstGeom prst="rect">
            <a:avLst/>
          </a:prstGeom>
          <a:noFill/>
          <a:ln/>
        </p:spPr>
        <p:txBody>
          <a:bodyPr wrap="square" lIns="254" tIns="254" rIns="254" bIns="254" rtlCol="0" anchor="t">
            <a:normAutofit/>
          </a:bodyPr>
          <a:lstStyle/>
          <a:p>
            <a:pPr indent="0" marL="0">
              <a:buNone/>
            </a:pPr>
            <a:r>
              <a:rPr lang="en-US" sz="1140" dirty="0">
                <a:solidFill>
                  <a:srgbClr val="1F2A37"/>
                </a:solidFill>
              </a:rPr>
              <a:t>Same customer, same order, same product data, same return policy, and same legal facts across all paths.</a:t>
            </a:r>
            <a:endParaRPr lang="en-US" sz="1140" dirty="0"/>
          </a:p>
        </p:txBody>
      </p:sp>
      <p:sp>
        <p:nvSpPr>
          <p:cNvPr id="16" name="Shape 14"/>
          <p:cNvSpPr/>
          <p:nvPr/>
        </p:nvSpPr>
        <p:spPr>
          <a:xfrm>
            <a:off x="6812280" y="3154680"/>
            <a:ext cx="4480560" cy="960120"/>
          </a:xfrm>
          <a:prstGeom prst="roundRect">
            <a:avLst>
              <a:gd name="adj" fmla="val 4762"/>
            </a:avLst>
          </a:prstGeom>
          <a:solidFill>
            <a:srgbClr val="F7FBFE"/>
          </a:solidFill>
          <a:ln w="12700">
            <a:solidFill>
              <a:srgbClr val="D99A3D"/>
            </a:solidFill>
            <a:prstDash val="solid"/>
          </a:ln>
        </p:spPr>
      </p:sp>
      <p:sp>
        <p:nvSpPr>
          <p:cNvPr id="17" name="Shape 15"/>
          <p:cNvSpPr/>
          <p:nvPr/>
        </p:nvSpPr>
        <p:spPr>
          <a:xfrm>
            <a:off x="6812280" y="3154680"/>
            <a:ext cx="73152" cy="960120"/>
          </a:xfrm>
          <a:prstGeom prst="rect">
            <a:avLst/>
          </a:prstGeom>
          <a:solidFill>
            <a:srgbClr val="D99A3D"/>
          </a:solidFill>
          <a:ln w="12700">
            <a:solidFill>
              <a:srgbClr val="D99A3D"/>
            </a:solidFill>
            <a:prstDash val="solid"/>
          </a:ln>
        </p:spPr>
      </p:sp>
      <p:sp>
        <p:nvSpPr>
          <p:cNvPr id="18" name="Text 16"/>
          <p:cNvSpPr/>
          <p:nvPr/>
        </p:nvSpPr>
        <p:spPr>
          <a:xfrm>
            <a:off x="6976872" y="3282696"/>
            <a:ext cx="4224528" cy="228600"/>
          </a:xfrm>
          <a:prstGeom prst="rect">
            <a:avLst/>
          </a:prstGeom>
          <a:noFill/>
          <a:ln/>
        </p:spPr>
        <p:txBody>
          <a:bodyPr wrap="square" lIns="0" tIns="0" rIns="0" bIns="0" rtlCol="0" anchor="ctr">
            <a:normAutofit/>
          </a:bodyPr>
          <a:lstStyle/>
          <a:p>
            <a:pPr indent="0" marL="0">
              <a:buNone/>
            </a:pPr>
            <a:r>
              <a:rPr lang="en-US" sz="1300" b="1" dirty="0">
                <a:solidFill>
                  <a:srgbClr val="D99A3D"/>
                </a:solidFill>
              </a:rPr>
              <a:t>Change only the boundary</a:t>
            </a:r>
            <a:endParaRPr lang="en-US" sz="1300" dirty="0"/>
          </a:p>
        </p:txBody>
      </p:sp>
      <p:sp>
        <p:nvSpPr>
          <p:cNvPr id="19" name="Text 17"/>
          <p:cNvSpPr/>
          <p:nvPr/>
        </p:nvSpPr>
        <p:spPr>
          <a:xfrm>
            <a:off x="6976872" y="3611880"/>
            <a:ext cx="4224528" cy="393192"/>
          </a:xfrm>
          <a:prstGeom prst="rect">
            <a:avLst/>
          </a:prstGeom>
          <a:noFill/>
          <a:ln/>
        </p:spPr>
        <p:txBody>
          <a:bodyPr wrap="square" lIns="254" tIns="254" rIns="254" bIns="254" rtlCol="0" anchor="t">
            <a:normAutofit/>
          </a:bodyPr>
          <a:lstStyle/>
          <a:p>
            <a:pPr indent="0" marL="0">
              <a:buNone/>
            </a:pPr>
            <a:r>
              <a:rPr lang="en-US" sz="1140" dirty="0">
                <a:solidFill>
                  <a:srgbClr val="1F2A37"/>
                </a:solidFill>
              </a:rPr>
              <a:t>The contrast should be protocol semantics, not domain data or model quality.</a:t>
            </a:r>
            <a:endParaRPr lang="en-US" sz="1140" dirty="0"/>
          </a:p>
        </p:txBody>
      </p:sp>
      <p:sp>
        <p:nvSpPr>
          <p:cNvPr id="20" name="Shape 18"/>
          <p:cNvSpPr/>
          <p:nvPr/>
        </p:nvSpPr>
        <p:spPr>
          <a:xfrm>
            <a:off x="6812280" y="4434840"/>
            <a:ext cx="4480560" cy="960120"/>
          </a:xfrm>
          <a:prstGeom prst="roundRect">
            <a:avLst>
              <a:gd name="adj" fmla="val 4762"/>
            </a:avLst>
          </a:prstGeom>
          <a:solidFill>
            <a:srgbClr val="F7FBFE"/>
          </a:solidFill>
          <a:ln w="12700">
            <a:solidFill>
              <a:srgbClr val="B65F62"/>
            </a:solidFill>
            <a:prstDash val="solid"/>
          </a:ln>
        </p:spPr>
      </p:sp>
      <p:sp>
        <p:nvSpPr>
          <p:cNvPr id="21" name="Shape 19"/>
          <p:cNvSpPr/>
          <p:nvPr/>
        </p:nvSpPr>
        <p:spPr>
          <a:xfrm>
            <a:off x="6812280" y="4434840"/>
            <a:ext cx="73152" cy="960120"/>
          </a:xfrm>
          <a:prstGeom prst="rect">
            <a:avLst/>
          </a:prstGeom>
          <a:solidFill>
            <a:srgbClr val="B65F62"/>
          </a:solidFill>
          <a:ln w="12700">
            <a:solidFill>
              <a:srgbClr val="B65F62"/>
            </a:solidFill>
            <a:prstDash val="solid"/>
          </a:ln>
        </p:spPr>
      </p:sp>
      <p:sp>
        <p:nvSpPr>
          <p:cNvPr id="22" name="Text 20"/>
          <p:cNvSpPr/>
          <p:nvPr/>
        </p:nvSpPr>
        <p:spPr>
          <a:xfrm>
            <a:off x="6976872" y="4562856"/>
            <a:ext cx="4224528" cy="228600"/>
          </a:xfrm>
          <a:prstGeom prst="rect">
            <a:avLst/>
          </a:prstGeom>
          <a:noFill/>
          <a:ln/>
        </p:spPr>
        <p:txBody>
          <a:bodyPr wrap="square" lIns="0" tIns="0" rIns="0" bIns="0" rtlCol="0" anchor="ctr">
            <a:normAutofit/>
          </a:bodyPr>
          <a:lstStyle/>
          <a:p>
            <a:pPr indent="0" marL="0">
              <a:buNone/>
            </a:pPr>
            <a:r>
              <a:rPr lang="en-US" sz="1300" b="1" dirty="0">
                <a:solidFill>
                  <a:srgbClr val="B65F62"/>
                </a:solidFill>
              </a:rPr>
              <a:t>Prepare observability</a:t>
            </a:r>
            <a:endParaRPr lang="en-US" sz="1300" dirty="0"/>
          </a:p>
        </p:txBody>
      </p:sp>
      <p:sp>
        <p:nvSpPr>
          <p:cNvPr id="23" name="Text 21"/>
          <p:cNvSpPr/>
          <p:nvPr/>
        </p:nvSpPr>
        <p:spPr>
          <a:xfrm>
            <a:off x="6976872" y="4892040"/>
            <a:ext cx="4224528" cy="393192"/>
          </a:xfrm>
          <a:prstGeom prst="rect">
            <a:avLst/>
          </a:prstGeom>
          <a:noFill/>
          <a:ln/>
        </p:spPr>
        <p:txBody>
          <a:bodyPr wrap="square" lIns="254" tIns="254" rIns="254" bIns="254" rtlCol="0" anchor="t">
            <a:normAutofit/>
          </a:bodyPr>
          <a:lstStyle/>
          <a:p>
            <a:pPr indent="0" marL="0">
              <a:buNone/>
            </a:pPr>
            <a:r>
              <a:rPr lang="en-US" sz="1140" dirty="0">
                <a:solidFill>
                  <a:srgbClr val="1F2A37"/>
                </a:solidFill>
              </a:rPr>
              <a:t>Show logs for API calls, MCP tool calls, and A2A task/artifact events.</a:t>
            </a:r>
            <a:endParaRPr lang="en-US" sz="114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B65F62"/>
          </a:solidFill>
          <a:ln w="12700">
            <a:solidFill>
              <a:srgbClr val="B65F6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B65F62"/>
                </a:solidFill>
                <a:latin typeface="Aptos" pitchFamily="34" charset="0"/>
                <a:ea typeface="Aptos" pitchFamily="34" charset="-122"/>
                <a:cs typeface="Aptos" pitchFamily="34" charset="-120"/>
              </a:rPr>
              <a:t>DEMO</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Demo 1: API path demonstrates controlled orchestration over known services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44</a:t>
            </a:r>
            <a:endParaRPr lang="en-US" sz="800" dirty="0"/>
          </a:p>
        </p:txBody>
      </p:sp>
      <p:sp>
        <p:nvSpPr>
          <p:cNvPr id="9" name="Shape 7"/>
          <p:cNvSpPr/>
          <p:nvPr/>
        </p:nvSpPr>
        <p:spPr>
          <a:xfrm>
            <a:off x="640080" y="1353312"/>
            <a:ext cx="3291840" cy="1188720"/>
          </a:xfrm>
          <a:prstGeom prst="roundRect">
            <a:avLst>
              <a:gd name="adj" fmla="val 3846"/>
            </a:avLst>
          </a:prstGeom>
          <a:solidFill>
            <a:srgbClr val="F7FBFE"/>
          </a:solidFill>
          <a:ln w="12700">
            <a:solidFill>
              <a:srgbClr val="0A9B9B"/>
            </a:solidFill>
            <a:prstDash val="solid"/>
          </a:ln>
        </p:spPr>
      </p:sp>
      <p:sp>
        <p:nvSpPr>
          <p:cNvPr id="10" name="Shape 8"/>
          <p:cNvSpPr/>
          <p:nvPr/>
        </p:nvSpPr>
        <p:spPr>
          <a:xfrm>
            <a:off x="640080" y="1353312"/>
            <a:ext cx="73152" cy="1188720"/>
          </a:xfrm>
          <a:prstGeom prst="rect">
            <a:avLst/>
          </a:prstGeom>
          <a:solidFill>
            <a:srgbClr val="0A9B9B"/>
          </a:solidFill>
          <a:ln w="12700">
            <a:solidFill>
              <a:srgbClr val="0A9B9B"/>
            </a:solidFill>
            <a:prstDash val="solid"/>
          </a:ln>
        </p:spPr>
      </p:sp>
      <p:sp>
        <p:nvSpPr>
          <p:cNvPr id="11" name="Text 9"/>
          <p:cNvSpPr/>
          <p:nvPr/>
        </p:nvSpPr>
        <p:spPr>
          <a:xfrm>
            <a:off x="80467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0A9B9B"/>
                </a:solidFill>
              </a:rPr>
              <a:t>Narrative</a:t>
            </a:r>
            <a:endParaRPr lang="en-US" sz="1300" dirty="0"/>
          </a:p>
        </p:txBody>
      </p:sp>
      <p:sp>
        <p:nvSpPr>
          <p:cNvPr id="12" name="Text 10"/>
          <p:cNvSpPr/>
          <p:nvPr/>
        </p:nvSpPr>
        <p:spPr>
          <a:xfrm>
            <a:off x="804672" y="1810512"/>
            <a:ext cx="3035808" cy="62179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“The retail support app already knows the services it needs: catalog, order, inventory, policy, payment, and refund.”</a:t>
            </a:r>
            <a:endParaRPr lang="en-US" sz="1080" dirty="0"/>
          </a:p>
        </p:txBody>
      </p:sp>
      <p:sp>
        <p:nvSpPr>
          <p:cNvPr id="13" name="Shape 11"/>
          <p:cNvSpPr/>
          <p:nvPr/>
        </p:nvSpPr>
        <p:spPr>
          <a:xfrm>
            <a:off x="4434840" y="1353312"/>
            <a:ext cx="3291840" cy="1188720"/>
          </a:xfrm>
          <a:prstGeom prst="roundRect">
            <a:avLst>
              <a:gd name="adj" fmla="val 3846"/>
            </a:avLst>
          </a:prstGeom>
          <a:solidFill>
            <a:srgbClr val="F7FBFE"/>
          </a:solidFill>
          <a:ln w="12700">
            <a:solidFill>
              <a:srgbClr val="123452"/>
            </a:solidFill>
            <a:prstDash val="solid"/>
          </a:ln>
        </p:spPr>
      </p:sp>
      <p:sp>
        <p:nvSpPr>
          <p:cNvPr id="14" name="Shape 12"/>
          <p:cNvSpPr/>
          <p:nvPr/>
        </p:nvSpPr>
        <p:spPr>
          <a:xfrm>
            <a:off x="4434840" y="1353312"/>
            <a:ext cx="73152" cy="1188720"/>
          </a:xfrm>
          <a:prstGeom prst="rect">
            <a:avLst/>
          </a:prstGeom>
          <a:solidFill>
            <a:srgbClr val="123452"/>
          </a:solidFill>
          <a:ln w="12700">
            <a:solidFill>
              <a:srgbClr val="123452"/>
            </a:solidFill>
            <a:prstDash val="solid"/>
          </a:ln>
        </p:spPr>
      </p:sp>
      <p:sp>
        <p:nvSpPr>
          <p:cNvPr id="15" name="Text 13"/>
          <p:cNvSpPr/>
          <p:nvPr/>
        </p:nvSpPr>
        <p:spPr>
          <a:xfrm>
            <a:off x="459943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Run sequence</a:t>
            </a:r>
            <a:endParaRPr lang="en-US" sz="1300" dirty="0"/>
          </a:p>
        </p:txBody>
      </p:sp>
      <p:sp>
        <p:nvSpPr>
          <p:cNvPr id="16" name="Text 14"/>
          <p:cNvSpPr/>
          <p:nvPr/>
        </p:nvSpPr>
        <p:spPr>
          <a:xfrm>
            <a:off x="4599432" y="1810512"/>
            <a:ext cx="3035808" cy="62179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Select order → fetch fixed data → evaluate policy → recommend exchange/refund → save decision.</a:t>
            </a:r>
            <a:endParaRPr lang="en-US" sz="1080" dirty="0"/>
          </a:p>
        </p:txBody>
      </p:sp>
      <p:sp>
        <p:nvSpPr>
          <p:cNvPr id="17" name="Shape 15"/>
          <p:cNvSpPr/>
          <p:nvPr/>
        </p:nvSpPr>
        <p:spPr>
          <a:xfrm>
            <a:off x="8229600" y="1353312"/>
            <a:ext cx="3291840" cy="1188720"/>
          </a:xfrm>
          <a:prstGeom prst="roundRect">
            <a:avLst>
              <a:gd name="adj" fmla="val 3846"/>
            </a:avLst>
          </a:prstGeom>
          <a:solidFill>
            <a:srgbClr val="F7FBFE"/>
          </a:solidFill>
          <a:ln w="12700">
            <a:solidFill>
              <a:srgbClr val="D99A3D"/>
            </a:solidFill>
            <a:prstDash val="solid"/>
          </a:ln>
        </p:spPr>
      </p:sp>
      <p:sp>
        <p:nvSpPr>
          <p:cNvPr id="18" name="Shape 16"/>
          <p:cNvSpPr/>
          <p:nvPr/>
        </p:nvSpPr>
        <p:spPr>
          <a:xfrm>
            <a:off x="8229600" y="1353312"/>
            <a:ext cx="73152" cy="1188720"/>
          </a:xfrm>
          <a:prstGeom prst="rect">
            <a:avLst/>
          </a:prstGeom>
          <a:solidFill>
            <a:srgbClr val="D99A3D"/>
          </a:solidFill>
          <a:ln w="12700">
            <a:solidFill>
              <a:srgbClr val="D99A3D"/>
            </a:solidFill>
            <a:prstDash val="solid"/>
          </a:ln>
        </p:spPr>
      </p:sp>
      <p:sp>
        <p:nvSpPr>
          <p:cNvPr id="19" name="Text 17"/>
          <p:cNvSpPr/>
          <p:nvPr/>
        </p:nvSpPr>
        <p:spPr>
          <a:xfrm>
            <a:off x="839419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D99A3D"/>
                </a:solidFill>
              </a:rPr>
              <a:t>Show</a:t>
            </a:r>
            <a:endParaRPr lang="en-US" sz="1300" dirty="0"/>
          </a:p>
        </p:txBody>
      </p:sp>
      <p:sp>
        <p:nvSpPr>
          <p:cNvPr id="20" name="Text 18"/>
          <p:cNvSpPr/>
          <p:nvPr/>
        </p:nvSpPr>
        <p:spPr>
          <a:xfrm>
            <a:off x="8394192" y="1810512"/>
            <a:ext cx="3035808" cy="62179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Request logs, response payloads, deterministic decision, and a concise evidence trail.</a:t>
            </a:r>
            <a:endParaRPr lang="en-US" sz="1080" dirty="0"/>
          </a:p>
        </p:txBody>
      </p:sp>
      <p:sp>
        <p:nvSpPr>
          <p:cNvPr id="21" name="Text 19"/>
          <p:cNvSpPr/>
          <p:nvPr/>
        </p:nvSpPr>
        <p:spPr>
          <a:xfrm>
            <a:off x="658368" y="3063240"/>
            <a:ext cx="2194560" cy="274320"/>
          </a:xfrm>
          <a:prstGeom prst="rect">
            <a:avLst/>
          </a:prstGeom>
          <a:noFill/>
          <a:ln/>
        </p:spPr>
        <p:txBody>
          <a:bodyPr wrap="square" lIns="0" tIns="0" rIns="0" bIns="0" rtlCol="0" anchor="ctr"/>
          <a:lstStyle/>
          <a:p>
            <a:pPr indent="0" marL="0">
              <a:buNone/>
            </a:pPr>
            <a:r>
              <a:rPr lang="en-US" sz="1600" b="1" dirty="0">
                <a:solidFill>
                  <a:srgbClr val="123452"/>
                </a:solidFill>
              </a:rPr>
              <a:t>Talking track</a:t>
            </a:r>
            <a:endParaRPr lang="en-US" sz="1600" dirty="0"/>
          </a:p>
        </p:txBody>
      </p:sp>
      <p:sp>
        <p:nvSpPr>
          <p:cNvPr id="22" name="Text 20"/>
          <p:cNvSpPr/>
          <p:nvPr/>
        </p:nvSpPr>
        <p:spPr>
          <a:xfrm>
            <a:off x="749808" y="3474720"/>
            <a:ext cx="10058400" cy="1417320"/>
          </a:xfrm>
          <a:prstGeom prst="rect">
            <a:avLst/>
          </a:prstGeom>
          <a:noFill/>
          <a:ln/>
        </p:spPr>
        <p:txBody>
          <a:bodyPr wrap="square" lIns="508" tIns="508" rIns="508" bIns="508" rtlCol="0" anchor="t">
            <a:normAutofit/>
          </a:bodyPr>
          <a:lstStyle/>
          <a:p>
            <a:r>
              <a:rPr lang="en-US" sz="1350" dirty="0">
                <a:solidFill>
                  <a:srgbClr val="1F2A37"/>
                </a:solidFill>
              </a:rPr>
              <a:t>This is the simplest architecture and the easiest to govern</a:t>
            </a:r>
            <a:endParaRPr lang="en-US" sz="1350" dirty="0"/>
          </a:p>
          <a:p>
            <a:r>
              <a:rPr lang="en-US" sz="1350" dirty="0">
                <a:solidFill>
                  <a:srgbClr val="1F2A37"/>
                </a:solidFill>
              </a:rPr>
              <a:t>The app must be updated when a new data source or action is added</a:t>
            </a:r>
            <a:endParaRPr lang="en-US" sz="1350" dirty="0"/>
          </a:p>
          <a:p>
            <a:r>
              <a:rPr lang="en-US" sz="1350" dirty="0">
                <a:solidFill>
                  <a:srgbClr val="1F2A37"/>
                </a:solidFill>
              </a:rPr>
              <a:t>AI is optional here; deterministic rules can deliver most of the value</a:t>
            </a:r>
            <a:endParaRPr lang="en-US" sz="1350" dirty="0"/>
          </a:p>
          <a:p>
            <a:r>
              <a:rPr lang="en-US" sz="1350" dirty="0">
                <a:solidFill>
                  <a:srgbClr val="1F2A37"/>
                </a:solidFill>
              </a:rPr>
              <a:t>Best answer when workflow, policy, and operations are well understood</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B65F62"/>
          </a:solidFill>
          <a:ln w="12700">
            <a:solidFill>
              <a:srgbClr val="B65F6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B65F62"/>
                </a:solidFill>
                <a:latin typeface="Aptos" pitchFamily="34" charset="0"/>
                <a:ea typeface="Aptos" pitchFamily="34" charset="-122"/>
                <a:cs typeface="Aptos" pitchFamily="34" charset="-120"/>
              </a:rPr>
              <a:t>DEMO</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Demo 2: MCP path demonstrates tool discovery and safe AI-mediated access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45</a:t>
            </a:r>
            <a:endParaRPr lang="en-US" sz="800" dirty="0"/>
          </a:p>
        </p:txBody>
      </p:sp>
      <p:sp>
        <p:nvSpPr>
          <p:cNvPr id="9" name="Shape 7"/>
          <p:cNvSpPr/>
          <p:nvPr/>
        </p:nvSpPr>
        <p:spPr>
          <a:xfrm>
            <a:off x="640080" y="1353312"/>
            <a:ext cx="3291840" cy="1188720"/>
          </a:xfrm>
          <a:prstGeom prst="roundRect">
            <a:avLst>
              <a:gd name="adj" fmla="val 3846"/>
            </a:avLst>
          </a:prstGeom>
          <a:solidFill>
            <a:srgbClr val="F7FBFE"/>
          </a:solidFill>
          <a:ln w="12700">
            <a:solidFill>
              <a:srgbClr val="25A9C7"/>
            </a:solidFill>
            <a:prstDash val="solid"/>
          </a:ln>
        </p:spPr>
      </p:sp>
      <p:sp>
        <p:nvSpPr>
          <p:cNvPr id="10" name="Shape 8"/>
          <p:cNvSpPr/>
          <p:nvPr/>
        </p:nvSpPr>
        <p:spPr>
          <a:xfrm>
            <a:off x="640080" y="1353312"/>
            <a:ext cx="73152" cy="1188720"/>
          </a:xfrm>
          <a:prstGeom prst="rect">
            <a:avLst/>
          </a:prstGeom>
          <a:solidFill>
            <a:srgbClr val="25A9C7"/>
          </a:solidFill>
          <a:ln w="12700">
            <a:solidFill>
              <a:srgbClr val="25A9C7"/>
            </a:solidFill>
            <a:prstDash val="solid"/>
          </a:ln>
        </p:spPr>
      </p:sp>
      <p:sp>
        <p:nvSpPr>
          <p:cNvPr id="11" name="Text 9"/>
          <p:cNvSpPr/>
          <p:nvPr/>
        </p:nvSpPr>
        <p:spPr>
          <a:xfrm>
            <a:off x="80467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25A9C7"/>
                </a:solidFill>
              </a:rPr>
              <a:t>Narrative</a:t>
            </a:r>
            <a:endParaRPr lang="en-US" sz="1300" dirty="0"/>
          </a:p>
        </p:txBody>
      </p:sp>
      <p:sp>
        <p:nvSpPr>
          <p:cNvPr id="12" name="Text 10"/>
          <p:cNvSpPr/>
          <p:nvPr/>
        </p:nvSpPr>
        <p:spPr>
          <a:xfrm>
            <a:off x="804672" y="1810512"/>
            <a:ext cx="3035808" cy="62179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“The assistant does not hard-code every integration; it discovers approved tools and resources.”</a:t>
            </a:r>
            <a:endParaRPr lang="en-US" sz="1080" dirty="0"/>
          </a:p>
        </p:txBody>
      </p:sp>
      <p:sp>
        <p:nvSpPr>
          <p:cNvPr id="13" name="Shape 11"/>
          <p:cNvSpPr/>
          <p:nvPr/>
        </p:nvSpPr>
        <p:spPr>
          <a:xfrm>
            <a:off x="4434840" y="1353312"/>
            <a:ext cx="3291840" cy="1188720"/>
          </a:xfrm>
          <a:prstGeom prst="roundRect">
            <a:avLst>
              <a:gd name="adj" fmla="val 3846"/>
            </a:avLst>
          </a:prstGeom>
          <a:solidFill>
            <a:srgbClr val="F7FBFE"/>
          </a:solidFill>
          <a:ln w="12700">
            <a:solidFill>
              <a:srgbClr val="123452"/>
            </a:solidFill>
            <a:prstDash val="solid"/>
          </a:ln>
        </p:spPr>
      </p:sp>
      <p:sp>
        <p:nvSpPr>
          <p:cNvPr id="14" name="Shape 12"/>
          <p:cNvSpPr/>
          <p:nvPr/>
        </p:nvSpPr>
        <p:spPr>
          <a:xfrm>
            <a:off x="4434840" y="1353312"/>
            <a:ext cx="73152" cy="1188720"/>
          </a:xfrm>
          <a:prstGeom prst="rect">
            <a:avLst/>
          </a:prstGeom>
          <a:solidFill>
            <a:srgbClr val="123452"/>
          </a:solidFill>
          <a:ln w="12700">
            <a:solidFill>
              <a:srgbClr val="123452"/>
            </a:solidFill>
            <a:prstDash val="solid"/>
          </a:ln>
        </p:spPr>
      </p:sp>
      <p:sp>
        <p:nvSpPr>
          <p:cNvPr id="15" name="Text 13"/>
          <p:cNvSpPr/>
          <p:nvPr/>
        </p:nvSpPr>
        <p:spPr>
          <a:xfrm>
            <a:off x="459943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Run sequence</a:t>
            </a:r>
            <a:endParaRPr lang="en-US" sz="1300" dirty="0"/>
          </a:p>
        </p:txBody>
      </p:sp>
      <p:sp>
        <p:nvSpPr>
          <p:cNvPr id="16" name="Text 14"/>
          <p:cNvSpPr/>
          <p:nvPr/>
        </p:nvSpPr>
        <p:spPr>
          <a:xfrm>
            <a:off x="4599432" y="1810512"/>
            <a:ext cx="3035808" cy="62179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Connect servers → list tools/resources → approve read-only actions → call tools → summarize with evidence.</a:t>
            </a:r>
            <a:endParaRPr lang="en-US" sz="1080" dirty="0"/>
          </a:p>
        </p:txBody>
      </p:sp>
      <p:sp>
        <p:nvSpPr>
          <p:cNvPr id="17" name="Shape 15"/>
          <p:cNvSpPr/>
          <p:nvPr/>
        </p:nvSpPr>
        <p:spPr>
          <a:xfrm>
            <a:off x="8229600" y="1353312"/>
            <a:ext cx="3291840" cy="1188720"/>
          </a:xfrm>
          <a:prstGeom prst="roundRect">
            <a:avLst>
              <a:gd name="adj" fmla="val 3846"/>
            </a:avLst>
          </a:prstGeom>
          <a:solidFill>
            <a:srgbClr val="F7FBFE"/>
          </a:solidFill>
          <a:ln w="12700">
            <a:solidFill>
              <a:srgbClr val="D99A3D"/>
            </a:solidFill>
            <a:prstDash val="solid"/>
          </a:ln>
        </p:spPr>
      </p:sp>
      <p:sp>
        <p:nvSpPr>
          <p:cNvPr id="18" name="Shape 16"/>
          <p:cNvSpPr/>
          <p:nvPr/>
        </p:nvSpPr>
        <p:spPr>
          <a:xfrm>
            <a:off x="8229600" y="1353312"/>
            <a:ext cx="73152" cy="1188720"/>
          </a:xfrm>
          <a:prstGeom prst="rect">
            <a:avLst/>
          </a:prstGeom>
          <a:solidFill>
            <a:srgbClr val="D99A3D"/>
          </a:solidFill>
          <a:ln w="12700">
            <a:solidFill>
              <a:srgbClr val="D99A3D"/>
            </a:solidFill>
            <a:prstDash val="solid"/>
          </a:ln>
        </p:spPr>
      </p:sp>
      <p:sp>
        <p:nvSpPr>
          <p:cNvPr id="19" name="Text 17"/>
          <p:cNvSpPr/>
          <p:nvPr/>
        </p:nvSpPr>
        <p:spPr>
          <a:xfrm>
            <a:off x="839419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D99A3D"/>
                </a:solidFill>
              </a:rPr>
              <a:t>Show</a:t>
            </a:r>
            <a:endParaRPr lang="en-US" sz="1300" dirty="0"/>
          </a:p>
        </p:txBody>
      </p:sp>
      <p:sp>
        <p:nvSpPr>
          <p:cNvPr id="20" name="Text 18"/>
          <p:cNvSpPr/>
          <p:nvPr/>
        </p:nvSpPr>
        <p:spPr>
          <a:xfrm>
            <a:off x="8394192" y="1810512"/>
            <a:ext cx="3035808" cy="62179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Tool list, input schema, permission prompt, tool call trace, and final answer with citations/evidence.</a:t>
            </a:r>
            <a:endParaRPr lang="en-US" sz="1080" dirty="0"/>
          </a:p>
        </p:txBody>
      </p:sp>
      <p:sp>
        <p:nvSpPr>
          <p:cNvPr id="21" name="Text 19"/>
          <p:cNvSpPr/>
          <p:nvPr/>
        </p:nvSpPr>
        <p:spPr>
          <a:xfrm>
            <a:off x="658368" y="3063240"/>
            <a:ext cx="2194560" cy="274320"/>
          </a:xfrm>
          <a:prstGeom prst="rect">
            <a:avLst/>
          </a:prstGeom>
          <a:noFill/>
          <a:ln/>
        </p:spPr>
        <p:txBody>
          <a:bodyPr wrap="square" lIns="0" tIns="0" rIns="0" bIns="0" rtlCol="0" anchor="ctr"/>
          <a:lstStyle/>
          <a:p>
            <a:pPr indent="0" marL="0">
              <a:buNone/>
            </a:pPr>
            <a:r>
              <a:rPr lang="en-US" sz="1600" b="1" dirty="0">
                <a:solidFill>
                  <a:srgbClr val="123452"/>
                </a:solidFill>
              </a:rPr>
              <a:t>Talking track</a:t>
            </a:r>
            <a:endParaRPr lang="en-US" sz="1600" dirty="0"/>
          </a:p>
        </p:txBody>
      </p:sp>
      <p:sp>
        <p:nvSpPr>
          <p:cNvPr id="22" name="Text 20"/>
          <p:cNvSpPr/>
          <p:nvPr/>
        </p:nvSpPr>
        <p:spPr>
          <a:xfrm>
            <a:off x="749808" y="3474720"/>
            <a:ext cx="10058400" cy="1417320"/>
          </a:xfrm>
          <a:prstGeom prst="rect">
            <a:avLst/>
          </a:prstGeom>
          <a:noFill/>
          <a:ln/>
        </p:spPr>
        <p:txBody>
          <a:bodyPr wrap="square" lIns="508" tIns="508" rIns="508" bIns="508" rtlCol="0" anchor="t">
            <a:normAutofit/>
          </a:bodyPr>
          <a:lstStyle/>
          <a:p>
            <a:r>
              <a:rPr lang="en-US" sz="1350" dirty="0">
                <a:solidFill>
                  <a:srgbClr val="1F2A37"/>
                </a:solidFill>
              </a:rPr>
              <a:t>The model/host selects from a governed capability catalog</a:t>
            </a:r>
            <a:endParaRPr lang="en-US" sz="1350" dirty="0"/>
          </a:p>
          <a:p>
            <a:r>
              <a:rPr lang="en-US" sz="1350" dirty="0">
                <a:solidFill>
                  <a:srgbClr val="1F2A37"/>
                </a:solidFill>
              </a:rPr>
              <a:t>Adding a new tool changes the MCP server, not every AI client</a:t>
            </a:r>
            <a:endParaRPr lang="en-US" sz="1350" dirty="0"/>
          </a:p>
          <a:p>
            <a:r>
              <a:rPr lang="en-US" sz="1350" dirty="0">
                <a:solidFill>
                  <a:srgbClr val="1F2A37"/>
                </a:solidFill>
              </a:rPr>
              <a:t>Security controls are visible: server scope, tool allowlist, approvals, and logs</a:t>
            </a:r>
            <a:endParaRPr lang="en-US" sz="1350" dirty="0"/>
          </a:p>
          <a:p>
            <a:r>
              <a:rPr lang="en-US" sz="1350" dirty="0">
                <a:solidFill>
                  <a:srgbClr val="1F2A37"/>
                </a:solidFill>
              </a:rPr>
              <a:t>Best answer when AI needs flexible, governed context access</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B65F62"/>
          </a:solidFill>
          <a:ln w="12700">
            <a:solidFill>
              <a:srgbClr val="B65F6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B65F62"/>
                </a:solidFill>
                <a:latin typeface="Aptos" pitchFamily="34" charset="0"/>
                <a:ea typeface="Aptos" pitchFamily="34" charset="-122"/>
                <a:cs typeface="Aptos" pitchFamily="34" charset="-120"/>
              </a:rPr>
              <a:t>DEMO</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Demo 3: A2A path demonstrates delegation, status, and artifacts across agents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46</a:t>
            </a:r>
            <a:endParaRPr lang="en-US" sz="800" dirty="0"/>
          </a:p>
        </p:txBody>
      </p:sp>
      <p:sp>
        <p:nvSpPr>
          <p:cNvPr id="9" name="Shape 7"/>
          <p:cNvSpPr/>
          <p:nvPr/>
        </p:nvSpPr>
        <p:spPr>
          <a:xfrm>
            <a:off x="640080" y="1353312"/>
            <a:ext cx="3291840" cy="1188720"/>
          </a:xfrm>
          <a:prstGeom prst="roundRect">
            <a:avLst>
              <a:gd name="adj" fmla="val 3846"/>
            </a:avLst>
          </a:prstGeom>
          <a:solidFill>
            <a:srgbClr val="F7FBFE"/>
          </a:solidFill>
          <a:ln w="12700">
            <a:solidFill>
              <a:srgbClr val="446CA8"/>
            </a:solidFill>
            <a:prstDash val="solid"/>
          </a:ln>
        </p:spPr>
      </p:sp>
      <p:sp>
        <p:nvSpPr>
          <p:cNvPr id="10" name="Shape 8"/>
          <p:cNvSpPr/>
          <p:nvPr/>
        </p:nvSpPr>
        <p:spPr>
          <a:xfrm>
            <a:off x="640080" y="1353312"/>
            <a:ext cx="73152" cy="1188720"/>
          </a:xfrm>
          <a:prstGeom prst="rect">
            <a:avLst/>
          </a:prstGeom>
          <a:solidFill>
            <a:srgbClr val="446CA8"/>
          </a:solidFill>
          <a:ln w="12700">
            <a:solidFill>
              <a:srgbClr val="446CA8"/>
            </a:solidFill>
            <a:prstDash val="solid"/>
          </a:ln>
        </p:spPr>
      </p:sp>
      <p:sp>
        <p:nvSpPr>
          <p:cNvPr id="11" name="Text 9"/>
          <p:cNvSpPr/>
          <p:nvPr/>
        </p:nvSpPr>
        <p:spPr>
          <a:xfrm>
            <a:off x="80467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446CA8"/>
                </a:solidFill>
              </a:rPr>
              <a:t>Narrative</a:t>
            </a:r>
            <a:endParaRPr lang="en-US" sz="1300" dirty="0"/>
          </a:p>
        </p:txBody>
      </p:sp>
      <p:sp>
        <p:nvSpPr>
          <p:cNvPr id="12" name="Text 10"/>
          <p:cNvSpPr/>
          <p:nvPr/>
        </p:nvSpPr>
        <p:spPr>
          <a:xfrm>
            <a:off x="804672" y="1810512"/>
            <a:ext cx="3035808" cy="62179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“The orchestrator cannot solve this alone; it delegates work to specialist agents with their own tools and policies.”</a:t>
            </a:r>
            <a:endParaRPr lang="en-US" sz="1080" dirty="0"/>
          </a:p>
        </p:txBody>
      </p:sp>
      <p:sp>
        <p:nvSpPr>
          <p:cNvPr id="13" name="Shape 11"/>
          <p:cNvSpPr/>
          <p:nvPr/>
        </p:nvSpPr>
        <p:spPr>
          <a:xfrm>
            <a:off x="4434840" y="1353312"/>
            <a:ext cx="3291840" cy="1188720"/>
          </a:xfrm>
          <a:prstGeom prst="roundRect">
            <a:avLst>
              <a:gd name="adj" fmla="val 3846"/>
            </a:avLst>
          </a:prstGeom>
          <a:solidFill>
            <a:srgbClr val="F7FBFE"/>
          </a:solidFill>
          <a:ln w="12700">
            <a:solidFill>
              <a:srgbClr val="123452"/>
            </a:solidFill>
            <a:prstDash val="solid"/>
          </a:ln>
        </p:spPr>
      </p:sp>
      <p:sp>
        <p:nvSpPr>
          <p:cNvPr id="14" name="Shape 12"/>
          <p:cNvSpPr/>
          <p:nvPr/>
        </p:nvSpPr>
        <p:spPr>
          <a:xfrm>
            <a:off x="4434840" y="1353312"/>
            <a:ext cx="73152" cy="1188720"/>
          </a:xfrm>
          <a:prstGeom prst="rect">
            <a:avLst/>
          </a:prstGeom>
          <a:solidFill>
            <a:srgbClr val="123452"/>
          </a:solidFill>
          <a:ln w="12700">
            <a:solidFill>
              <a:srgbClr val="123452"/>
            </a:solidFill>
            <a:prstDash val="solid"/>
          </a:ln>
        </p:spPr>
      </p:sp>
      <p:sp>
        <p:nvSpPr>
          <p:cNvPr id="15" name="Text 13"/>
          <p:cNvSpPr/>
          <p:nvPr/>
        </p:nvSpPr>
        <p:spPr>
          <a:xfrm>
            <a:off x="459943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Run sequence</a:t>
            </a:r>
            <a:endParaRPr lang="en-US" sz="1300" dirty="0"/>
          </a:p>
        </p:txBody>
      </p:sp>
      <p:sp>
        <p:nvSpPr>
          <p:cNvPr id="16" name="Text 14"/>
          <p:cNvSpPr/>
          <p:nvPr/>
        </p:nvSpPr>
        <p:spPr>
          <a:xfrm>
            <a:off x="4599432" y="1810512"/>
            <a:ext cx="3035808" cy="62179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Read Agent Cards → create task → stream status → receive specialist outputs → assemble artifact.</a:t>
            </a:r>
            <a:endParaRPr lang="en-US" sz="1080" dirty="0"/>
          </a:p>
        </p:txBody>
      </p:sp>
      <p:sp>
        <p:nvSpPr>
          <p:cNvPr id="17" name="Shape 15"/>
          <p:cNvSpPr/>
          <p:nvPr/>
        </p:nvSpPr>
        <p:spPr>
          <a:xfrm>
            <a:off x="8229600" y="1353312"/>
            <a:ext cx="3291840" cy="1188720"/>
          </a:xfrm>
          <a:prstGeom prst="roundRect">
            <a:avLst>
              <a:gd name="adj" fmla="val 3846"/>
            </a:avLst>
          </a:prstGeom>
          <a:solidFill>
            <a:srgbClr val="F7FBFE"/>
          </a:solidFill>
          <a:ln w="12700">
            <a:solidFill>
              <a:srgbClr val="D99A3D"/>
            </a:solidFill>
            <a:prstDash val="solid"/>
          </a:ln>
        </p:spPr>
      </p:sp>
      <p:sp>
        <p:nvSpPr>
          <p:cNvPr id="18" name="Shape 16"/>
          <p:cNvSpPr/>
          <p:nvPr/>
        </p:nvSpPr>
        <p:spPr>
          <a:xfrm>
            <a:off x="8229600" y="1353312"/>
            <a:ext cx="73152" cy="1188720"/>
          </a:xfrm>
          <a:prstGeom prst="rect">
            <a:avLst/>
          </a:prstGeom>
          <a:solidFill>
            <a:srgbClr val="D99A3D"/>
          </a:solidFill>
          <a:ln w="12700">
            <a:solidFill>
              <a:srgbClr val="D99A3D"/>
            </a:solidFill>
            <a:prstDash val="solid"/>
          </a:ln>
        </p:spPr>
      </p:sp>
      <p:sp>
        <p:nvSpPr>
          <p:cNvPr id="19" name="Text 17"/>
          <p:cNvSpPr/>
          <p:nvPr/>
        </p:nvSpPr>
        <p:spPr>
          <a:xfrm>
            <a:off x="8394192" y="1481328"/>
            <a:ext cx="3035808" cy="228600"/>
          </a:xfrm>
          <a:prstGeom prst="rect">
            <a:avLst/>
          </a:prstGeom>
          <a:noFill/>
          <a:ln/>
        </p:spPr>
        <p:txBody>
          <a:bodyPr wrap="square" lIns="0" tIns="0" rIns="0" bIns="0" rtlCol="0" anchor="ctr">
            <a:normAutofit/>
          </a:bodyPr>
          <a:lstStyle/>
          <a:p>
            <a:pPr indent="0" marL="0">
              <a:buNone/>
            </a:pPr>
            <a:r>
              <a:rPr lang="en-US" sz="1300" b="1" dirty="0">
                <a:solidFill>
                  <a:srgbClr val="D99A3D"/>
                </a:solidFill>
              </a:rPr>
              <a:t>Show</a:t>
            </a:r>
            <a:endParaRPr lang="en-US" sz="1300" dirty="0"/>
          </a:p>
        </p:txBody>
      </p:sp>
      <p:sp>
        <p:nvSpPr>
          <p:cNvPr id="20" name="Text 18"/>
          <p:cNvSpPr/>
          <p:nvPr/>
        </p:nvSpPr>
        <p:spPr>
          <a:xfrm>
            <a:off x="8394192" y="1810512"/>
            <a:ext cx="3035808" cy="621792"/>
          </a:xfrm>
          <a:prstGeom prst="rect">
            <a:avLst/>
          </a:prstGeom>
          <a:noFill/>
          <a:ln/>
        </p:spPr>
        <p:txBody>
          <a:bodyPr wrap="square" lIns="254" tIns="254" rIns="254" bIns="254" rtlCol="0" anchor="t">
            <a:normAutofit/>
          </a:bodyPr>
          <a:lstStyle/>
          <a:p>
            <a:pPr indent="0" marL="0">
              <a:buNone/>
            </a:pPr>
            <a:r>
              <a:rPr lang="en-US" sz="1080" dirty="0">
                <a:solidFill>
                  <a:srgbClr val="1F2A37"/>
                </a:solidFill>
              </a:rPr>
              <a:t>Agent Card, task ID, messages, status updates, final artifact, and provenance.</a:t>
            </a:r>
            <a:endParaRPr lang="en-US" sz="1080" dirty="0"/>
          </a:p>
        </p:txBody>
      </p:sp>
      <p:sp>
        <p:nvSpPr>
          <p:cNvPr id="21" name="Text 19"/>
          <p:cNvSpPr/>
          <p:nvPr/>
        </p:nvSpPr>
        <p:spPr>
          <a:xfrm>
            <a:off x="658368" y="3063240"/>
            <a:ext cx="2194560" cy="274320"/>
          </a:xfrm>
          <a:prstGeom prst="rect">
            <a:avLst/>
          </a:prstGeom>
          <a:noFill/>
          <a:ln/>
        </p:spPr>
        <p:txBody>
          <a:bodyPr wrap="square" lIns="0" tIns="0" rIns="0" bIns="0" rtlCol="0" anchor="ctr"/>
          <a:lstStyle/>
          <a:p>
            <a:pPr indent="0" marL="0">
              <a:buNone/>
            </a:pPr>
            <a:r>
              <a:rPr lang="en-US" sz="1600" b="1" dirty="0">
                <a:solidFill>
                  <a:srgbClr val="123452"/>
                </a:solidFill>
              </a:rPr>
              <a:t>Talking track</a:t>
            </a:r>
            <a:endParaRPr lang="en-US" sz="1600" dirty="0"/>
          </a:p>
        </p:txBody>
      </p:sp>
      <p:sp>
        <p:nvSpPr>
          <p:cNvPr id="22" name="Text 20"/>
          <p:cNvSpPr/>
          <p:nvPr/>
        </p:nvSpPr>
        <p:spPr>
          <a:xfrm>
            <a:off x="749808" y="3474720"/>
            <a:ext cx="10058400" cy="1417320"/>
          </a:xfrm>
          <a:prstGeom prst="rect">
            <a:avLst/>
          </a:prstGeom>
          <a:noFill/>
          <a:ln/>
        </p:spPr>
        <p:txBody>
          <a:bodyPr wrap="square" lIns="508" tIns="508" rIns="508" bIns="508" rtlCol="0" anchor="t">
            <a:normAutofit/>
          </a:bodyPr>
          <a:lstStyle/>
          <a:p>
            <a:r>
              <a:rPr lang="en-US" sz="1350" dirty="0">
                <a:solidFill>
                  <a:srgbClr val="1F2A37"/>
                </a:solidFill>
              </a:rPr>
              <a:t>The remote agent is not a function: it may ask questions, plan, and produce an artifact</a:t>
            </a:r>
            <a:endParaRPr lang="en-US" sz="1350" dirty="0"/>
          </a:p>
          <a:p>
            <a:r>
              <a:rPr lang="en-US" sz="1350" dirty="0">
                <a:solidFill>
                  <a:srgbClr val="1F2A37"/>
                </a:solidFill>
              </a:rPr>
              <a:t>A2A makes long-running work and cross-agent boundaries observable</a:t>
            </a:r>
            <a:endParaRPr lang="en-US" sz="1350" dirty="0"/>
          </a:p>
          <a:p>
            <a:r>
              <a:rPr lang="en-US" sz="1350" dirty="0">
                <a:solidFill>
                  <a:srgbClr val="1F2A37"/>
                </a:solidFill>
              </a:rPr>
              <a:t>More power means more controls: auth, agent identity, task state, and artifact governance</a:t>
            </a:r>
            <a:endParaRPr lang="en-US" sz="1350" dirty="0"/>
          </a:p>
          <a:p>
            <a:r>
              <a:rPr lang="en-US" sz="1350" dirty="0">
                <a:solidFill>
                  <a:srgbClr val="1F2A37"/>
                </a:solidFill>
              </a:rPr>
              <a:t>Best answer when independent agents need to collaborate without sharing internals</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B65F62"/>
          </a:solidFill>
          <a:ln w="12700">
            <a:solidFill>
              <a:srgbClr val="B65F6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B65F62"/>
                </a:solidFill>
                <a:latin typeface="Aptos" pitchFamily="34" charset="0"/>
                <a:ea typeface="Aptos" pitchFamily="34" charset="-122"/>
                <a:cs typeface="Aptos" pitchFamily="34" charset="-120"/>
              </a:rPr>
              <a:t>DEMO</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Evaluate the demo with a simple scoring rubric tied to architecture choice</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47</a:t>
            </a:r>
            <a:endParaRPr lang="en-US" sz="800" dirty="0"/>
          </a:p>
        </p:txBody>
      </p:sp>
      <p:sp>
        <p:nvSpPr>
          <p:cNvPr id="9" name="Shape 7"/>
          <p:cNvSpPr/>
          <p:nvPr/>
        </p:nvSpPr>
        <p:spPr>
          <a:xfrm>
            <a:off x="594360" y="1325880"/>
            <a:ext cx="11109960" cy="484632"/>
          </a:xfrm>
          <a:prstGeom prst="rect">
            <a:avLst/>
          </a:prstGeom>
          <a:solidFill>
            <a:srgbClr val="B65F62"/>
          </a:solidFill>
          <a:ln w="12700">
            <a:solidFill>
              <a:srgbClr val="B65F62"/>
            </a:solidFill>
            <a:prstDash val="solid"/>
          </a:ln>
        </p:spPr>
      </p:sp>
      <p:sp>
        <p:nvSpPr>
          <p:cNvPr id="10" name="Text 8"/>
          <p:cNvSpPr/>
          <p:nvPr/>
        </p:nvSpPr>
        <p:spPr>
          <a:xfrm>
            <a:off x="640080" y="1426464"/>
            <a:ext cx="1920240" cy="374904"/>
          </a:xfrm>
          <a:prstGeom prst="rect">
            <a:avLst/>
          </a:prstGeom>
          <a:noFill/>
          <a:ln/>
        </p:spPr>
        <p:txBody>
          <a:bodyPr wrap="square" lIns="0" tIns="0" rIns="0" bIns="0" rtlCol="0" anchor="ctr">
            <a:normAutofit/>
          </a:bodyPr>
          <a:lstStyle/>
          <a:p>
            <a:pPr algn="l" indent="0" marL="0">
              <a:buNone/>
            </a:pPr>
            <a:r>
              <a:rPr lang="en-US" sz="800" b="1" dirty="0">
                <a:solidFill>
                  <a:srgbClr val="FFFFFF"/>
                </a:solidFill>
              </a:rPr>
              <a:t>Criterion</a:t>
            </a:r>
            <a:endParaRPr lang="en-US" sz="800" dirty="0"/>
          </a:p>
        </p:txBody>
      </p:sp>
      <p:sp>
        <p:nvSpPr>
          <p:cNvPr id="11" name="Text 9"/>
          <p:cNvSpPr/>
          <p:nvPr/>
        </p:nvSpPr>
        <p:spPr>
          <a:xfrm>
            <a:off x="2651760" y="1426464"/>
            <a:ext cx="2240280" cy="3749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API path</a:t>
            </a:r>
            <a:endParaRPr lang="en-US" sz="800" dirty="0"/>
          </a:p>
        </p:txBody>
      </p:sp>
      <p:sp>
        <p:nvSpPr>
          <p:cNvPr id="12" name="Shape 10"/>
          <p:cNvSpPr/>
          <p:nvPr/>
        </p:nvSpPr>
        <p:spPr>
          <a:xfrm>
            <a:off x="2606040" y="1325880"/>
            <a:ext cx="0" cy="3392424"/>
          </a:xfrm>
          <a:prstGeom prst="line">
            <a:avLst/>
          </a:prstGeom>
          <a:noFill/>
          <a:ln w="6350">
            <a:solidFill>
              <a:srgbClr val="FFFFFF">
                <a:alpha val="60000"/>
              </a:srgbClr>
            </a:solidFill>
            <a:prstDash val="solid"/>
          </a:ln>
        </p:spPr>
      </p:sp>
      <p:sp>
        <p:nvSpPr>
          <p:cNvPr id="13" name="Text 11"/>
          <p:cNvSpPr/>
          <p:nvPr/>
        </p:nvSpPr>
        <p:spPr>
          <a:xfrm>
            <a:off x="4983480" y="1426464"/>
            <a:ext cx="2240280" cy="3749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MCP path</a:t>
            </a:r>
            <a:endParaRPr lang="en-US" sz="800" dirty="0"/>
          </a:p>
        </p:txBody>
      </p:sp>
      <p:sp>
        <p:nvSpPr>
          <p:cNvPr id="14" name="Shape 12"/>
          <p:cNvSpPr/>
          <p:nvPr/>
        </p:nvSpPr>
        <p:spPr>
          <a:xfrm>
            <a:off x="4937760" y="1325880"/>
            <a:ext cx="0" cy="3392424"/>
          </a:xfrm>
          <a:prstGeom prst="line">
            <a:avLst/>
          </a:prstGeom>
          <a:noFill/>
          <a:ln w="6350">
            <a:solidFill>
              <a:srgbClr val="FFFFFF">
                <a:alpha val="60000"/>
              </a:srgbClr>
            </a:solidFill>
            <a:prstDash val="solid"/>
          </a:ln>
        </p:spPr>
      </p:sp>
      <p:sp>
        <p:nvSpPr>
          <p:cNvPr id="15" name="Text 13"/>
          <p:cNvSpPr/>
          <p:nvPr/>
        </p:nvSpPr>
        <p:spPr>
          <a:xfrm>
            <a:off x="7315200" y="1426464"/>
            <a:ext cx="2240280" cy="3749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A2A path</a:t>
            </a:r>
            <a:endParaRPr lang="en-US" sz="800" dirty="0"/>
          </a:p>
        </p:txBody>
      </p:sp>
      <p:sp>
        <p:nvSpPr>
          <p:cNvPr id="16" name="Shape 14"/>
          <p:cNvSpPr/>
          <p:nvPr/>
        </p:nvSpPr>
        <p:spPr>
          <a:xfrm>
            <a:off x="7269480" y="1325880"/>
            <a:ext cx="0" cy="3392424"/>
          </a:xfrm>
          <a:prstGeom prst="line">
            <a:avLst/>
          </a:prstGeom>
          <a:noFill/>
          <a:ln w="6350">
            <a:solidFill>
              <a:srgbClr val="FFFFFF">
                <a:alpha val="60000"/>
              </a:srgbClr>
            </a:solidFill>
            <a:prstDash val="solid"/>
          </a:ln>
        </p:spPr>
      </p:sp>
      <p:sp>
        <p:nvSpPr>
          <p:cNvPr id="17" name="Text 15"/>
          <p:cNvSpPr/>
          <p:nvPr/>
        </p:nvSpPr>
        <p:spPr>
          <a:xfrm>
            <a:off x="9646920" y="1426464"/>
            <a:ext cx="2011680" cy="3749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What to discuss</a:t>
            </a:r>
            <a:endParaRPr lang="en-US" sz="800" dirty="0"/>
          </a:p>
        </p:txBody>
      </p:sp>
      <p:sp>
        <p:nvSpPr>
          <p:cNvPr id="18" name="Shape 16"/>
          <p:cNvSpPr/>
          <p:nvPr/>
        </p:nvSpPr>
        <p:spPr>
          <a:xfrm>
            <a:off x="9601200" y="1325880"/>
            <a:ext cx="0" cy="3392424"/>
          </a:xfrm>
          <a:prstGeom prst="line">
            <a:avLst/>
          </a:prstGeom>
          <a:noFill/>
          <a:ln w="6350">
            <a:solidFill>
              <a:srgbClr val="FFFFFF">
                <a:alpha val="60000"/>
              </a:srgbClr>
            </a:solidFill>
            <a:prstDash val="solid"/>
          </a:ln>
        </p:spPr>
      </p:sp>
      <p:sp>
        <p:nvSpPr>
          <p:cNvPr id="19" name="Shape 17"/>
          <p:cNvSpPr/>
          <p:nvPr/>
        </p:nvSpPr>
        <p:spPr>
          <a:xfrm>
            <a:off x="594360" y="1810512"/>
            <a:ext cx="11109960" cy="484632"/>
          </a:xfrm>
          <a:prstGeom prst="rect">
            <a:avLst/>
          </a:prstGeom>
          <a:solidFill>
            <a:srgbClr val="FFFFFF"/>
          </a:solidFill>
          <a:ln w="6350">
            <a:solidFill>
              <a:srgbClr val="D7E6F2"/>
            </a:solidFill>
            <a:prstDash val="solid"/>
          </a:ln>
        </p:spPr>
      </p:sp>
      <p:sp>
        <p:nvSpPr>
          <p:cNvPr id="20" name="Text 18"/>
          <p:cNvSpPr/>
          <p:nvPr/>
        </p:nvSpPr>
        <p:spPr>
          <a:xfrm>
            <a:off x="649224" y="1883664"/>
            <a:ext cx="1901952" cy="374904"/>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Speed to build</a:t>
            </a:r>
            <a:endParaRPr lang="en-US" sz="740" dirty="0"/>
          </a:p>
        </p:txBody>
      </p:sp>
      <p:sp>
        <p:nvSpPr>
          <p:cNvPr id="21" name="Text 19"/>
          <p:cNvSpPr/>
          <p:nvPr/>
        </p:nvSpPr>
        <p:spPr>
          <a:xfrm>
            <a:off x="2660904" y="1883664"/>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High</a:t>
            </a:r>
            <a:endParaRPr lang="en-US" sz="740" dirty="0"/>
          </a:p>
        </p:txBody>
      </p:sp>
      <p:sp>
        <p:nvSpPr>
          <p:cNvPr id="22" name="Text 20"/>
          <p:cNvSpPr/>
          <p:nvPr/>
        </p:nvSpPr>
        <p:spPr>
          <a:xfrm>
            <a:off x="4992624" y="1883664"/>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Medium</a:t>
            </a:r>
            <a:endParaRPr lang="en-US" sz="740" dirty="0"/>
          </a:p>
        </p:txBody>
      </p:sp>
      <p:sp>
        <p:nvSpPr>
          <p:cNvPr id="23" name="Text 21"/>
          <p:cNvSpPr/>
          <p:nvPr/>
        </p:nvSpPr>
        <p:spPr>
          <a:xfrm>
            <a:off x="7324344" y="1883664"/>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Medium-low</a:t>
            </a:r>
            <a:endParaRPr lang="en-US" sz="740" dirty="0"/>
          </a:p>
        </p:txBody>
      </p:sp>
      <p:sp>
        <p:nvSpPr>
          <p:cNvPr id="24" name="Text 22"/>
          <p:cNvSpPr/>
          <p:nvPr/>
        </p:nvSpPr>
        <p:spPr>
          <a:xfrm>
            <a:off x="9656064" y="1883664"/>
            <a:ext cx="19933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Integration overhead</a:t>
            </a:r>
            <a:endParaRPr lang="en-US" sz="740" dirty="0"/>
          </a:p>
        </p:txBody>
      </p:sp>
      <p:sp>
        <p:nvSpPr>
          <p:cNvPr id="25" name="Shape 23"/>
          <p:cNvSpPr/>
          <p:nvPr/>
        </p:nvSpPr>
        <p:spPr>
          <a:xfrm>
            <a:off x="594360" y="2295144"/>
            <a:ext cx="11109960" cy="484632"/>
          </a:xfrm>
          <a:prstGeom prst="rect">
            <a:avLst/>
          </a:prstGeom>
          <a:solidFill>
            <a:srgbClr val="F8FAFC"/>
          </a:solidFill>
          <a:ln w="6350">
            <a:solidFill>
              <a:srgbClr val="D7E6F2"/>
            </a:solidFill>
            <a:prstDash val="solid"/>
          </a:ln>
        </p:spPr>
      </p:sp>
      <p:sp>
        <p:nvSpPr>
          <p:cNvPr id="26" name="Text 24"/>
          <p:cNvSpPr/>
          <p:nvPr/>
        </p:nvSpPr>
        <p:spPr>
          <a:xfrm>
            <a:off x="649224" y="2368296"/>
            <a:ext cx="1901952" cy="374904"/>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Governability</a:t>
            </a:r>
            <a:endParaRPr lang="en-US" sz="740" dirty="0"/>
          </a:p>
        </p:txBody>
      </p:sp>
      <p:sp>
        <p:nvSpPr>
          <p:cNvPr id="27" name="Text 25"/>
          <p:cNvSpPr/>
          <p:nvPr/>
        </p:nvSpPr>
        <p:spPr>
          <a:xfrm>
            <a:off x="2660904" y="2368296"/>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High</a:t>
            </a:r>
            <a:endParaRPr lang="en-US" sz="740" dirty="0"/>
          </a:p>
        </p:txBody>
      </p:sp>
      <p:sp>
        <p:nvSpPr>
          <p:cNvPr id="28" name="Text 26"/>
          <p:cNvSpPr/>
          <p:nvPr/>
        </p:nvSpPr>
        <p:spPr>
          <a:xfrm>
            <a:off x="4992624" y="2368296"/>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Medium-high</a:t>
            </a:r>
            <a:endParaRPr lang="en-US" sz="740" dirty="0"/>
          </a:p>
        </p:txBody>
      </p:sp>
      <p:sp>
        <p:nvSpPr>
          <p:cNvPr id="29" name="Text 27"/>
          <p:cNvSpPr/>
          <p:nvPr/>
        </p:nvSpPr>
        <p:spPr>
          <a:xfrm>
            <a:off x="7324344" y="2368296"/>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Medium</a:t>
            </a:r>
            <a:endParaRPr lang="en-US" sz="740" dirty="0"/>
          </a:p>
        </p:txBody>
      </p:sp>
      <p:sp>
        <p:nvSpPr>
          <p:cNvPr id="30" name="Text 28"/>
          <p:cNvSpPr/>
          <p:nvPr/>
        </p:nvSpPr>
        <p:spPr>
          <a:xfrm>
            <a:off x="9656064" y="2368296"/>
            <a:ext cx="19933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Approval and logs</a:t>
            </a:r>
            <a:endParaRPr lang="en-US" sz="740" dirty="0"/>
          </a:p>
        </p:txBody>
      </p:sp>
      <p:sp>
        <p:nvSpPr>
          <p:cNvPr id="31" name="Shape 29"/>
          <p:cNvSpPr/>
          <p:nvPr/>
        </p:nvSpPr>
        <p:spPr>
          <a:xfrm>
            <a:off x="594360" y="2779776"/>
            <a:ext cx="11109960" cy="484632"/>
          </a:xfrm>
          <a:prstGeom prst="rect">
            <a:avLst/>
          </a:prstGeom>
          <a:solidFill>
            <a:srgbClr val="FFFFFF"/>
          </a:solidFill>
          <a:ln w="6350">
            <a:solidFill>
              <a:srgbClr val="D7E6F2"/>
            </a:solidFill>
            <a:prstDash val="solid"/>
          </a:ln>
        </p:spPr>
      </p:sp>
      <p:sp>
        <p:nvSpPr>
          <p:cNvPr id="32" name="Text 30"/>
          <p:cNvSpPr/>
          <p:nvPr/>
        </p:nvSpPr>
        <p:spPr>
          <a:xfrm>
            <a:off x="649224" y="2852928"/>
            <a:ext cx="1901952" cy="374904"/>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Adaptability</a:t>
            </a:r>
            <a:endParaRPr lang="en-US" sz="740" dirty="0"/>
          </a:p>
        </p:txBody>
      </p:sp>
      <p:sp>
        <p:nvSpPr>
          <p:cNvPr id="33" name="Text 31"/>
          <p:cNvSpPr/>
          <p:nvPr/>
        </p:nvSpPr>
        <p:spPr>
          <a:xfrm>
            <a:off x="2660904" y="2852928"/>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Low-medium</a:t>
            </a:r>
            <a:endParaRPr lang="en-US" sz="740" dirty="0"/>
          </a:p>
        </p:txBody>
      </p:sp>
      <p:sp>
        <p:nvSpPr>
          <p:cNvPr id="34" name="Text 32"/>
          <p:cNvSpPr/>
          <p:nvPr/>
        </p:nvSpPr>
        <p:spPr>
          <a:xfrm>
            <a:off x="4992624" y="2852928"/>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High</a:t>
            </a:r>
            <a:endParaRPr lang="en-US" sz="740" dirty="0"/>
          </a:p>
        </p:txBody>
      </p:sp>
      <p:sp>
        <p:nvSpPr>
          <p:cNvPr id="35" name="Text 33"/>
          <p:cNvSpPr/>
          <p:nvPr/>
        </p:nvSpPr>
        <p:spPr>
          <a:xfrm>
            <a:off x="7324344" y="2852928"/>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High</a:t>
            </a:r>
            <a:endParaRPr lang="en-US" sz="740" dirty="0"/>
          </a:p>
        </p:txBody>
      </p:sp>
      <p:sp>
        <p:nvSpPr>
          <p:cNvPr id="36" name="Text 34"/>
          <p:cNvSpPr/>
          <p:nvPr/>
        </p:nvSpPr>
        <p:spPr>
          <a:xfrm>
            <a:off x="9656064" y="2852928"/>
            <a:ext cx="19933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New tools/agents</a:t>
            </a:r>
            <a:endParaRPr lang="en-US" sz="740" dirty="0"/>
          </a:p>
        </p:txBody>
      </p:sp>
      <p:sp>
        <p:nvSpPr>
          <p:cNvPr id="37" name="Shape 35"/>
          <p:cNvSpPr/>
          <p:nvPr/>
        </p:nvSpPr>
        <p:spPr>
          <a:xfrm>
            <a:off x="594360" y="3264408"/>
            <a:ext cx="11109960" cy="484632"/>
          </a:xfrm>
          <a:prstGeom prst="rect">
            <a:avLst/>
          </a:prstGeom>
          <a:solidFill>
            <a:srgbClr val="F8FAFC"/>
          </a:solidFill>
          <a:ln w="6350">
            <a:solidFill>
              <a:srgbClr val="D7E6F2"/>
            </a:solidFill>
            <a:prstDash val="solid"/>
          </a:ln>
        </p:spPr>
      </p:sp>
      <p:sp>
        <p:nvSpPr>
          <p:cNvPr id="38" name="Text 36"/>
          <p:cNvSpPr/>
          <p:nvPr/>
        </p:nvSpPr>
        <p:spPr>
          <a:xfrm>
            <a:off x="649224" y="3337560"/>
            <a:ext cx="1901952" cy="374904"/>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Autonomy</a:t>
            </a:r>
            <a:endParaRPr lang="en-US" sz="740" dirty="0"/>
          </a:p>
        </p:txBody>
      </p:sp>
      <p:sp>
        <p:nvSpPr>
          <p:cNvPr id="39" name="Text 37"/>
          <p:cNvSpPr/>
          <p:nvPr/>
        </p:nvSpPr>
        <p:spPr>
          <a:xfrm>
            <a:off x="2660904" y="3337560"/>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Low</a:t>
            </a:r>
            <a:endParaRPr lang="en-US" sz="740" dirty="0"/>
          </a:p>
        </p:txBody>
      </p:sp>
      <p:sp>
        <p:nvSpPr>
          <p:cNvPr id="40" name="Text 38"/>
          <p:cNvSpPr/>
          <p:nvPr/>
        </p:nvSpPr>
        <p:spPr>
          <a:xfrm>
            <a:off x="4992624" y="3337560"/>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Medium</a:t>
            </a:r>
            <a:endParaRPr lang="en-US" sz="740" dirty="0"/>
          </a:p>
        </p:txBody>
      </p:sp>
      <p:sp>
        <p:nvSpPr>
          <p:cNvPr id="41" name="Text 39"/>
          <p:cNvSpPr/>
          <p:nvPr/>
        </p:nvSpPr>
        <p:spPr>
          <a:xfrm>
            <a:off x="7324344" y="3337560"/>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High</a:t>
            </a:r>
            <a:endParaRPr lang="en-US" sz="740" dirty="0"/>
          </a:p>
        </p:txBody>
      </p:sp>
      <p:sp>
        <p:nvSpPr>
          <p:cNvPr id="42" name="Text 40"/>
          <p:cNvSpPr/>
          <p:nvPr/>
        </p:nvSpPr>
        <p:spPr>
          <a:xfrm>
            <a:off x="9656064" y="3337560"/>
            <a:ext cx="19933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Who decides next step?</a:t>
            </a:r>
            <a:endParaRPr lang="en-US" sz="740" dirty="0"/>
          </a:p>
        </p:txBody>
      </p:sp>
      <p:sp>
        <p:nvSpPr>
          <p:cNvPr id="43" name="Shape 41"/>
          <p:cNvSpPr/>
          <p:nvPr/>
        </p:nvSpPr>
        <p:spPr>
          <a:xfrm>
            <a:off x="594360" y="3749040"/>
            <a:ext cx="11109960" cy="484632"/>
          </a:xfrm>
          <a:prstGeom prst="rect">
            <a:avLst/>
          </a:prstGeom>
          <a:solidFill>
            <a:srgbClr val="FFFFFF"/>
          </a:solidFill>
          <a:ln w="6350">
            <a:solidFill>
              <a:srgbClr val="D7E6F2"/>
            </a:solidFill>
            <a:prstDash val="solid"/>
          </a:ln>
        </p:spPr>
      </p:sp>
      <p:sp>
        <p:nvSpPr>
          <p:cNvPr id="44" name="Text 42"/>
          <p:cNvSpPr/>
          <p:nvPr/>
        </p:nvSpPr>
        <p:spPr>
          <a:xfrm>
            <a:off x="649224" y="3822192"/>
            <a:ext cx="1901952" cy="374904"/>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Observability</a:t>
            </a:r>
            <a:endParaRPr lang="en-US" sz="740" dirty="0"/>
          </a:p>
        </p:txBody>
      </p:sp>
      <p:sp>
        <p:nvSpPr>
          <p:cNvPr id="45" name="Text 43"/>
          <p:cNvSpPr/>
          <p:nvPr/>
        </p:nvSpPr>
        <p:spPr>
          <a:xfrm>
            <a:off x="2660904" y="3822192"/>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Mature traces</a:t>
            </a:r>
            <a:endParaRPr lang="en-US" sz="740" dirty="0"/>
          </a:p>
        </p:txBody>
      </p:sp>
      <p:sp>
        <p:nvSpPr>
          <p:cNvPr id="46" name="Text 44"/>
          <p:cNvSpPr/>
          <p:nvPr/>
        </p:nvSpPr>
        <p:spPr>
          <a:xfrm>
            <a:off x="4992624" y="3822192"/>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Tool traces</a:t>
            </a:r>
            <a:endParaRPr lang="en-US" sz="740" dirty="0"/>
          </a:p>
        </p:txBody>
      </p:sp>
      <p:sp>
        <p:nvSpPr>
          <p:cNvPr id="47" name="Text 45"/>
          <p:cNvSpPr/>
          <p:nvPr/>
        </p:nvSpPr>
        <p:spPr>
          <a:xfrm>
            <a:off x="7324344" y="3822192"/>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Task + artifact traces</a:t>
            </a:r>
            <a:endParaRPr lang="en-US" sz="740" dirty="0"/>
          </a:p>
        </p:txBody>
      </p:sp>
      <p:sp>
        <p:nvSpPr>
          <p:cNvPr id="48" name="Text 46"/>
          <p:cNvSpPr/>
          <p:nvPr/>
        </p:nvSpPr>
        <p:spPr>
          <a:xfrm>
            <a:off x="9656064" y="3822192"/>
            <a:ext cx="19933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Trace continuity</a:t>
            </a:r>
            <a:endParaRPr lang="en-US" sz="740" dirty="0"/>
          </a:p>
        </p:txBody>
      </p:sp>
      <p:sp>
        <p:nvSpPr>
          <p:cNvPr id="49" name="Shape 47"/>
          <p:cNvSpPr/>
          <p:nvPr/>
        </p:nvSpPr>
        <p:spPr>
          <a:xfrm>
            <a:off x="594360" y="4233672"/>
            <a:ext cx="11109960" cy="484632"/>
          </a:xfrm>
          <a:prstGeom prst="rect">
            <a:avLst/>
          </a:prstGeom>
          <a:solidFill>
            <a:srgbClr val="F8FAFC"/>
          </a:solidFill>
          <a:ln w="6350">
            <a:solidFill>
              <a:srgbClr val="D7E6F2"/>
            </a:solidFill>
            <a:prstDash val="solid"/>
          </a:ln>
        </p:spPr>
      </p:sp>
      <p:sp>
        <p:nvSpPr>
          <p:cNvPr id="50" name="Text 48"/>
          <p:cNvSpPr/>
          <p:nvPr/>
        </p:nvSpPr>
        <p:spPr>
          <a:xfrm>
            <a:off x="649224" y="4306824"/>
            <a:ext cx="1901952" cy="374904"/>
          </a:xfrm>
          <a:prstGeom prst="rect">
            <a:avLst/>
          </a:prstGeom>
          <a:noFill/>
          <a:ln/>
        </p:spPr>
        <p:txBody>
          <a:bodyPr wrap="square" lIns="0" tIns="0" rIns="0" bIns="0" rtlCol="0" anchor="ctr">
            <a:normAutofit/>
          </a:bodyPr>
          <a:lstStyle/>
          <a:p>
            <a:pPr algn="l" indent="0" marL="0">
              <a:buNone/>
            </a:pPr>
            <a:r>
              <a:rPr lang="en-US" sz="740" b="1" dirty="0">
                <a:solidFill>
                  <a:srgbClr val="123452"/>
                </a:solidFill>
              </a:rPr>
              <a:t>Best default</a:t>
            </a:r>
            <a:endParaRPr lang="en-US" sz="740" dirty="0"/>
          </a:p>
        </p:txBody>
      </p:sp>
      <p:sp>
        <p:nvSpPr>
          <p:cNvPr id="51" name="Text 49"/>
          <p:cNvSpPr/>
          <p:nvPr/>
        </p:nvSpPr>
        <p:spPr>
          <a:xfrm>
            <a:off x="2660904" y="4306824"/>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Known workflow</a:t>
            </a:r>
            <a:endParaRPr lang="en-US" sz="740" dirty="0"/>
          </a:p>
        </p:txBody>
      </p:sp>
      <p:sp>
        <p:nvSpPr>
          <p:cNvPr id="52" name="Text 50"/>
          <p:cNvSpPr/>
          <p:nvPr/>
        </p:nvSpPr>
        <p:spPr>
          <a:xfrm>
            <a:off x="4992624" y="4306824"/>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AI tool use</a:t>
            </a:r>
            <a:endParaRPr lang="en-US" sz="740" dirty="0"/>
          </a:p>
        </p:txBody>
      </p:sp>
      <p:sp>
        <p:nvSpPr>
          <p:cNvPr id="53" name="Text 51"/>
          <p:cNvSpPr/>
          <p:nvPr/>
        </p:nvSpPr>
        <p:spPr>
          <a:xfrm>
            <a:off x="7324344" y="4306824"/>
            <a:ext cx="22219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Cross-agent work</a:t>
            </a:r>
            <a:endParaRPr lang="en-US" sz="740" dirty="0"/>
          </a:p>
        </p:txBody>
      </p:sp>
      <p:sp>
        <p:nvSpPr>
          <p:cNvPr id="54" name="Text 52"/>
          <p:cNvSpPr/>
          <p:nvPr/>
        </p:nvSpPr>
        <p:spPr>
          <a:xfrm>
            <a:off x="9656064" y="4306824"/>
            <a:ext cx="1993392" cy="374904"/>
          </a:xfrm>
          <a:prstGeom prst="rect">
            <a:avLst/>
          </a:prstGeom>
          <a:noFill/>
          <a:ln/>
        </p:spPr>
        <p:txBody>
          <a:bodyPr wrap="square" lIns="0" tIns="0" rIns="0" bIns="0" rtlCol="0" anchor="ctr">
            <a:normAutofit/>
          </a:bodyPr>
          <a:lstStyle/>
          <a:p>
            <a:pPr algn="ctr" indent="0" marL="0">
              <a:buNone/>
            </a:pPr>
            <a:r>
              <a:rPr lang="en-US" sz="740" dirty="0">
                <a:solidFill>
                  <a:srgbClr val="1F2A37"/>
                </a:solidFill>
              </a:rPr>
              <a:t>Least sufficient protocol</a:t>
            </a:r>
            <a:endParaRPr lang="en-US" sz="74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B65F62"/>
          </a:solidFill>
          <a:ln w="12700">
            <a:solidFill>
              <a:srgbClr val="B65F6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B65F62"/>
                </a:solidFill>
                <a:latin typeface="Aptos" pitchFamily="34" charset="0"/>
                <a:ea typeface="Aptos" pitchFamily="34" charset="-122"/>
                <a:cs typeface="Aptos" pitchFamily="34" charset="-120"/>
              </a:rPr>
              <a:t>DEMO</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Hands-on exercise: choose the protocol for five real-world scenarios</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48</a:t>
            </a:r>
            <a:endParaRPr lang="en-US" sz="800" dirty="0"/>
          </a:p>
        </p:txBody>
      </p:sp>
      <p:sp>
        <p:nvSpPr>
          <p:cNvPr id="9" name="Shape 7"/>
          <p:cNvSpPr/>
          <p:nvPr/>
        </p:nvSpPr>
        <p:spPr>
          <a:xfrm>
            <a:off x="594360" y="1298448"/>
            <a:ext cx="10241280" cy="484632"/>
          </a:xfrm>
          <a:prstGeom prst="rect">
            <a:avLst/>
          </a:prstGeom>
          <a:solidFill>
            <a:srgbClr val="B65F62"/>
          </a:solidFill>
          <a:ln w="12700">
            <a:solidFill>
              <a:srgbClr val="B65F62"/>
            </a:solidFill>
            <a:prstDash val="solid"/>
          </a:ln>
        </p:spPr>
      </p:sp>
      <p:sp>
        <p:nvSpPr>
          <p:cNvPr id="10" name="Text 8"/>
          <p:cNvSpPr/>
          <p:nvPr/>
        </p:nvSpPr>
        <p:spPr>
          <a:xfrm>
            <a:off x="640080" y="1399032"/>
            <a:ext cx="4206240" cy="374904"/>
          </a:xfrm>
          <a:prstGeom prst="rect">
            <a:avLst/>
          </a:prstGeom>
          <a:noFill/>
          <a:ln/>
        </p:spPr>
        <p:txBody>
          <a:bodyPr wrap="square" lIns="0" tIns="0" rIns="0" bIns="0" rtlCol="0" anchor="ctr">
            <a:normAutofit/>
          </a:bodyPr>
          <a:lstStyle/>
          <a:p>
            <a:pPr algn="l" indent="0" marL="0">
              <a:buNone/>
            </a:pPr>
            <a:r>
              <a:rPr lang="en-US" sz="820" b="1" dirty="0">
                <a:solidFill>
                  <a:srgbClr val="FFFFFF"/>
                </a:solidFill>
              </a:rPr>
              <a:t>Scenario</a:t>
            </a:r>
            <a:endParaRPr lang="en-US" sz="820" dirty="0"/>
          </a:p>
        </p:txBody>
      </p:sp>
      <p:sp>
        <p:nvSpPr>
          <p:cNvPr id="11" name="Text 9"/>
          <p:cNvSpPr/>
          <p:nvPr/>
        </p:nvSpPr>
        <p:spPr>
          <a:xfrm>
            <a:off x="4937760" y="1399032"/>
            <a:ext cx="1920240" cy="374904"/>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Best default</a:t>
            </a:r>
            <a:endParaRPr lang="en-US" sz="820" dirty="0"/>
          </a:p>
        </p:txBody>
      </p:sp>
      <p:sp>
        <p:nvSpPr>
          <p:cNvPr id="12" name="Shape 10"/>
          <p:cNvSpPr/>
          <p:nvPr/>
        </p:nvSpPr>
        <p:spPr>
          <a:xfrm>
            <a:off x="4892040" y="1298448"/>
            <a:ext cx="0" cy="2907792"/>
          </a:xfrm>
          <a:prstGeom prst="line">
            <a:avLst/>
          </a:prstGeom>
          <a:noFill/>
          <a:ln w="6350">
            <a:solidFill>
              <a:srgbClr val="FFFFFF">
                <a:alpha val="60000"/>
              </a:srgbClr>
            </a:solidFill>
            <a:prstDash val="solid"/>
          </a:ln>
        </p:spPr>
      </p:sp>
      <p:sp>
        <p:nvSpPr>
          <p:cNvPr id="13" name="Text 11"/>
          <p:cNvSpPr/>
          <p:nvPr/>
        </p:nvSpPr>
        <p:spPr>
          <a:xfrm>
            <a:off x="6949440" y="1399032"/>
            <a:ext cx="3840480" cy="374904"/>
          </a:xfrm>
          <a:prstGeom prst="rect">
            <a:avLst/>
          </a:prstGeom>
          <a:noFill/>
          <a:ln/>
        </p:spPr>
        <p:txBody>
          <a:bodyPr wrap="square" lIns="0" tIns="0" rIns="0" bIns="0" rtlCol="0" anchor="ctr">
            <a:normAutofit/>
          </a:bodyPr>
          <a:lstStyle/>
          <a:p>
            <a:pPr algn="ctr" indent="0" marL="0">
              <a:buNone/>
            </a:pPr>
            <a:r>
              <a:rPr lang="en-US" sz="820" b="1" dirty="0">
                <a:solidFill>
                  <a:srgbClr val="FFFFFF"/>
                </a:solidFill>
              </a:rPr>
              <a:t>Why</a:t>
            </a:r>
            <a:endParaRPr lang="en-US" sz="820" dirty="0"/>
          </a:p>
        </p:txBody>
      </p:sp>
      <p:sp>
        <p:nvSpPr>
          <p:cNvPr id="14" name="Shape 12"/>
          <p:cNvSpPr/>
          <p:nvPr/>
        </p:nvSpPr>
        <p:spPr>
          <a:xfrm>
            <a:off x="6903720" y="1298448"/>
            <a:ext cx="0" cy="2907792"/>
          </a:xfrm>
          <a:prstGeom prst="line">
            <a:avLst/>
          </a:prstGeom>
          <a:noFill/>
          <a:ln w="6350">
            <a:solidFill>
              <a:srgbClr val="FFFFFF">
                <a:alpha val="60000"/>
              </a:srgbClr>
            </a:solidFill>
            <a:prstDash val="solid"/>
          </a:ln>
        </p:spPr>
      </p:sp>
      <p:sp>
        <p:nvSpPr>
          <p:cNvPr id="15" name="Shape 13"/>
          <p:cNvSpPr/>
          <p:nvPr/>
        </p:nvSpPr>
        <p:spPr>
          <a:xfrm>
            <a:off x="594360" y="1783080"/>
            <a:ext cx="10241280" cy="484632"/>
          </a:xfrm>
          <a:prstGeom prst="rect">
            <a:avLst/>
          </a:prstGeom>
          <a:solidFill>
            <a:srgbClr val="FFFFFF"/>
          </a:solidFill>
          <a:ln w="6350">
            <a:solidFill>
              <a:srgbClr val="D7E6F2"/>
            </a:solidFill>
            <a:prstDash val="solid"/>
          </a:ln>
        </p:spPr>
      </p:sp>
      <p:sp>
        <p:nvSpPr>
          <p:cNvPr id="16" name="Text 14"/>
          <p:cNvSpPr/>
          <p:nvPr/>
        </p:nvSpPr>
        <p:spPr>
          <a:xfrm>
            <a:off x="649224" y="1856232"/>
            <a:ext cx="4187952" cy="374904"/>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Retail app checks order status and changes address</a:t>
            </a:r>
            <a:endParaRPr lang="en-US" sz="770" dirty="0"/>
          </a:p>
        </p:txBody>
      </p:sp>
      <p:sp>
        <p:nvSpPr>
          <p:cNvPr id="17" name="Text 15"/>
          <p:cNvSpPr/>
          <p:nvPr/>
        </p:nvSpPr>
        <p:spPr>
          <a:xfrm>
            <a:off x="4946904" y="1856232"/>
            <a:ext cx="1901952" cy="374904"/>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API</a:t>
            </a:r>
            <a:endParaRPr lang="en-US" sz="770" dirty="0"/>
          </a:p>
        </p:txBody>
      </p:sp>
      <p:sp>
        <p:nvSpPr>
          <p:cNvPr id="18" name="Text 16"/>
          <p:cNvSpPr/>
          <p:nvPr/>
        </p:nvSpPr>
        <p:spPr>
          <a:xfrm>
            <a:off x="6958584" y="1856232"/>
            <a:ext cx="3822192" cy="374904"/>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Known operation, low autonomy, deterministic transaction</a:t>
            </a:r>
            <a:endParaRPr lang="en-US" sz="770" dirty="0"/>
          </a:p>
        </p:txBody>
      </p:sp>
      <p:sp>
        <p:nvSpPr>
          <p:cNvPr id="19" name="Shape 17"/>
          <p:cNvSpPr/>
          <p:nvPr/>
        </p:nvSpPr>
        <p:spPr>
          <a:xfrm>
            <a:off x="594360" y="2267712"/>
            <a:ext cx="10241280" cy="484632"/>
          </a:xfrm>
          <a:prstGeom prst="rect">
            <a:avLst/>
          </a:prstGeom>
          <a:solidFill>
            <a:srgbClr val="F8FAFC"/>
          </a:solidFill>
          <a:ln w="6350">
            <a:solidFill>
              <a:srgbClr val="D7E6F2"/>
            </a:solidFill>
            <a:prstDash val="solid"/>
          </a:ln>
        </p:spPr>
      </p:sp>
      <p:sp>
        <p:nvSpPr>
          <p:cNvPr id="20" name="Text 18"/>
          <p:cNvSpPr/>
          <p:nvPr/>
        </p:nvSpPr>
        <p:spPr>
          <a:xfrm>
            <a:off x="649224" y="2340864"/>
            <a:ext cx="4187952" cy="374904"/>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Shopping assistant compares products using approved catalog and policy tools</a:t>
            </a:r>
            <a:endParaRPr lang="en-US" sz="770" dirty="0"/>
          </a:p>
        </p:txBody>
      </p:sp>
      <p:sp>
        <p:nvSpPr>
          <p:cNvPr id="21" name="Text 19"/>
          <p:cNvSpPr/>
          <p:nvPr/>
        </p:nvSpPr>
        <p:spPr>
          <a:xfrm>
            <a:off x="4946904" y="2340864"/>
            <a:ext cx="1901952" cy="374904"/>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MCP</a:t>
            </a:r>
            <a:endParaRPr lang="en-US" sz="770" dirty="0"/>
          </a:p>
        </p:txBody>
      </p:sp>
      <p:sp>
        <p:nvSpPr>
          <p:cNvPr id="22" name="Text 20"/>
          <p:cNvSpPr/>
          <p:nvPr/>
        </p:nvSpPr>
        <p:spPr>
          <a:xfrm>
            <a:off x="6958584" y="2340864"/>
            <a:ext cx="3822192" cy="374904"/>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Model needs discoverable context and governed tool access</a:t>
            </a:r>
            <a:endParaRPr lang="en-US" sz="770" dirty="0"/>
          </a:p>
        </p:txBody>
      </p:sp>
      <p:sp>
        <p:nvSpPr>
          <p:cNvPr id="23" name="Shape 21"/>
          <p:cNvSpPr/>
          <p:nvPr/>
        </p:nvSpPr>
        <p:spPr>
          <a:xfrm>
            <a:off x="594360" y="2752344"/>
            <a:ext cx="10241280" cy="484632"/>
          </a:xfrm>
          <a:prstGeom prst="rect">
            <a:avLst/>
          </a:prstGeom>
          <a:solidFill>
            <a:srgbClr val="FFFFFF"/>
          </a:solidFill>
          <a:ln w="6350">
            <a:solidFill>
              <a:srgbClr val="D7E6F2"/>
            </a:solidFill>
            <a:prstDash val="solid"/>
          </a:ln>
        </p:spPr>
      </p:sp>
      <p:sp>
        <p:nvSpPr>
          <p:cNvPr id="24" name="Text 22"/>
          <p:cNvSpPr/>
          <p:nvPr/>
        </p:nvSpPr>
        <p:spPr>
          <a:xfrm>
            <a:off x="649224" y="2825496"/>
            <a:ext cx="4187952" cy="374904"/>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Customer agent asks merchant and payment agents to coordinate refund</a:t>
            </a:r>
            <a:endParaRPr lang="en-US" sz="770" dirty="0"/>
          </a:p>
        </p:txBody>
      </p:sp>
      <p:sp>
        <p:nvSpPr>
          <p:cNvPr id="25" name="Text 23"/>
          <p:cNvSpPr/>
          <p:nvPr/>
        </p:nvSpPr>
        <p:spPr>
          <a:xfrm>
            <a:off x="4946904" y="2825496"/>
            <a:ext cx="1901952" cy="374904"/>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A2A</a:t>
            </a:r>
            <a:endParaRPr lang="en-US" sz="770" dirty="0"/>
          </a:p>
        </p:txBody>
      </p:sp>
      <p:sp>
        <p:nvSpPr>
          <p:cNvPr id="26" name="Text 24"/>
          <p:cNvSpPr/>
          <p:nvPr/>
        </p:nvSpPr>
        <p:spPr>
          <a:xfrm>
            <a:off x="6958584" y="2825496"/>
            <a:ext cx="3822192" cy="374904"/>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Independent agents coordinate stateful work</a:t>
            </a:r>
            <a:endParaRPr lang="en-US" sz="770" dirty="0"/>
          </a:p>
        </p:txBody>
      </p:sp>
      <p:sp>
        <p:nvSpPr>
          <p:cNvPr id="27" name="Shape 25"/>
          <p:cNvSpPr/>
          <p:nvPr/>
        </p:nvSpPr>
        <p:spPr>
          <a:xfrm>
            <a:off x="594360" y="3236976"/>
            <a:ext cx="10241280" cy="484632"/>
          </a:xfrm>
          <a:prstGeom prst="rect">
            <a:avLst/>
          </a:prstGeom>
          <a:solidFill>
            <a:srgbClr val="F8FAFC"/>
          </a:solidFill>
          <a:ln w="6350">
            <a:solidFill>
              <a:srgbClr val="D7E6F2"/>
            </a:solidFill>
            <a:prstDash val="solid"/>
          </a:ln>
        </p:spPr>
      </p:sp>
      <p:sp>
        <p:nvSpPr>
          <p:cNvPr id="28" name="Text 26"/>
          <p:cNvSpPr/>
          <p:nvPr/>
        </p:nvSpPr>
        <p:spPr>
          <a:xfrm>
            <a:off x="649224" y="3310128"/>
            <a:ext cx="4187952" cy="374904"/>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Legal ops bot drafts a clause summary from controlled documents</a:t>
            </a:r>
            <a:endParaRPr lang="en-US" sz="770" dirty="0"/>
          </a:p>
        </p:txBody>
      </p:sp>
      <p:sp>
        <p:nvSpPr>
          <p:cNvPr id="29" name="Text 27"/>
          <p:cNvSpPr/>
          <p:nvPr/>
        </p:nvSpPr>
        <p:spPr>
          <a:xfrm>
            <a:off x="4946904" y="3310128"/>
            <a:ext cx="1901952" cy="374904"/>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MCP</a:t>
            </a:r>
            <a:endParaRPr lang="en-US" sz="770" dirty="0"/>
          </a:p>
        </p:txBody>
      </p:sp>
      <p:sp>
        <p:nvSpPr>
          <p:cNvPr id="30" name="Text 28"/>
          <p:cNvSpPr/>
          <p:nvPr/>
        </p:nvSpPr>
        <p:spPr>
          <a:xfrm>
            <a:off x="6958584" y="3310128"/>
            <a:ext cx="3822192" cy="374904"/>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Policy/contract resources and review workflow matter</a:t>
            </a:r>
            <a:endParaRPr lang="en-US" sz="770" dirty="0"/>
          </a:p>
        </p:txBody>
      </p:sp>
      <p:sp>
        <p:nvSpPr>
          <p:cNvPr id="31" name="Shape 29"/>
          <p:cNvSpPr/>
          <p:nvPr/>
        </p:nvSpPr>
        <p:spPr>
          <a:xfrm>
            <a:off x="594360" y="3721608"/>
            <a:ext cx="10241280" cy="484632"/>
          </a:xfrm>
          <a:prstGeom prst="rect">
            <a:avLst/>
          </a:prstGeom>
          <a:solidFill>
            <a:srgbClr val="FFFFFF"/>
          </a:solidFill>
          <a:ln w="6350">
            <a:solidFill>
              <a:srgbClr val="D7E6F2"/>
            </a:solidFill>
            <a:prstDash val="solid"/>
          </a:ln>
        </p:spPr>
      </p:sp>
      <p:sp>
        <p:nvSpPr>
          <p:cNvPr id="32" name="Text 30"/>
          <p:cNvSpPr/>
          <p:nvPr/>
        </p:nvSpPr>
        <p:spPr>
          <a:xfrm>
            <a:off x="649224" y="3794760"/>
            <a:ext cx="4187952" cy="374904"/>
          </a:xfrm>
          <a:prstGeom prst="rect">
            <a:avLst/>
          </a:prstGeom>
          <a:noFill/>
          <a:ln/>
        </p:spPr>
        <p:txBody>
          <a:bodyPr wrap="square" lIns="0" tIns="0" rIns="0" bIns="0" rtlCol="0" anchor="ctr">
            <a:normAutofit/>
          </a:bodyPr>
          <a:lstStyle/>
          <a:p>
            <a:pPr algn="l" indent="0" marL="0">
              <a:buNone/>
            </a:pPr>
            <a:r>
              <a:rPr lang="en-US" sz="770" b="1" dirty="0">
                <a:solidFill>
                  <a:srgbClr val="123452"/>
                </a:solidFill>
              </a:rPr>
              <a:t>Customer agent asks legal/support agent to analyze a disputed return</a:t>
            </a:r>
            <a:endParaRPr lang="en-US" sz="770" dirty="0"/>
          </a:p>
        </p:txBody>
      </p:sp>
      <p:sp>
        <p:nvSpPr>
          <p:cNvPr id="33" name="Text 31"/>
          <p:cNvSpPr/>
          <p:nvPr/>
        </p:nvSpPr>
        <p:spPr>
          <a:xfrm>
            <a:off x="4946904" y="3794760"/>
            <a:ext cx="1901952" cy="374904"/>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A2A + MCP</a:t>
            </a:r>
            <a:endParaRPr lang="en-US" sz="770" dirty="0"/>
          </a:p>
        </p:txBody>
      </p:sp>
      <p:sp>
        <p:nvSpPr>
          <p:cNvPr id="34" name="Text 32"/>
          <p:cNvSpPr/>
          <p:nvPr/>
        </p:nvSpPr>
        <p:spPr>
          <a:xfrm>
            <a:off x="6958584" y="3794760"/>
            <a:ext cx="3822192" cy="374904"/>
          </a:xfrm>
          <a:prstGeom prst="rect">
            <a:avLst/>
          </a:prstGeom>
          <a:noFill/>
          <a:ln/>
        </p:spPr>
        <p:txBody>
          <a:bodyPr wrap="square" lIns="0" tIns="0" rIns="0" bIns="0" rtlCol="0" anchor="ctr">
            <a:normAutofit/>
          </a:bodyPr>
          <a:lstStyle/>
          <a:p>
            <a:pPr algn="ctr" indent="0" marL="0">
              <a:buNone/>
            </a:pPr>
            <a:r>
              <a:rPr lang="en-US" sz="770" dirty="0">
                <a:solidFill>
                  <a:srgbClr val="1F2A37"/>
                </a:solidFill>
              </a:rPr>
              <a:t>A2A for delegation; specialist agent may use MCP/tools internally</a:t>
            </a:r>
            <a:endParaRPr lang="en-US" sz="77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2345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23452"/>
          </a:solidFill>
          <a:ln w="12700">
            <a:solidFill>
              <a:srgbClr val="123452"/>
            </a:solidFill>
            <a:prstDash val="solid"/>
          </a:ln>
        </p:spPr>
      </p:sp>
      <p:sp>
        <p:nvSpPr>
          <p:cNvPr id="3" name="Text 1"/>
          <p:cNvSpPr/>
          <p:nvPr/>
        </p:nvSpPr>
        <p:spPr>
          <a:xfrm>
            <a:off x="640080" y="658368"/>
            <a:ext cx="4754880" cy="228600"/>
          </a:xfrm>
          <a:prstGeom prst="rect">
            <a:avLst/>
          </a:prstGeom>
          <a:noFill/>
          <a:ln/>
        </p:spPr>
        <p:txBody>
          <a:bodyPr wrap="square" lIns="0" tIns="0" rIns="0" bIns="0" rtlCol="0" anchor="ctr"/>
          <a:lstStyle/>
          <a:p>
            <a:pPr indent="0" marL="0">
              <a:buNone/>
            </a:pPr>
            <a:r>
              <a:rPr lang="en-US" sz="1000" b="1" dirty="0">
                <a:solidFill>
                  <a:srgbClr val="FFFFFF"/>
                </a:solidFill>
              </a:rPr>
              <a:t>CLOSE</a:t>
            </a:r>
            <a:endParaRPr lang="en-US" sz="1000" dirty="0"/>
          </a:p>
        </p:txBody>
      </p:sp>
      <p:sp>
        <p:nvSpPr>
          <p:cNvPr id="4" name="Text 2"/>
          <p:cNvSpPr/>
          <p:nvPr/>
        </p:nvSpPr>
        <p:spPr>
          <a:xfrm>
            <a:off x="640080" y="1325880"/>
            <a:ext cx="9875520" cy="105156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Display" pitchFamily="34" charset="0"/>
                <a:ea typeface="Aptos Display" pitchFamily="34" charset="-122"/>
                <a:cs typeface="Aptos Display" pitchFamily="34" charset="-120"/>
              </a:rPr>
              <a:t>Close: practical decision framework</a:t>
            </a:r>
            <a:endParaRPr lang="en-US" sz="3200" dirty="0"/>
          </a:p>
        </p:txBody>
      </p:sp>
      <p:sp>
        <p:nvSpPr>
          <p:cNvPr id="5" name="Text 3"/>
          <p:cNvSpPr/>
          <p:nvPr/>
        </p:nvSpPr>
        <p:spPr>
          <a:xfrm>
            <a:off x="658368" y="2788920"/>
            <a:ext cx="8778240" cy="548640"/>
          </a:xfrm>
          <a:prstGeom prst="rect">
            <a:avLst/>
          </a:prstGeom>
          <a:noFill/>
          <a:ln/>
        </p:spPr>
        <p:txBody>
          <a:bodyPr wrap="square" lIns="0" tIns="0" rIns="0" bIns="0" rtlCol="0" anchor="ctr">
            <a:normAutofit/>
          </a:bodyPr>
          <a:lstStyle/>
          <a:p>
            <a:pPr indent="0" marL="0">
              <a:buNone/>
            </a:pPr>
            <a:r>
              <a:rPr lang="en-US" sz="1800" dirty="0">
                <a:solidFill>
                  <a:srgbClr val="F8FAFC"/>
                </a:solidFill>
              </a:rPr>
              <a:t>End with a repeatable architecture choice pattern the team can use after the session.</a:t>
            </a:r>
            <a:endParaRPr lang="en-US" sz="1800" dirty="0"/>
          </a:p>
        </p:txBody>
      </p:sp>
      <p:sp>
        <p:nvSpPr>
          <p:cNvPr id="6" name="Shape 4"/>
          <p:cNvSpPr/>
          <p:nvPr/>
        </p:nvSpPr>
        <p:spPr>
          <a:xfrm>
            <a:off x="658368" y="6163056"/>
            <a:ext cx="10881360" cy="0"/>
          </a:xfrm>
          <a:prstGeom prst="line">
            <a:avLst/>
          </a:prstGeom>
          <a:noFill/>
          <a:ln w="10160">
            <a:solidFill>
              <a:srgbClr val="FFFFFF">
                <a:alpha val="60000"/>
              </a:srgbClr>
            </a:solidFill>
            <a:prstDash val="solid"/>
          </a:ln>
        </p:spPr>
      </p:sp>
      <p:sp>
        <p:nvSpPr>
          <p:cNvPr id="7" name="Text 5"/>
          <p:cNvSpPr/>
          <p:nvPr/>
        </p:nvSpPr>
        <p:spPr>
          <a:xfrm>
            <a:off x="10899648" y="6236208"/>
            <a:ext cx="640080" cy="182880"/>
          </a:xfrm>
          <a:prstGeom prst="rect">
            <a:avLst/>
          </a:prstGeom>
          <a:noFill/>
          <a:ln/>
        </p:spPr>
        <p:txBody>
          <a:bodyPr wrap="square" lIns="0" tIns="0" rIns="0" bIns="0" rtlCol="0" anchor="ctr"/>
          <a:lstStyle/>
          <a:p>
            <a:pPr algn="r" indent="0" marL="0">
              <a:buNone/>
            </a:pPr>
            <a:r>
              <a:rPr lang="en-US" sz="850" dirty="0">
                <a:solidFill>
                  <a:srgbClr val="FFFFFF">
                    <a:alpha val="80000"/>
                  </a:srgbClr>
                </a:solidFill>
              </a:rPr>
              <a:t>49</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123452"/>
          </a:solidFill>
          <a:ln w="12700">
            <a:solidFill>
              <a:srgbClr val="12345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123452"/>
                </a:solidFill>
                <a:latin typeface="Aptos" pitchFamily="34" charset="0"/>
                <a:ea typeface="Aptos" pitchFamily="34" charset="-122"/>
                <a:cs typeface="Aptos" pitchFamily="34" charset="-120"/>
              </a:rPr>
              <a:t>CLOSE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A reusable decision tree turns protocol choice into an architecture conversation</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50</a:t>
            </a:r>
            <a:endParaRPr lang="en-US" sz="800" dirty="0"/>
          </a:p>
        </p:txBody>
      </p:sp>
      <p:sp>
        <p:nvSpPr>
          <p:cNvPr id="9" name="Shape 7"/>
          <p:cNvSpPr/>
          <p:nvPr/>
        </p:nvSpPr>
        <p:spPr>
          <a:xfrm>
            <a:off x="731520" y="1417320"/>
            <a:ext cx="3840480" cy="685800"/>
          </a:xfrm>
          <a:prstGeom prst="roundRect">
            <a:avLst>
              <a:gd name="adj" fmla="val 8000"/>
            </a:avLst>
          </a:prstGeom>
          <a:solidFill>
            <a:srgbClr val="FFFFFF"/>
          </a:solidFill>
          <a:ln w="16510">
            <a:solidFill>
              <a:srgbClr val="0A9B9B"/>
            </a:solidFill>
            <a:prstDash val="solid"/>
          </a:ln>
        </p:spPr>
      </p:sp>
      <p:sp>
        <p:nvSpPr>
          <p:cNvPr id="10" name="Text 8"/>
          <p:cNvSpPr/>
          <p:nvPr/>
        </p:nvSpPr>
        <p:spPr>
          <a:xfrm>
            <a:off x="914400" y="1645920"/>
            <a:ext cx="3474720" cy="164592"/>
          </a:xfrm>
          <a:prstGeom prst="rect">
            <a:avLst/>
          </a:prstGeom>
          <a:noFill/>
          <a:ln/>
        </p:spPr>
        <p:txBody>
          <a:bodyPr wrap="square" lIns="0" tIns="0" rIns="0" bIns="0" rtlCol="0" anchor="ctr">
            <a:normAutofit/>
          </a:bodyPr>
          <a:lstStyle/>
          <a:p>
            <a:pPr indent="0" marL="0">
              <a:buNone/>
            </a:pPr>
            <a:r>
              <a:rPr lang="en-US" sz="1250" b="1" dirty="0">
                <a:solidFill>
                  <a:srgbClr val="123452"/>
                </a:solidFill>
              </a:rPr>
              <a:t>Known operation?</a:t>
            </a:r>
            <a:endParaRPr lang="en-US" sz="1250" dirty="0"/>
          </a:p>
        </p:txBody>
      </p:sp>
      <p:sp>
        <p:nvSpPr>
          <p:cNvPr id="11" name="Shape 9"/>
          <p:cNvSpPr/>
          <p:nvPr/>
        </p:nvSpPr>
        <p:spPr>
          <a:xfrm>
            <a:off x="4572000" y="1764792"/>
            <a:ext cx="1005840" cy="0"/>
          </a:xfrm>
          <a:prstGeom prst="line">
            <a:avLst/>
          </a:prstGeom>
          <a:noFill/>
          <a:ln w="16510">
            <a:solidFill>
              <a:srgbClr val="D7E6F2"/>
            </a:solidFill>
            <a:prstDash val="solid"/>
            <a:tailEnd type="triangle"/>
          </a:ln>
        </p:spPr>
      </p:sp>
      <p:sp>
        <p:nvSpPr>
          <p:cNvPr id="12" name="Shape 10"/>
          <p:cNvSpPr/>
          <p:nvPr/>
        </p:nvSpPr>
        <p:spPr>
          <a:xfrm>
            <a:off x="5715000" y="1609344"/>
            <a:ext cx="1371600" cy="292608"/>
          </a:xfrm>
          <a:prstGeom prst="roundRect">
            <a:avLst>
              <a:gd name="adj" fmla="val 37500"/>
            </a:avLst>
          </a:prstGeom>
          <a:solidFill>
            <a:srgbClr val="0A9B9B">
              <a:alpha val="15000"/>
            </a:srgbClr>
          </a:solidFill>
          <a:ln w="10160">
            <a:solidFill>
              <a:srgbClr val="0A9B9B"/>
            </a:solidFill>
            <a:prstDash val="solid"/>
          </a:ln>
        </p:spPr>
      </p:sp>
      <p:sp>
        <p:nvSpPr>
          <p:cNvPr id="13" name="Text 11"/>
          <p:cNvSpPr/>
          <p:nvPr/>
        </p:nvSpPr>
        <p:spPr>
          <a:xfrm>
            <a:off x="5760720" y="1682496"/>
            <a:ext cx="1280160" cy="137160"/>
          </a:xfrm>
          <a:prstGeom prst="rect">
            <a:avLst/>
          </a:prstGeom>
          <a:noFill/>
          <a:ln/>
        </p:spPr>
        <p:txBody>
          <a:bodyPr wrap="square" lIns="0" tIns="0" rIns="0" bIns="0" rtlCol="0" anchor="ctr">
            <a:normAutofit/>
          </a:bodyPr>
          <a:lstStyle/>
          <a:p>
            <a:pPr algn="ctr" indent="0" marL="0">
              <a:buNone/>
            </a:pPr>
            <a:r>
              <a:rPr lang="en-US" sz="1100" b="1" dirty="0">
                <a:solidFill>
                  <a:srgbClr val="0A9B9B"/>
                </a:solidFill>
              </a:rPr>
              <a:t>API</a:t>
            </a:r>
            <a:endParaRPr lang="en-US" sz="1100" dirty="0"/>
          </a:p>
        </p:txBody>
      </p:sp>
      <p:sp>
        <p:nvSpPr>
          <p:cNvPr id="14" name="Shape 12"/>
          <p:cNvSpPr/>
          <p:nvPr/>
        </p:nvSpPr>
        <p:spPr>
          <a:xfrm>
            <a:off x="731520" y="2423160"/>
            <a:ext cx="3840480" cy="685800"/>
          </a:xfrm>
          <a:prstGeom prst="roundRect">
            <a:avLst>
              <a:gd name="adj" fmla="val 8000"/>
            </a:avLst>
          </a:prstGeom>
          <a:solidFill>
            <a:srgbClr val="FFFFFF"/>
          </a:solidFill>
          <a:ln w="16510">
            <a:solidFill>
              <a:srgbClr val="25A9C7"/>
            </a:solidFill>
            <a:prstDash val="solid"/>
          </a:ln>
        </p:spPr>
      </p:sp>
      <p:sp>
        <p:nvSpPr>
          <p:cNvPr id="15" name="Text 13"/>
          <p:cNvSpPr/>
          <p:nvPr/>
        </p:nvSpPr>
        <p:spPr>
          <a:xfrm>
            <a:off x="914400" y="2651760"/>
            <a:ext cx="3474720" cy="164592"/>
          </a:xfrm>
          <a:prstGeom prst="rect">
            <a:avLst/>
          </a:prstGeom>
          <a:noFill/>
          <a:ln/>
        </p:spPr>
        <p:txBody>
          <a:bodyPr wrap="square" lIns="0" tIns="0" rIns="0" bIns="0" rtlCol="0" anchor="ctr">
            <a:normAutofit/>
          </a:bodyPr>
          <a:lstStyle/>
          <a:p>
            <a:pPr indent="0" marL="0">
              <a:buNone/>
            </a:pPr>
            <a:r>
              <a:rPr lang="en-US" sz="1250" b="1" dirty="0">
                <a:solidFill>
                  <a:srgbClr val="123452"/>
                </a:solidFill>
              </a:rPr>
              <a:t>AI needs tools/context?</a:t>
            </a:r>
            <a:endParaRPr lang="en-US" sz="1250" dirty="0"/>
          </a:p>
        </p:txBody>
      </p:sp>
      <p:sp>
        <p:nvSpPr>
          <p:cNvPr id="16" name="Shape 14"/>
          <p:cNvSpPr/>
          <p:nvPr/>
        </p:nvSpPr>
        <p:spPr>
          <a:xfrm>
            <a:off x="4572000" y="2770632"/>
            <a:ext cx="1005840" cy="0"/>
          </a:xfrm>
          <a:prstGeom prst="line">
            <a:avLst/>
          </a:prstGeom>
          <a:noFill/>
          <a:ln w="16510">
            <a:solidFill>
              <a:srgbClr val="D7E6F2"/>
            </a:solidFill>
            <a:prstDash val="solid"/>
            <a:tailEnd type="triangle"/>
          </a:ln>
        </p:spPr>
      </p:sp>
      <p:sp>
        <p:nvSpPr>
          <p:cNvPr id="17" name="Shape 15"/>
          <p:cNvSpPr/>
          <p:nvPr/>
        </p:nvSpPr>
        <p:spPr>
          <a:xfrm>
            <a:off x="5715000" y="2615184"/>
            <a:ext cx="1371600" cy="292608"/>
          </a:xfrm>
          <a:prstGeom prst="roundRect">
            <a:avLst>
              <a:gd name="adj" fmla="val 37500"/>
            </a:avLst>
          </a:prstGeom>
          <a:solidFill>
            <a:srgbClr val="25A9C7">
              <a:alpha val="15000"/>
            </a:srgbClr>
          </a:solidFill>
          <a:ln w="10160">
            <a:solidFill>
              <a:srgbClr val="25A9C7"/>
            </a:solidFill>
            <a:prstDash val="solid"/>
          </a:ln>
        </p:spPr>
      </p:sp>
      <p:sp>
        <p:nvSpPr>
          <p:cNvPr id="18" name="Text 16"/>
          <p:cNvSpPr/>
          <p:nvPr/>
        </p:nvSpPr>
        <p:spPr>
          <a:xfrm>
            <a:off x="5760720" y="2688336"/>
            <a:ext cx="1280160" cy="137160"/>
          </a:xfrm>
          <a:prstGeom prst="rect">
            <a:avLst/>
          </a:prstGeom>
          <a:noFill/>
          <a:ln/>
        </p:spPr>
        <p:txBody>
          <a:bodyPr wrap="square" lIns="0" tIns="0" rIns="0" bIns="0" rtlCol="0" anchor="ctr">
            <a:normAutofit/>
          </a:bodyPr>
          <a:lstStyle/>
          <a:p>
            <a:pPr algn="ctr" indent="0" marL="0">
              <a:buNone/>
            </a:pPr>
            <a:r>
              <a:rPr lang="en-US" sz="1100" b="1" dirty="0">
                <a:solidFill>
                  <a:srgbClr val="25A9C7"/>
                </a:solidFill>
              </a:rPr>
              <a:t>MCP</a:t>
            </a:r>
            <a:endParaRPr lang="en-US" sz="1100" dirty="0"/>
          </a:p>
        </p:txBody>
      </p:sp>
      <p:sp>
        <p:nvSpPr>
          <p:cNvPr id="19" name="Shape 17"/>
          <p:cNvSpPr/>
          <p:nvPr/>
        </p:nvSpPr>
        <p:spPr>
          <a:xfrm>
            <a:off x="731520" y="3429000"/>
            <a:ext cx="3840480" cy="685800"/>
          </a:xfrm>
          <a:prstGeom prst="roundRect">
            <a:avLst>
              <a:gd name="adj" fmla="val 8000"/>
            </a:avLst>
          </a:prstGeom>
          <a:solidFill>
            <a:srgbClr val="FFFFFF"/>
          </a:solidFill>
          <a:ln w="16510">
            <a:solidFill>
              <a:srgbClr val="446CA8"/>
            </a:solidFill>
            <a:prstDash val="solid"/>
          </a:ln>
        </p:spPr>
      </p:sp>
      <p:sp>
        <p:nvSpPr>
          <p:cNvPr id="20" name="Text 18"/>
          <p:cNvSpPr/>
          <p:nvPr/>
        </p:nvSpPr>
        <p:spPr>
          <a:xfrm>
            <a:off x="914400" y="3657600"/>
            <a:ext cx="3474720" cy="164592"/>
          </a:xfrm>
          <a:prstGeom prst="rect">
            <a:avLst/>
          </a:prstGeom>
          <a:noFill/>
          <a:ln/>
        </p:spPr>
        <p:txBody>
          <a:bodyPr wrap="square" lIns="0" tIns="0" rIns="0" bIns="0" rtlCol="0" anchor="ctr">
            <a:normAutofit/>
          </a:bodyPr>
          <a:lstStyle/>
          <a:p>
            <a:pPr indent="0" marL="0">
              <a:buNone/>
            </a:pPr>
            <a:r>
              <a:rPr lang="en-US" sz="1250" b="1" dirty="0">
                <a:solidFill>
                  <a:srgbClr val="123452"/>
                </a:solidFill>
              </a:rPr>
              <a:t>Independent agent owns work?</a:t>
            </a:r>
            <a:endParaRPr lang="en-US" sz="1250" dirty="0"/>
          </a:p>
        </p:txBody>
      </p:sp>
      <p:sp>
        <p:nvSpPr>
          <p:cNvPr id="21" name="Shape 19"/>
          <p:cNvSpPr/>
          <p:nvPr/>
        </p:nvSpPr>
        <p:spPr>
          <a:xfrm>
            <a:off x="4572000" y="3776472"/>
            <a:ext cx="1005840" cy="0"/>
          </a:xfrm>
          <a:prstGeom prst="line">
            <a:avLst/>
          </a:prstGeom>
          <a:noFill/>
          <a:ln w="16510">
            <a:solidFill>
              <a:srgbClr val="D7E6F2"/>
            </a:solidFill>
            <a:prstDash val="solid"/>
            <a:tailEnd type="triangle"/>
          </a:ln>
        </p:spPr>
      </p:sp>
      <p:sp>
        <p:nvSpPr>
          <p:cNvPr id="22" name="Shape 20"/>
          <p:cNvSpPr/>
          <p:nvPr/>
        </p:nvSpPr>
        <p:spPr>
          <a:xfrm>
            <a:off x="5715000" y="3621024"/>
            <a:ext cx="1371600" cy="292608"/>
          </a:xfrm>
          <a:prstGeom prst="roundRect">
            <a:avLst>
              <a:gd name="adj" fmla="val 37500"/>
            </a:avLst>
          </a:prstGeom>
          <a:solidFill>
            <a:srgbClr val="446CA8">
              <a:alpha val="15000"/>
            </a:srgbClr>
          </a:solidFill>
          <a:ln w="10160">
            <a:solidFill>
              <a:srgbClr val="446CA8"/>
            </a:solidFill>
            <a:prstDash val="solid"/>
          </a:ln>
        </p:spPr>
      </p:sp>
      <p:sp>
        <p:nvSpPr>
          <p:cNvPr id="23" name="Text 21"/>
          <p:cNvSpPr/>
          <p:nvPr/>
        </p:nvSpPr>
        <p:spPr>
          <a:xfrm>
            <a:off x="5760720" y="3694176"/>
            <a:ext cx="1280160" cy="137160"/>
          </a:xfrm>
          <a:prstGeom prst="rect">
            <a:avLst/>
          </a:prstGeom>
          <a:noFill/>
          <a:ln/>
        </p:spPr>
        <p:txBody>
          <a:bodyPr wrap="square" lIns="0" tIns="0" rIns="0" bIns="0" rtlCol="0" anchor="ctr">
            <a:normAutofit/>
          </a:bodyPr>
          <a:lstStyle/>
          <a:p>
            <a:pPr algn="ctr" indent="0" marL="0">
              <a:buNone/>
            </a:pPr>
            <a:r>
              <a:rPr lang="en-US" sz="1100" b="1" dirty="0">
                <a:solidFill>
                  <a:srgbClr val="446CA8"/>
                </a:solidFill>
              </a:rPr>
              <a:t>A2A</a:t>
            </a:r>
            <a:endParaRPr lang="en-US" sz="1100" dirty="0"/>
          </a:p>
        </p:txBody>
      </p:sp>
      <p:sp>
        <p:nvSpPr>
          <p:cNvPr id="24" name="Shape 22"/>
          <p:cNvSpPr/>
          <p:nvPr/>
        </p:nvSpPr>
        <p:spPr>
          <a:xfrm>
            <a:off x="731520" y="4434840"/>
            <a:ext cx="3840480" cy="685800"/>
          </a:xfrm>
          <a:prstGeom prst="roundRect">
            <a:avLst>
              <a:gd name="adj" fmla="val 8000"/>
            </a:avLst>
          </a:prstGeom>
          <a:solidFill>
            <a:srgbClr val="FFFFFF"/>
          </a:solidFill>
          <a:ln w="16510">
            <a:solidFill>
              <a:srgbClr val="D99A3D"/>
            </a:solidFill>
            <a:prstDash val="solid"/>
          </a:ln>
        </p:spPr>
      </p:sp>
      <p:sp>
        <p:nvSpPr>
          <p:cNvPr id="25" name="Text 23"/>
          <p:cNvSpPr/>
          <p:nvPr/>
        </p:nvSpPr>
        <p:spPr>
          <a:xfrm>
            <a:off x="914400" y="4663440"/>
            <a:ext cx="3474720" cy="164592"/>
          </a:xfrm>
          <a:prstGeom prst="rect">
            <a:avLst/>
          </a:prstGeom>
          <a:noFill/>
          <a:ln/>
        </p:spPr>
        <p:txBody>
          <a:bodyPr wrap="square" lIns="0" tIns="0" rIns="0" bIns="0" rtlCol="0" anchor="ctr">
            <a:normAutofit/>
          </a:bodyPr>
          <a:lstStyle/>
          <a:p>
            <a:pPr indent="0" marL="0">
              <a:buNone/>
            </a:pPr>
            <a:r>
              <a:rPr lang="en-US" sz="1250" b="1" dirty="0">
                <a:solidFill>
                  <a:srgbClr val="123452"/>
                </a:solidFill>
              </a:rPr>
              <a:t>Multiple layers?</a:t>
            </a:r>
            <a:endParaRPr lang="en-US" sz="1250" dirty="0"/>
          </a:p>
        </p:txBody>
      </p:sp>
      <p:sp>
        <p:nvSpPr>
          <p:cNvPr id="26" name="Shape 24"/>
          <p:cNvSpPr/>
          <p:nvPr/>
        </p:nvSpPr>
        <p:spPr>
          <a:xfrm>
            <a:off x="5715000" y="4626864"/>
            <a:ext cx="1371600" cy="292608"/>
          </a:xfrm>
          <a:prstGeom prst="roundRect">
            <a:avLst>
              <a:gd name="adj" fmla="val 37500"/>
            </a:avLst>
          </a:prstGeom>
          <a:solidFill>
            <a:srgbClr val="D99A3D">
              <a:alpha val="15000"/>
            </a:srgbClr>
          </a:solidFill>
          <a:ln w="10160">
            <a:solidFill>
              <a:srgbClr val="D99A3D"/>
            </a:solidFill>
            <a:prstDash val="solid"/>
          </a:ln>
        </p:spPr>
      </p:sp>
      <p:sp>
        <p:nvSpPr>
          <p:cNvPr id="27" name="Text 25"/>
          <p:cNvSpPr/>
          <p:nvPr/>
        </p:nvSpPr>
        <p:spPr>
          <a:xfrm>
            <a:off x="5760720" y="4700016"/>
            <a:ext cx="1280160" cy="137160"/>
          </a:xfrm>
          <a:prstGeom prst="rect">
            <a:avLst/>
          </a:prstGeom>
          <a:noFill/>
          <a:ln/>
        </p:spPr>
        <p:txBody>
          <a:bodyPr wrap="square" lIns="0" tIns="0" rIns="0" bIns="0" rtlCol="0" anchor="ctr">
            <a:normAutofit/>
          </a:bodyPr>
          <a:lstStyle/>
          <a:p>
            <a:pPr algn="ctr" indent="0" marL="0">
              <a:buNone/>
            </a:pPr>
            <a:r>
              <a:rPr lang="en-US" sz="1100" b="1" dirty="0">
                <a:solidFill>
                  <a:srgbClr val="D99A3D"/>
                </a:solidFill>
              </a:rPr>
              <a:t>Hybrid</a:t>
            </a:r>
            <a:endParaRPr lang="en-US" sz="1100" dirty="0"/>
          </a:p>
        </p:txBody>
      </p:sp>
      <p:sp>
        <p:nvSpPr>
          <p:cNvPr id="28" name="Shape 26"/>
          <p:cNvSpPr/>
          <p:nvPr/>
        </p:nvSpPr>
        <p:spPr>
          <a:xfrm>
            <a:off x="7543800" y="1417320"/>
            <a:ext cx="3566160" cy="1051560"/>
          </a:xfrm>
          <a:prstGeom prst="roundRect">
            <a:avLst>
              <a:gd name="adj" fmla="val 4348"/>
            </a:avLst>
          </a:prstGeom>
          <a:solidFill>
            <a:srgbClr val="F7FBFE"/>
          </a:solidFill>
          <a:ln w="12700">
            <a:solidFill>
              <a:srgbClr val="123452"/>
            </a:solidFill>
            <a:prstDash val="solid"/>
          </a:ln>
        </p:spPr>
      </p:sp>
      <p:sp>
        <p:nvSpPr>
          <p:cNvPr id="29" name="Shape 27"/>
          <p:cNvSpPr/>
          <p:nvPr/>
        </p:nvSpPr>
        <p:spPr>
          <a:xfrm>
            <a:off x="7543800" y="1417320"/>
            <a:ext cx="73152" cy="1051560"/>
          </a:xfrm>
          <a:prstGeom prst="rect">
            <a:avLst/>
          </a:prstGeom>
          <a:solidFill>
            <a:srgbClr val="123452"/>
          </a:solidFill>
          <a:ln w="12700">
            <a:solidFill>
              <a:srgbClr val="123452"/>
            </a:solidFill>
            <a:prstDash val="solid"/>
          </a:ln>
        </p:spPr>
      </p:sp>
      <p:sp>
        <p:nvSpPr>
          <p:cNvPr id="30" name="Text 28"/>
          <p:cNvSpPr/>
          <p:nvPr/>
        </p:nvSpPr>
        <p:spPr>
          <a:xfrm>
            <a:off x="7708392" y="1545336"/>
            <a:ext cx="331012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Step 1</a:t>
            </a:r>
            <a:endParaRPr lang="en-US" sz="1300" dirty="0"/>
          </a:p>
        </p:txBody>
      </p:sp>
      <p:sp>
        <p:nvSpPr>
          <p:cNvPr id="31" name="Text 29"/>
          <p:cNvSpPr/>
          <p:nvPr/>
        </p:nvSpPr>
        <p:spPr>
          <a:xfrm>
            <a:off x="7708392" y="1874520"/>
            <a:ext cx="3310128" cy="484632"/>
          </a:xfrm>
          <a:prstGeom prst="rect">
            <a:avLst/>
          </a:prstGeom>
          <a:noFill/>
          <a:ln/>
        </p:spPr>
        <p:txBody>
          <a:bodyPr wrap="square" lIns="254" tIns="254" rIns="254" bIns="254" rtlCol="0" anchor="t">
            <a:normAutofit/>
          </a:bodyPr>
          <a:lstStyle/>
          <a:p>
            <a:pPr indent="0" marL="0">
              <a:buNone/>
            </a:pPr>
            <a:r>
              <a:rPr lang="en-US" sz="1130" dirty="0">
                <a:solidFill>
                  <a:srgbClr val="1F2A37"/>
                </a:solidFill>
              </a:rPr>
              <a:t>Define the boundary and actor: service, tool/resource, or agent.</a:t>
            </a:r>
            <a:endParaRPr lang="en-US" sz="1130" dirty="0"/>
          </a:p>
        </p:txBody>
      </p:sp>
      <p:sp>
        <p:nvSpPr>
          <p:cNvPr id="32" name="Shape 30"/>
          <p:cNvSpPr/>
          <p:nvPr/>
        </p:nvSpPr>
        <p:spPr>
          <a:xfrm>
            <a:off x="7543800" y="2788920"/>
            <a:ext cx="3566160" cy="1051560"/>
          </a:xfrm>
          <a:prstGeom prst="roundRect">
            <a:avLst>
              <a:gd name="adj" fmla="val 4348"/>
            </a:avLst>
          </a:prstGeom>
          <a:solidFill>
            <a:srgbClr val="F7FBFE"/>
          </a:solidFill>
          <a:ln w="12700">
            <a:solidFill>
              <a:srgbClr val="123452"/>
            </a:solidFill>
            <a:prstDash val="solid"/>
          </a:ln>
        </p:spPr>
      </p:sp>
      <p:sp>
        <p:nvSpPr>
          <p:cNvPr id="33" name="Shape 31"/>
          <p:cNvSpPr/>
          <p:nvPr/>
        </p:nvSpPr>
        <p:spPr>
          <a:xfrm>
            <a:off x="7543800" y="2788920"/>
            <a:ext cx="73152" cy="1051560"/>
          </a:xfrm>
          <a:prstGeom prst="rect">
            <a:avLst/>
          </a:prstGeom>
          <a:solidFill>
            <a:srgbClr val="123452"/>
          </a:solidFill>
          <a:ln w="12700">
            <a:solidFill>
              <a:srgbClr val="123452"/>
            </a:solidFill>
            <a:prstDash val="solid"/>
          </a:ln>
        </p:spPr>
      </p:sp>
      <p:sp>
        <p:nvSpPr>
          <p:cNvPr id="34" name="Text 32"/>
          <p:cNvSpPr/>
          <p:nvPr/>
        </p:nvSpPr>
        <p:spPr>
          <a:xfrm>
            <a:off x="7708392" y="2916936"/>
            <a:ext cx="331012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Step 2</a:t>
            </a:r>
            <a:endParaRPr lang="en-US" sz="1300" dirty="0"/>
          </a:p>
        </p:txBody>
      </p:sp>
      <p:sp>
        <p:nvSpPr>
          <p:cNvPr id="35" name="Text 33"/>
          <p:cNvSpPr/>
          <p:nvPr/>
        </p:nvSpPr>
        <p:spPr>
          <a:xfrm>
            <a:off x="7708392" y="3246120"/>
            <a:ext cx="3310128" cy="484632"/>
          </a:xfrm>
          <a:prstGeom prst="rect">
            <a:avLst/>
          </a:prstGeom>
          <a:noFill/>
          <a:ln/>
        </p:spPr>
        <p:txBody>
          <a:bodyPr wrap="square" lIns="254" tIns="254" rIns="254" bIns="254" rtlCol="0" anchor="t">
            <a:normAutofit/>
          </a:bodyPr>
          <a:lstStyle/>
          <a:p>
            <a:pPr indent="0" marL="0">
              <a:buNone/>
            </a:pPr>
            <a:r>
              <a:rPr lang="en-US" sz="1130" dirty="0">
                <a:solidFill>
                  <a:srgbClr val="1F2A37"/>
                </a:solidFill>
              </a:rPr>
              <a:t>Choose the least autonomous sufficient interface.</a:t>
            </a:r>
            <a:endParaRPr lang="en-US" sz="1130" dirty="0"/>
          </a:p>
        </p:txBody>
      </p:sp>
      <p:sp>
        <p:nvSpPr>
          <p:cNvPr id="36" name="Shape 34"/>
          <p:cNvSpPr/>
          <p:nvPr/>
        </p:nvSpPr>
        <p:spPr>
          <a:xfrm>
            <a:off x="7543800" y="4160520"/>
            <a:ext cx="3566160" cy="1051560"/>
          </a:xfrm>
          <a:prstGeom prst="roundRect">
            <a:avLst>
              <a:gd name="adj" fmla="val 4348"/>
            </a:avLst>
          </a:prstGeom>
          <a:solidFill>
            <a:srgbClr val="F7FBFE"/>
          </a:solidFill>
          <a:ln w="12700">
            <a:solidFill>
              <a:srgbClr val="123452"/>
            </a:solidFill>
            <a:prstDash val="solid"/>
          </a:ln>
        </p:spPr>
      </p:sp>
      <p:sp>
        <p:nvSpPr>
          <p:cNvPr id="37" name="Shape 35"/>
          <p:cNvSpPr/>
          <p:nvPr/>
        </p:nvSpPr>
        <p:spPr>
          <a:xfrm>
            <a:off x="7543800" y="4160520"/>
            <a:ext cx="73152" cy="1051560"/>
          </a:xfrm>
          <a:prstGeom prst="rect">
            <a:avLst/>
          </a:prstGeom>
          <a:solidFill>
            <a:srgbClr val="123452"/>
          </a:solidFill>
          <a:ln w="12700">
            <a:solidFill>
              <a:srgbClr val="123452"/>
            </a:solidFill>
            <a:prstDash val="solid"/>
          </a:ln>
        </p:spPr>
      </p:sp>
      <p:sp>
        <p:nvSpPr>
          <p:cNvPr id="38" name="Text 36"/>
          <p:cNvSpPr/>
          <p:nvPr/>
        </p:nvSpPr>
        <p:spPr>
          <a:xfrm>
            <a:off x="7708392" y="4288536"/>
            <a:ext cx="3310128" cy="228600"/>
          </a:xfrm>
          <a:prstGeom prst="rect">
            <a:avLst/>
          </a:prstGeom>
          <a:noFill/>
          <a:ln/>
        </p:spPr>
        <p:txBody>
          <a:bodyPr wrap="square" lIns="0" tIns="0" rIns="0" bIns="0" rtlCol="0" anchor="ctr">
            <a:normAutofit/>
          </a:bodyPr>
          <a:lstStyle/>
          <a:p>
            <a:pPr indent="0" marL="0">
              <a:buNone/>
            </a:pPr>
            <a:r>
              <a:rPr lang="en-US" sz="1300" b="1" dirty="0">
                <a:solidFill>
                  <a:srgbClr val="123452"/>
                </a:solidFill>
              </a:rPr>
              <a:t>Step 3</a:t>
            </a:r>
            <a:endParaRPr lang="en-US" sz="1300" dirty="0"/>
          </a:p>
        </p:txBody>
      </p:sp>
      <p:sp>
        <p:nvSpPr>
          <p:cNvPr id="39" name="Text 37"/>
          <p:cNvSpPr/>
          <p:nvPr/>
        </p:nvSpPr>
        <p:spPr>
          <a:xfrm>
            <a:off x="7708392" y="4617720"/>
            <a:ext cx="3310128" cy="484632"/>
          </a:xfrm>
          <a:prstGeom prst="rect">
            <a:avLst/>
          </a:prstGeom>
          <a:noFill/>
          <a:ln/>
        </p:spPr>
        <p:txBody>
          <a:bodyPr wrap="square" lIns="254" tIns="254" rIns="254" bIns="254" rtlCol="0" anchor="t">
            <a:normAutofit/>
          </a:bodyPr>
          <a:lstStyle/>
          <a:p>
            <a:pPr indent="0" marL="0">
              <a:buNone/>
            </a:pPr>
            <a:r>
              <a:rPr lang="en-US" sz="1130" dirty="0">
                <a:solidFill>
                  <a:srgbClr val="1F2A37"/>
                </a:solidFill>
              </a:rPr>
              <a:t>Add controls matching the protocol’s risk surface.</a:t>
            </a:r>
            <a:endParaRPr lang="en-US" sz="113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123452"/>
          </a:solidFill>
          <a:ln w="12700">
            <a:solidFill>
              <a:srgbClr val="12345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123452"/>
                </a:solidFill>
                <a:latin typeface="Aptos" pitchFamily="34" charset="0"/>
                <a:ea typeface="Aptos" pitchFamily="34" charset="-122"/>
                <a:cs typeface="Aptos" pitchFamily="34" charset="-120"/>
              </a:rPr>
              <a:t>CLOSE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Top takeaways: protocols are complementary layers, not a hierarchy of “new beats old”</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51</a:t>
            </a:r>
            <a:endParaRPr lang="en-US" sz="800" dirty="0"/>
          </a:p>
        </p:txBody>
      </p:sp>
      <p:sp>
        <p:nvSpPr>
          <p:cNvPr id="9" name="Shape 7"/>
          <p:cNvSpPr/>
          <p:nvPr/>
        </p:nvSpPr>
        <p:spPr>
          <a:xfrm>
            <a:off x="685800" y="1325880"/>
            <a:ext cx="502920" cy="502920"/>
          </a:xfrm>
          <a:prstGeom prst="roundRect">
            <a:avLst>
              <a:gd name="adj" fmla="val 14545"/>
            </a:avLst>
          </a:prstGeom>
          <a:solidFill>
            <a:srgbClr val="0A9B9B"/>
          </a:solidFill>
          <a:ln w="12700">
            <a:solidFill>
              <a:srgbClr val="0A9B9B"/>
            </a:solidFill>
            <a:prstDash val="solid"/>
          </a:ln>
        </p:spPr>
      </p:sp>
      <p:sp>
        <p:nvSpPr>
          <p:cNvPr id="10" name="Text 8"/>
          <p:cNvSpPr/>
          <p:nvPr/>
        </p:nvSpPr>
        <p:spPr>
          <a:xfrm>
            <a:off x="804672" y="1435608"/>
            <a:ext cx="256032" cy="1554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9"/>
          <p:cNvSpPr/>
          <p:nvPr/>
        </p:nvSpPr>
        <p:spPr>
          <a:xfrm>
            <a:off x="1417320" y="1453896"/>
            <a:ext cx="9875520" cy="228600"/>
          </a:xfrm>
          <a:prstGeom prst="rect">
            <a:avLst/>
          </a:prstGeom>
          <a:noFill/>
          <a:ln/>
        </p:spPr>
        <p:txBody>
          <a:bodyPr wrap="square" lIns="0" tIns="0" rIns="0" bIns="0" rtlCol="0" anchor="ctr">
            <a:normAutofit/>
          </a:bodyPr>
          <a:lstStyle/>
          <a:p>
            <a:pPr indent="0" marL="0">
              <a:buNone/>
            </a:pPr>
            <a:r>
              <a:rPr lang="en-US" sz="1450" dirty="0">
                <a:solidFill>
                  <a:srgbClr val="1F2A37"/>
                </a:solidFill>
              </a:rPr>
              <a:t>APIs remain the foundation for stable business capabilities and deterministic service boundaries.</a:t>
            </a:r>
            <a:endParaRPr lang="en-US" sz="1450" dirty="0"/>
          </a:p>
        </p:txBody>
      </p:sp>
      <p:sp>
        <p:nvSpPr>
          <p:cNvPr id="12" name="Shape 10"/>
          <p:cNvSpPr/>
          <p:nvPr/>
        </p:nvSpPr>
        <p:spPr>
          <a:xfrm>
            <a:off x="685800" y="2194560"/>
            <a:ext cx="502920" cy="502920"/>
          </a:xfrm>
          <a:prstGeom prst="roundRect">
            <a:avLst>
              <a:gd name="adj" fmla="val 14545"/>
            </a:avLst>
          </a:prstGeom>
          <a:solidFill>
            <a:srgbClr val="25A9C7"/>
          </a:solidFill>
          <a:ln w="12700">
            <a:solidFill>
              <a:srgbClr val="25A9C7"/>
            </a:solidFill>
            <a:prstDash val="solid"/>
          </a:ln>
        </p:spPr>
      </p:sp>
      <p:sp>
        <p:nvSpPr>
          <p:cNvPr id="13" name="Text 11"/>
          <p:cNvSpPr/>
          <p:nvPr/>
        </p:nvSpPr>
        <p:spPr>
          <a:xfrm>
            <a:off x="804672" y="2304288"/>
            <a:ext cx="256032" cy="1554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1417320" y="2322576"/>
            <a:ext cx="9875520" cy="228600"/>
          </a:xfrm>
          <a:prstGeom prst="rect">
            <a:avLst/>
          </a:prstGeom>
          <a:noFill/>
          <a:ln/>
        </p:spPr>
        <p:txBody>
          <a:bodyPr wrap="square" lIns="0" tIns="0" rIns="0" bIns="0" rtlCol="0" anchor="ctr">
            <a:normAutofit/>
          </a:bodyPr>
          <a:lstStyle/>
          <a:p>
            <a:pPr indent="0" marL="0">
              <a:buNone/>
            </a:pPr>
            <a:r>
              <a:rPr lang="en-US" sz="1450" dirty="0">
                <a:solidFill>
                  <a:srgbClr val="1F2A37"/>
                </a:solidFill>
              </a:rPr>
              <a:t>MCP standardizes how AI applications discover and use tools, resources, and prompts.</a:t>
            </a:r>
            <a:endParaRPr lang="en-US" sz="1450" dirty="0"/>
          </a:p>
        </p:txBody>
      </p:sp>
      <p:sp>
        <p:nvSpPr>
          <p:cNvPr id="15" name="Shape 13"/>
          <p:cNvSpPr/>
          <p:nvPr/>
        </p:nvSpPr>
        <p:spPr>
          <a:xfrm>
            <a:off x="685800" y="3063240"/>
            <a:ext cx="502920" cy="502920"/>
          </a:xfrm>
          <a:prstGeom prst="roundRect">
            <a:avLst>
              <a:gd name="adj" fmla="val 14545"/>
            </a:avLst>
          </a:prstGeom>
          <a:solidFill>
            <a:srgbClr val="446CA8"/>
          </a:solidFill>
          <a:ln w="12700">
            <a:solidFill>
              <a:srgbClr val="446CA8"/>
            </a:solidFill>
            <a:prstDash val="solid"/>
          </a:ln>
        </p:spPr>
      </p:sp>
      <p:sp>
        <p:nvSpPr>
          <p:cNvPr id="16" name="Text 14"/>
          <p:cNvSpPr/>
          <p:nvPr/>
        </p:nvSpPr>
        <p:spPr>
          <a:xfrm>
            <a:off x="804672" y="3172968"/>
            <a:ext cx="256032" cy="1554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p:nvPr/>
        </p:nvSpPr>
        <p:spPr>
          <a:xfrm>
            <a:off x="1417320" y="3191256"/>
            <a:ext cx="9875520" cy="228600"/>
          </a:xfrm>
          <a:prstGeom prst="rect">
            <a:avLst/>
          </a:prstGeom>
          <a:noFill/>
          <a:ln/>
        </p:spPr>
        <p:txBody>
          <a:bodyPr wrap="square" lIns="0" tIns="0" rIns="0" bIns="0" rtlCol="0" anchor="ctr">
            <a:normAutofit/>
          </a:bodyPr>
          <a:lstStyle/>
          <a:p>
            <a:pPr indent="0" marL="0">
              <a:buNone/>
            </a:pPr>
            <a:r>
              <a:rPr lang="en-US" sz="1450" dirty="0">
                <a:solidFill>
                  <a:srgbClr val="1F2A37"/>
                </a:solidFill>
              </a:rPr>
              <a:t>A2A standardizes peer collaboration between opaque, autonomous agents with task and artifact semantics.</a:t>
            </a:r>
            <a:endParaRPr lang="en-US" sz="1450" dirty="0"/>
          </a:p>
        </p:txBody>
      </p:sp>
      <p:sp>
        <p:nvSpPr>
          <p:cNvPr id="18" name="Shape 16"/>
          <p:cNvSpPr/>
          <p:nvPr/>
        </p:nvSpPr>
        <p:spPr>
          <a:xfrm>
            <a:off x="685800" y="3931920"/>
            <a:ext cx="502920" cy="502920"/>
          </a:xfrm>
          <a:prstGeom prst="roundRect">
            <a:avLst>
              <a:gd name="adj" fmla="val 14545"/>
            </a:avLst>
          </a:prstGeom>
          <a:solidFill>
            <a:srgbClr val="D99A3D"/>
          </a:solidFill>
          <a:ln w="12700">
            <a:solidFill>
              <a:srgbClr val="D99A3D"/>
            </a:solidFill>
            <a:prstDash val="solid"/>
          </a:ln>
        </p:spPr>
      </p:sp>
      <p:sp>
        <p:nvSpPr>
          <p:cNvPr id="19" name="Text 17"/>
          <p:cNvSpPr/>
          <p:nvPr/>
        </p:nvSpPr>
        <p:spPr>
          <a:xfrm>
            <a:off x="804672" y="4041648"/>
            <a:ext cx="256032" cy="1554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8"/>
          <p:cNvSpPr/>
          <p:nvPr/>
        </p:nvSpPr>
        <p:spPr>
          <a:xfrm>
            <a:off x="1417320" y="4059936"/>
            <a:ext cx="9875520" cy="228600"/>
          </a:xfrm>
          <a:prstGeom prst="rect">
            <a:avLst/>
          </a:prstGeom>
          <a:noFill/>
          <a:ln/>
        </p:spPr>
        <p:txBody>
          <a:bodyPr wrap="square" lIns="0" tIns="0" rIns="0" bIns="0" rtlCol="0" anchor="ctr">
            <a:normAutofit/>
          </a:bodyPr>
          <a:lstStyle/>
          <a:p>
            <a:pPr indent="0" marL="0">
              <a:buNone/>
            </a:pPr>
            <a:r>
              <a:rPr lang="en-US" sz="1450" dirty="0">
                <a:solidFill>
                  <a:srgbClr val="1F2A37"/>
                </a:solidFill>
              </a:rPr>
              <a:t>Hybrid systems are natural: A2A outside, MCP inside, APIs underneath.</a:t>
            </a:r>
            <a:endParaRPr lang="en-US" sz="1450" dirty="0"/>
          </a:p>
        </p:txBody>
      </p:sp>
      <p:sp>
        <p:nvSpPr>
          <p:cNvPr id="21" name="Shape 19"/>
          <p:cNvSpPr/>
          <p:nvPr/>
        </p:nvSpPr>
        <p:spPr>
          <a:xfrm>
            <a:off x="685800" y="4800600"/>
            <a:ext cx="502920" cy="502920"/>
          </a:xfrm>
          <a:prstGeom prst="roundRect">
            <a:avLst>
              <a:gd name="adj" fmla="val 14545"/>
            </a:avLst>
          </a:prstGeom>
          <a:solidFill>
            <a:srgbClr val="123452"/>
          </a:solidFill>
          <a:ln w="12700">
            <a:solidFill>
              <a:srgbClr val="123452"/>
            </a:solidFill>
            <a:prstDash val="solid"/>
          </a:ln>
        </p:spPr>
      </p:sp>
      <p:sp>
        <p:nvSpPr>
          <p:cNvPr id="22" name="Text 20"/>
          <p:cNvSpPr/>
          <p:nvPr/>
        </p:nvSpPr>
        <p:spPr>
          <a:xfrm>
            <a:off x="804672" y="4910328"/>
            <a:ext cx="256032" cy="1554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21"/>
          <p:cNvSpPr/>
          <p:nvPr/>
        </p:nvSpPr>
        <p:spPr>
          <a:xfrm>
            <a:off x="1417320" y="4928616"/>
            <a:ext cx="9875520" cy="228600"/>
          </a:xfrm>
          <a:prstGeom prst="rect">
            <a:avLst/>
          </a:prstGeom>
          <a:noFill/>
          <a:ln/>
        </p:spPr>
        <p:txBody>
          <a:bodyPr wrap="square" lIns="0" tIns="0" rIns="0" bIns="0" rtlCol="0" anchor="ctr">
            <a:normAutofit/>
          </a:bodyPr>
          <a:lstStyle/>
          <a:p>
            <a:pPr indent="0" marL="0">
              <a:buNone/>
            </a:pPr>
            <a:r>
              <a:rPr lang="en-US" sz="1450" dirty="0">
                <a:solidFill>
                  <a:srgbClr val="1F2A37"/>
                </a:solidFill>
              </a:rPr>
              <a:t>The right choice is the least autonomous protocol that delivers the outcome with acceptable governance.</a:t>
            </a:r>
            <a:endParaRPr lang="en-US" sz="14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5448" cy="6858000"/>
          </a:xfrm>
          <a:prstGeom prst="rect">
            <a:avLst/>
          </a:prstGeom>
          <a:solidFill>
            <a:srgbClr val="123452"/>
          </a:solidFill>
          <a:ln w="12700">
            <a:solidFill>
              <a:srgbClr val="123452"/>
            </a:solidFill>
            <a:prstDash val="solid"/>
          </a:ln>
        </p:spPr>
      </p:sp>
      <p:sp>
        <p:nvSpPr>
          <p:cNvPr id="3" name="Text 1"/>
          <p:cNvSpPr/>
          <p:nvPr/>
        </p:nvSpPr>
        <p:spPr>
          <a:xfrm>
            <a:off x="384048" y="164592"/>
            <a:ext cx="2926080" cy="228600"/>
          </a:xfrm>
          <a:prstGeom prst="rect">
            <a:avLst/>
          </a:prstGeom>
          <a:noFill/>
          <a:ln/>
        </p:spPr>
        <p:txBody>
          <a:bodyPr wrap="square" rtlCol="0" anchor="ctr"/>
          <a:lstStyle/>
          <a:p>
            <a:pPr indent="0" marL="0">
              <a:buNone/>
            </a:pPr>
            <a:r>
              <a:rPr lang="en-US" sz="850" b="1" dirty="0">
                <a:solidFill>
                  <a:srgbClr val="123452"/>
                </a:solidFill>
                <a:latin typeface="Aptos" pitchFamily="34" charset="0"/>
                <a:ea typeface="Aptos" pitchFamily="34" charset="-122"/>
                <a:cs typeface="Aptos" pitchFamily="34" charset="-120"/>
              </a:rPr>
              <a:t>CLOSE</a:t>
            </a:r>
            <a:endParaRPr lang="en-US" sz="850" dirty="0"/>
          </a:p>
        </p:txBody>
      </p:sp>
      <p:sp>
        <p:nvSpPr>
          <p:cNvPr id="4" name="Text 2"/>
          <p:cNvSpPr/>
          <p:nvPr/>
        </p:nvSpPr>
        <p:spPr>
          <a:xfrm>
            <a:off x="384048" y="438912"/>
            <a:ext cx="11018520" cy="603504"/>
          </a:xfrm>
          <a:prstGeom prst="rect">
            <a:avLst/>
          </a:prstGeom>
          <a:noFill/>
          <a:ln/>
        </p:spPr>
        <p:txBody>
          <a:bodyPr wrap="square" lIns="0" tIns="0" rIns="0" bIns="0" rtlCol="0" anchor="ctr">
            <a:normAutofit/>
          </a:bodyPr>
          <a:lstStyle/>
          <a:p>
            <a:pPr indent="0" marL="0">
              <a:buNone/>
            </a:pPr>
            <a:r>
              <a:rPr lang="en-US" sz="2400" b="1" dirty="0">
                <a:solidFill>
                  <a:srgbClr val="123452"/>
                </a:solidFill>
                <a:latin typeface="Aptos Display" pitchFamily="34" charset="0"/>
                <a:ea typeface="Aptos Display" pitchFamily="34" charset="-122"/>
                <a:cs typeface="Aptos Display" pitchFamily="34" charset="-120"/>
              </a:rPr>
              <a:t>Selected sources used for protocol accuracy and terminology</a:t>
            </a:r>
            <a:endParaRPr lang="en-US" sz="2400" dirty="0"/>
          </a:p>
        </p:txBody>
      </p:sp>
      <p:sp>
        <p:nvSpPr>
          <p:cNvPr id="5" name="Shape 3"/>
          <p:cNvSpPr/>
          <p:nvPr/>
        </p:nvSpPr>
        <p:spPr>
          <a:xfrm>
            <a:off x="384048" y="1124712"/>
            <a:ext cx="11018520" cy="0"/>
          </a:xfrm>
          <a:prstGeom prst="line">
            <a:avLst/>
          </a:prstGeom>
          <a:noFill/>
          <a:ln w="12700">
            <a:solidFill>
              <a:srgbClr val="D7E6F2"/>
            </a:solidFill>
            <a:prstDash val="solid"/>
          </a:ln>
        </p:spPr>
      </p:sp>
      <p:sp>
        <p:nvSpPr>
          <p:cNvPr id="6" name="Shape 4"/>
          <p:cNvSpPr/>
          <p:nvPr/>
        </p:nvSpPr>
        <p:spPr>
          <a:xfrm>
            <a:off x="384048" y="6446520"/>
            <a:ext cx="11018520" cy="0"/>
          </a:xfrm>
          <a:prstGeom prst="line">
            <a:avLst/>
          </a:prstGeom>
          <a:noFill/>
          <a:ln w="7620">
            <a:solidFill>
              <a:srgbClr val="D7E6F2"/>
            </a:solidFill>
            <a:prstDash val="solid"/>
          </a:ln>
        </p:spPr>
      </p:sp>
      <p:sp>
        <p:nvSpPr>
          <p:cNvPr id="7" name="Text 5"/>
          <p:cNvSpPr/>
          <p:nvPr/>
        </p:nvSpPr>
        <p:spPr>
          <a:xfrm>
            <a:off x="384048" y="6510528"/>
            <a:ext cx="9875520" cy="164592"/>
          </a:xfrm>
          <a:prstGeom prst="rect">
            <a:avLst/>
          </a:prstGeom>
          <a:noFill/>
          <a:ln/>
        </p:spPr>
        <p:txBody>
          <a:bodyPr wrap="square" lIns="0" tIns="0" rIns="0" bIns="0" rtlCol="0" anchor="ctr"/>
          <a:lstStyle/>
          <a:p>
            <a:pPr indent="0" marL="0">
              <a:buNone/>
            </a:pPr>
            <a:r>
              <a:rPr lang="en-US" sz="650" dirty="0">
                <a:solidFill>
                  <a:srgbClr val="617184"/>
                </a:solidFill>
              </a:rPr>
              <a:t>Session deck | APIs, MCP, and A2A</a:t>
            </a:r>
            <a:endParaRPr lang="en-US" sz="650" dirty="0"/>
          </a:p>
        </p:txBody>
      </p:sp>
      <p:sp>
        <p:nvSpPr>
          <p:cNvPr id="8" name="Text 6"/>
          <p:cNvSpPr/>
          <p:nvPr/>
        </p:nvSpPr>
        <p:spPr>
          <a:xfrm>
            <a:off x="10972800" y="6473952"/>
            <a:ext cx="777240" cy="201168"/>
          </a:xfrm>
          <a:prstGeom prst="rect">
            <a:avLst/>
          </a:prstGeom>
          <a:noFill/>
          <a:ln/>
        </p:spPr>
        <p:txBody>
          <a:bodyPr wrap="square" lIns="0" tIns="0" rIns="0" bIns="0" rtlCol="0" anchor="ctr"/>
          <a:lstStyle/>
          <a:p>
            <a:pPr algn="r" indent="0" marL="0">
              <a:buNone/>
            </a:pPr>
            <a:r>
              <a:rPr lang="en-US" sz="800" dirty="0">
                <a:solidFill>
                  <a:srgbClr val="617184"/>
                </a:solidFill>
              </a:rPr>
              <a:t>52</a:t>
            </a:r>
            <a:endParaRPr lang="en-US" sz="800" dirty="0"/>
          </a:p>
        </p:txBody>
      </p:sp>
      <p:sp>
        <p:nvSpPr>
          <p:cNvPr id="9" name="Shape 7"/>
          <p:cNvSpPr/>
          <p:nvPr/>
        </p:nvSpPr>
        <p:spPr>
          <a:xfrm>
            <a:off x="566928" y="1298448"/>
            <a:ext cx="10241280" cy="429768"/>
          </a:xfrm>
          <a:prstGeom prst="rect">
            <a:avLst/>
          </a:prstGeom>
          <a:solidFill>
            <a:srgbClr val="123452"/>
          </a:solidFill>
          <a:ln w="12700">
            <a:solidFill>
              <a:srgbClr val="123452"/>
            </a:solidFill>
            <a:prstDash val="solid"/>
          </a:ln>
        </p:spPr>
      </p:sp>
      <p:sp>
        <p:nvSpPr>
          <p:cNvPr id="10" name="Text 8"/>
          <p:cNvSpPr/>
          <p:nvPr/>
        </p:nvSpPr>
        <p:spPr>
          <a:xfrm>
            <a:off x="612648" y="1399032"/>
            <a:ext cx="2240280" cy="320040"/>
          </a:xfrm>
          <a:prstGeom prst="rect">
            <a:avLst/>
          </a:prstGeom>
          <a:noFill/>
          <a:ln/>
        </p:spPr>
        <p:txBody>
          <a:bodyPr wrap="square" lIns="0" tIns="0" rIns="0" bIns="0" rtlCol="0" anchor="ctr">
            <a:normAutofit/>
          </a:bodyPr>
          <a:lstStyle/>
          <a:p>
            <a:pPr algn="l" indent="0" marL="0">
              <a:buNone/>
            </a:pPr>
            <a:r>
              <a:rPr lang="en-US" sz="850" b="1" dirty="0">
                <a:solidFill>
                  <a:srgbClr val="FFFFFF"/>
                </a:solidFill>
              </a:rPr>
              <a:t>Topic</a:t>
            </a:r>
            <a:endParaRPr lang="en-US" sz="850" dirty="0"/>
          </a:p>
        </p:txBody>
      </p:sp>
      <p:sp>
        <p:nvSpPr>
          <p:cNvPr id="11" name="Text 9"/>
          <p:cNvSpPr/>
          <p:nvPr/>
        </p:nvSpPr>
        <p:spPr>
          <a:xfrm>
            <a:off x="2944368" y="1399032"/>
            <a:ext cx="7818120" cy="32004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rPr>
              <a:t>Primary sources</a:t>
            </a:r>
            <a:endParaRPr lang="en-US" sz="850" dirty="0"/>
          </a:p>
        </p:txBody>
      </p:sp>
      <p:sp>
        <p:nvSpPr>
          <p:cNvPr id="12" name="Shape 10"/>
          <p:cNvSpPr/>
          <p:nvPr/>
        </p:nvSpPr>
        <p:spPr>
          <a:xfrm>
            <a:off x="2898648" y="1298448"/>
            <a:ext cx="0" cy="3867912"/>
          </a:xfrm>
          <a:prstGeom prst="line">
            <a:avLst/>
          </a:prstGeom>
          <a:noFill/>
          <a:ln w="6350">
            <a:solidFill>
              <a:srgbClr val="FFFFFF">
                <a:alpha val="60000"/>
              </a:srgbClr>
            </a:solidFill>
            <a:prstDash val="solid"/>
          </a:ln>
        </p:spPr>
      </p:sp>
      <p:sp>
        <p:nvSpPr>
          <p:cNvPr id="13" name="Shape 11"/>
          <p:cNvSpPr/>
          <p:nvPr/>
        </p:nvSpPr>
        <p:spPr>
          <a:xfrm>
            <a:off x="566928" y="1728216"/>
            <a:ext cx="10241280" cy="429768"/>
          </a:xfrm>
          <a:prstGeom prst="rect">
            <a:avLst/>
          </a:prstGeom>
          <a:solidFill>
            <a:srgbClr val="FFFFFF"/>
          </a:solidFill>
          <a:ln w="6350">
            <a:solidFill>
              <a:srgbClr val="D7E6F2"/>
            </a:solidFill>
            <a:prstDash val="solid"/>
          </a:ln>
        </p:spPr>
      </p:sp>
      <p:sp>
        <p:nvSpPr>
          <p:cNvPr id="14" name="Text 12"/>
          <p:cNvSpPr/>
          <p:nvPr/>
        </p:nvSpPr>
        <p:spPr>
          <a:xfrm>
            <a:off x="621792" y="1801368"/>
            <a:ext cx="2221992" cy="320040"/>
          </a:xfrm>
          <a:prstGeom prst="rect">
            <a:avLst/>
          </a:prstGeom>
          <a:noFill/>
          <a:ln/>
        </p:spPr>
        <p:txBody>
          <a:bodyPr wrap="square" lIns="0" tIns="0" rIns="0" bIns="0" rtlCol="0" anchor="ctr">
            <a:normAutofit/>
          </a:bodyPr>
          <a:lstStyle/>
          <a:p>
            <a:pPr algn="l" indent="0" marL="0">
              <a:buNone/>
            </a:pPr>
            <a:r>
              <a:rPr lang="en-US" sz="810" b="1" dirty="0">
                <a:solidFill>
                  <a:srgbClr val="123452"/>
                </a:solidFill>
              </a:rPr>
              <a:t>MCP</a:t>
            </a:r>
            <a:endParaRPr lang="en-US" sz="810" dirty="0"/>
          </a:p>
        </p:txBody>
      </p:sp>
      <p:sp>
        <p:nvSpPr>
          <p:cNvPr id="15" name="Text 13"/>
          <p:cNvSpPr/>
          <p:nvPr/>
        </p:nvSpPr>
        <p:spPr>
          <a:xfrm>
            <a:off x="2953512" y="1801368"/>
            <a:ext cx="7799832" cy="320040"/>
          </a:xfrm>
          <a:prstGeom prst="rect">
            <a:avLst/>
          </a:prstGeom>
          <a:noFill/>
          <a:ln/>
        </p:spPr>
        <p:txBody>
          <a:bodyPr wrap="square" lIns="0" tIns="0" rIns="0" bIns="0" rtlCol="0" anchor="ctr">
            <a:normAutofit/>
          </a:bodyPr>
          <a:lstStyle/>
          <a:p>
            <a:pPr algn="ctr" indent="0" marL="0">
              <a:buNone/>
            </a:pPr>
            <a:r>
              <a:rPr lang="en-US" sz="810" dirty="0">
                <a:solidFill>
                  <a:srgbClr val="1F2A37"/>
                </a:solidFill>
              </a:rPr>
              <a:t>Model Context Protocol official specification: hosts, clients, servers; tools, resources, prompts; security principles</a:t>
            </a:r>
            <a:endParaRPr lang="en-US" sz="810" dirty="0"/>
          </a:p>
        </p:txBody>
      </p:sp>
      <p:sp>
        <p:nvSpPr>
          <p:cNvPr id="16" name="Shape 14"/>
          <p:cNvSpPr/>
          <p:nvPr/>
        </p:nvSpPr>
        <p:spPr>
          <a:xfrm>
            <a:off x="566928" y="2157984"/>
            <a:ext cx="10241280" cy="429768"/>
          </a:xfrm>
          <a:prstGeom prst="rect">
            <a:avLst/>
          </a:prstGeom>
          <a:solidFill>
            <a:srgbClr val="F8FAFC"/>
          </a:solidFill>
          <a:ln w="6350">
            <a:solidFill>
              <a:srgbClr val="D7E6F2"/>
            </a:solidFill>
            <a:prstDash val="solid"/>
          </a:ln>
        </p:spPr>
      </p:sp>
      <p:sp>
        <p:nvSpPr>
          <p:cNvPr id="17" name="Text 15"/>
          <p:cNvSpPr/>
          <p:nvPr/>
        </p:nvSpPr>
        <p:spPr>
          <a:xfrm>
            <a:off x="621792" y="2231136"/>
            <a:ext cx="2221992" cy="320040"/>
          </a:xfrm>
          <a:prstGeom prst="rect">
            <a:avLst/>
          </a:prstGeom>
          <a:noFill/>
          <a:ln/>
        </p:spPr>
        <p:txBody>
          <a:bodyPr wrap="square" lIns="0" tIns="0" rIns="0" bIns="0" rtlCol="0" anchor="ctr">
            <a:normAutofit/>
          </a:bodyPr>
          <a:lstStyle/>
          <a:p>
            <a:pPr algn="l" indent="0" marL="0">
              <a:buNone/>
            </a:pPr>
            <a:r>
              <a:rPr lang="en-US" sz="810" b="1" dirty="0">
                <a:solidFill>
                  <a:srgbClr val="123452"/>
                </a:solidFill>
              </a:rPr>
              <a:t>A2A</a:t>
            </a:r>
            <a:endParaRPr lang="en-US" sz="810" dirty="0"/>
          </a:p>
        </p:txBody>
      </p:sp>
      <p:sp>
        <p:nvSpPr>
          <p:cNvPr id="18" name="Text 16"/>
          <p:cNvSpPr/>
          <p:nvPr/>
        </p:nvSpPr>
        <p:spPr>
          <a:xfrm>
            <a:off x="2953512" y="2231136"/>
            <a:ext cx="7799832" cy="320040"/>
          </a:xfrm>
          <a:prstGeom prst="rect">
            <a:avLst/>
          </a:prstGeom>
          <a:noFill/>
          <a:ln/>
        </p:spPr>
        <p:txBody>
          <a:bodyPr wrap="square" lIns="0" tIns="0" rIns="0" bIns="0" rtlCol="0" anchor="ctr">
            <a:normAutofit/>
          </a:bodyPr>
          <a:lstStyle/>
          <a:p>
            <a:pPr algn="ctr" indent="0" marL="0">
              <a:buNone/>
            </a:pPr>
            <a:r>
              <a:rPr lang="en-US" sz="810" dirty="0">
                <a:solidFill>
                  <a:srgbClr val="1F2A37"/>
                </a:solidFill>
              </a:rPr>
              <a:t>A2A official docs and Google launch: interoperable peer agents, Agent Cards, task lifecycle, artifacts</a:t>
            </a:r>
            <a:endParaRPr lang="en-US" sz="810" dirty="0"/>
          </a:p>
        </p:txBody>
      </p:sp>
      <p:sp>
        <p:nvSpPr>
          <p:cNvPr id="19" name="Shape 17"/>
          <p:cNvSpPr/>
          <p:nvPr/>
        </p:nvSpPr>
        <p:spPr>
          <a:xfrm>
            <a:off x="566928" y="2587752"/>
            <a:ext cx="10241280" cy="429768"/>
          </a:xfrm>
          <a:prstGeom prst="rect">
            <a:avLst/>
          </a:prstGeom>
          <a:solidFill>
            <a:srgbClr val="FFFFFF"/>
          </a:solidFill>
          <a:ln w="6350">
            <a:solidFill>
              <a:srgbClr val="D7E6F2"/>
            </a:solidFill>
            <a:prstDash val="solid"/>
          </a:ln>
        </p:spPr>
      </p:sp>
      <p:sp>
        <p:nvSpPr>
          <p:cNvPr id="20" name="Text 18"/>
          <p:cNvSpPr/>
          <p:nvPr/>
        </p:nvSpPr>
        <p:spPr>
          <a:xfrm>
            <a:off x="621792" y="2660904"/>
            <a:ext cx="2221992" cy="320040"/>
          </a:xfrm>
          <a:prstGeom prst="rect">
            <a:avLst/>
          </a:prstGeom>
          <a:noFill/>
          <a:ln/>
        </p:spPr>
        <p:txBody>
          <a:bodyPr wrap="square" lIns="0" tIns="0" rIns="0" bIns="0" rtlCol="0" anchor="ctr">
            <a:normAutofit/>
          </a:bodyPr>
          <a:lstStyle/>
          <a:p>
            <a:pPr algn="l" indent="0" marL="0">
              <a:buNone/>
            </a:pPr>
            <a:r>
              <a:rPr lang="en-US" sz="810" b="1" dirty="0">
                <a:solidFill>
                  <a:srgbClr val="123452"/>
                </a:solidFill>
              </a:rPr>
              <a:t>APIs</a:t>
            </a:r>
            <a:endParaRPr lang="en-US" sz="810" dirty="0"/>
          </a:p>
        </p:txBody>
      </p:sp>
      <p:sp>
        <p:nvSpPr>
          <p:cNvPr id="21" name="Text 19"/>
          <p:cNvSpPr/>
          <p:nvPr/>
        </p:nvSpPr>
        <p:spPr>
          <a:xfrm>
            <a:off x="2953512" y="2660904"/>
            <a:ext cx="7799832" cy="320040"/>
          </a:xfrm>
          <a:prstGeom prst="rect">
            <a:avLst/>
          </a:prstGeom>
          <a:noFill/>
          <a:ln/>
        </p:spPr>
        <p:txBody>
          <a:bodyPr wrap="square" lIns="0" tIns="0" rIns="0" bIns="0" rtlCol="0" anchor="ctr">
            <a:normAutofit/>
          </a:bodyPr>
          <a:lstStyle/>
          <a:p>
            <a:pPr algn="ctr" indent="0" marL="0">
              <a:buNone/>
            </a:pPr>
            <a:r>
              <a:rPr lang="en-US" sz="810" dirty="0">
                <a:solidFill>
                  <a:srgbClr val="1F2A37"/>
                </a:solidFill>
              </a:rPr>
              <a:t>Lakshmanan article; Microsoft REST API design; GraphQL official docs; gRPC official docs</a:t>
            </a:r>
            <a:endParaRPr lang="en-US" sz="810" dirty="0"/>
          </a:p>
        </p:txBody>
      </p:sp>
      <p:sp>
        <p:nvSpPr>
          <p:cNvPr id="22" name="Shape 20"/>
          <p:cNvSpPr/>
          <p:nvPr/>
        </p:nvSpPr>
        <p:spPr>
          <a:xfrm>
            <a:off x="566928" y="3017520"/>
            <a:ext cx="10241280" cy="429768"/>
          </a:xfrm>
          <a:prstGeom prst="rect">
            <a:avLst/>
          </a:prstGeom>
          <a:solidFill>
            <a:srgbClr val="F8FAFC"/>
          </a:solidFill>
          <a:ln w="6350">
            <a:solidFill>
              <a:srgbClr val="D7E6F2"/>
            </a:solidFill>
            <a:prstDash val="solid"/>
          </a:ln>
        </p:spPr>
      </p:sp>
      <p:sp>
        <p:nvSpPr>
          <p:cNvPr id="23" name="Text 21"/>
          <p:cNvSpPr/>
          <p:nvPr/>
        </p:nvSpPr>
        <p:spPr>
          <a:xfrm>
            <a:off x="621792" y="3090672"/>
            <a:ext cx="2221992" cy="320040"/>
          </a:xfrm>
          <a:prstGeom prst="rect">
            <a:avLst/>
          </a:prstGeom>
          <a:noFill/>
          <a:ln/>
        </p:spPr>
        <p:txBody>
          <a:bodyPr wrap="square" lIns="0" tIns="0" rIns="0" bIns="0" rtlCol="0" anchor="ctr">
            <a:normAutofit/>
          </a:bodyPr>
          <a:lstStyle/>
          <a:p>
            <a:pPr algn="l" indent="0" marL="0">
              <a:buNone/>
            </a:pPr>
            <a:r>
              <a:rPr lang="en-US" sz="810" b="1" dirty="0">
                <a:solidFill>
                  <a:srgbClr val="123452"/>
                </a:solidFill>
              </a:rPr>
              <a:t>GraphQL</a:t>
            </a:r>
            <a:endParaRPr lang="en-US" sz="810" dirty="0"/>
          </a:p>
        </p:txBody>
      </p:sp>
      <p:sp>
        <p:nvSpPr>
          <p:cNvPr id="24" name="Text 22"/>
          <p:cNvSpPr/>
          <p:nvPr/>
        </p:nvSpPr>
        <p:spPr>
          <a:xfrm>
            <a:off x="2953512" y="3090672"/>
            <a:ext cx="7799832" cy="320040"/>
          </a:xfrm>
          <a:prstGeom prst="rect">
            <a:avLst/>
          </a:prstGeom>
          <a:noFill/>
          <a:ln/>
        </p:spPr>
        <p:txBody>
          <a:bodyPr wrap="square" lIns="0" tIns="0" rIns="0" bIns="0" rtlCol="0" anchor="ctr">
            <a:normAutofit/>
          </a:bodyPr>
          <a:lstStyle/>
          <a:p>
            <a:pPr algn="ctr" indent="0" marL="0">
              <a:buNone/>
            </a:pPr>
            <a:r>
              <a:rPr lang="en-US" sz="810" dirty="0">
                <a:solidFill>
                  <a:srgbClr val="1F2A37"/>
                </a:solidFill>
              </a:rPr>
              <a:t>GraphQL Foundation official docs and overview</a:t>
            </a:r>
            <a:endParaRPr lang="en-US" sz="810" dirty="0"/>
          </a:p>
        </p:txBody>
      </p:sp>
      <p:sp>
        <p:nvSpPr>
          <p:cNvPr id="25" name="Shape 23"/>
          <p:cNvSpPr/>
          <p:nvPr/>
        </p:nvSpPr>
        <p:spPr>
          <a:xfrm>
            <a:off x="566928" y="3447288"/>
            <a:ext cx="10241280" cy="429768"/>
          </a:xfrm>
          <a:prstGeom prst="rect">
            <a:avLst/>
          </a:prstGeom>
          <a:solidFill>
            <a:srgbClr val="FFFFFF"/>
          </a:solidFill>
          <a:ln w="6350">
            <a:solidFill>
              <a:srgbClr val="D7E6F2"/>
            </a:solidFill>
            <a:prstDash val="solid"/>
          </a:ln>
        </p:spPr>
      </p:sp>
      <p:sp>
        <p:nvSpPr>
          <p:cNvPr id="26" name="Text 24"/>
          <p:cNvSpPr/>
          <p:nvPr/>
        </p:nvSpPr>
        <p:spPr>
          <a:xfrm>
            <a:off x="621792" y="3520440"/>
            <a:ext cx="2221992" cy="320040"/>
          </a:xfrm>
          <a:prstGeom prst="rect">
            <a:avLst/>
          </a:prstGeom>
          <a:noFill/>
          <a:ln/>
        </p:spPr>
        <p:txBody>
          <a:bodyPr wrap="square" lIns="0" tIns="0" rIns="0" bIns="0" rtlCol="0" anchor="ctr">
            <a:normAutofit/>
          </a:bodyPr>
          <a:lstStyle/>
          <a:p>
            <a:pPr algn="l" indent="0" marL="0">
              <a:buNone/>
            </a:pPr>
            <a:r>
              <a:rPr lang="en-US" sz="810" b="1" dirty="0">
                <a:solidFill>
                  <a:srgbClr val="123452"/>
                </a:solidFill>
              </a:rPr>
              <a:t>gRPC</a:t>
            </a:r>
            <a:endParaRPr lang="en-US" sz="810" dirty="0"/>
          </a:p>
        </p:txBody>
      </p:sp>
      <p:sp>
        <p:nvSpPr>
          <p:cNvPr id="27" name="Text 25"/>
          <p:cNvSpPr/>
          <p:nvPr/>
        </p:nvSpPr>
        <p:spPr>
          <a:xfrm>
            <a:off x="2953512" y="3520440"/>
            <a:ext cx="7799832" cy="320040"/>
          </a:xfrm>
          <a:prstGeom prst="rect">
            <a:avLst/>
          </a:prstGeom>
          <a:noFill/>
          <a:ln/>
        </p:spPr>
        <p:txBody>
          <a:bodyPr wrap="square" lIns="0" tIns="0" rIns="0" bIns="0" rtlCol="0" anchor="ctr">
            <a:normAutofit/>
          </a:bodyPr>
          <a:lstStyle/>
          <a:p>
            <a:pPr algn="ctr" indent="0" marL="0">
              <a:buNone/>
            </a:pPr>
            <a:r>
              <a:rPr lang="en-US" sz="810" dirty="0">
                <a:solidFill>
                  <a:srgbClr val="1F2A37"/>
                </a:solidFill>
              </a:rPr>
              <a:t>gRPC official introduction and core concepts documentation</a:t>
            </a:r>
            <a:endParaRPr lang="en-US" sz="810" dirty="0"/>
          </a:p>
        </p:txBody>
      </p:sp>
      <p:sp>
        <p:nvSpPr>
          <p:cNvPr id="28" name="Shape 26"/>
          <p:cNvSpPr/>
          <p:nvPr/>
        </p:nvSpPr>
        <p:spPr>
          <a:xfrm>
            <a:off x="566928" y="3877056"/>
            <a:ext cx="10241280" cy="429768"/>
          </a:xfrm>
          <a:prstGeom prst="rect">
            <a:avLst/>
          </a:prstGeom>
          <a:solidFill>
            <a:srgbClr val="F8FAFC"/>
          </a:solidFill>
          <a:ln w="6350">
            <a:solidFill>
              <a:srgbClr val="D7E6F2"/>
            </a:solidFill>
            <a:prstDash val="solid"/>
          </a:ln>
        </p:spPr>
      </p:sp>
      <p:sp>
        <p:nvSpPr>
          <p:cNvPr id="29" name="Text 27"/>
          <p:cNvSpPr/>
          <p:nvPr/>
        </p:nvSpPr>
        <p:spPr>
          <a:xfrm>
            <a:off x="621792" y="3950208"/>
            <a:ext cx="2221992" cy="320040"/>
          </a:xfrm>
          <a:prstGeom prst="rect">
            <a:avLst/>
          </a:prstGeom>
          <a:noFill/>
          <a:ln/>
        </p:spPr>
        <p:txBody>
          <a:bodyPr wrap="square" lIns="0" tIns="0" rIns="0" bIns="0" rtlCol="0" anchor="ctr">
            <a:normAutofit/>
          </a:bodyPr>
          <a:lstStyle/>
          <a:p>
            <a:pPr algn="l" indent="0" marL="0">
              <a:buNone/>
            </a:pPr>
            <a:r>
              <a:rPr lang="en-US" sz="810" b="1" dirty="0">
                <a:solidFill>
                  <a:srgbClr val="123452"/>
                </a:solidFill>
              </a:rPr>
              <a:t>Retail</a:t>
            </a:r>
            <a:endParaRPr lang="en-US" sz="810" dirty="0"/>
          </a:p>
        </p:txBody>
      </p:sp>
      <p:sp>
        <p:nvSpPr>
          <p:cNvPr id="30" name="Text 28"/>
          <p:cNvSpPr/>
          <p:nvPr/>
        </p:nvSpPr>
        <p:spPr>
          <a:xfrm>
            <a:off x="2953512" y="3950208"/>
            <a:ext cx="7799832" cy="320040"/>
          </a:xfrm>
          <a:prstGeom prst="rect">
            <a:avLst/>
          </a:prstGeom>
          <a:noFill/>
          <a:ln/>
        </p:spPr>
        <p:txBody>
          <a:bodyPr wrap="square" lIns="0" tIns="0" rIns="0" bIns="0" rtlCol="0" anchor="ctr">
            <a:normAutofit/>
          </a:bodyPr>
          <a:lstStyle/>
          <a:p>
            <a:pPr algn="ctr" indent="0" marL="0">
              <a:buNone/>
            </a:pPr>
            <a:r>
              <a:rPr lang="en-US" sz="810" dirty="0">
                <a:solidFill>
                  <a:srgbClr val="1F2A37"/>
                </a:solidFill>
              </a:rPr>
              <a:t>Google Universal Commerce Protocol; Google UCP under-the-hood; Agent Payments Protocol docs</a:t>
            </a:r>
            <a:endParaRPr lang="en-US" sz="810" dirty="0"/>
          </a:p>
        </p:txBody>
      </p:sp>
      <p:sp>
        <p:nvSpPr>
          <p:cNvPr id="31" name="Shape 29"/>
          <p:cNvSpPr/>
          <p:nvPr/>
        </p:nvSpPr>
        <p:spPr>
          <a:xfrm>
            <a:off x="566928" y="4306824"/>
            <a:ext cx="10241280" cy="429768"/>
          </a:xfrm>
          <a:prstGeom prst="rect">
            <a:avLst/>
          </a:prstGeom>
          <a:solidFill>
            <a:srgbClr val="FFFFFF"/>
          </a:solidFill>
          <a:ln w="6350">
            <a:solidFill>
              <a:srgbClr val="D7E6F2"/>
            </a:solidFill>
            <a:prstDash val="solid"/>
          </a:ln>
        </p:spPr>
      </p:sp>
      <p:sp>
        <p:nvSpPr>
          <p:cNvPr id="32" name="Text 30"/>
          <p:cNvSpPr/>
          <p:nvPr/>
        </p:nvSpPr>
        <p:spPr>
          <a:xfrm>
            <a:off x="621792" y="4379976"/>
            <a:ext cx="2221992" cy="320040"/>
          </a:xfrm>
          <a:prstGeom prst="rect">
            <a:avLst/>
          </a:prstGeom>
          <a:noFill/>
          <a:ln/>
        </p:spPr>
        <p:txBody>
          <a:bodyPr wrap="square" lIns="0" tIns="0" rIns="0" bIns="0" rtlCol="0" anchor="ctr">
            <a:normAutofit/>
          </a:bodyPr>
          <a:lstStyle/>
          <a:p>
            <a:pPr algn="l" indent="0" marL="0">
              <a:buNone/>
            </a:pPr>
            <a:r>
              <a:rPr lang="en-US" sz="810" b="1" dirty="0">
                <a:solidFill>
                  <a:srgbClr val="123452"/>
                </a:solidFill>
              </a:rPr>
              <a:t>Legal / risk</a:t>
            </a:r>
            <a:endParaRPr lang="en-US" sz="810" dirty="0"/>
          </a:p>
        </p:txBody>
      </p:sp>
      <p:sp>
        <p:nvSpPr>
          <p:cNvPr id="33" name="Text 31"/>
          <p:cNvSpPr/>
          <p:nvPr/>
        </p:nvSpPr>
        <p:spPr>
          <a:xfrm>
            <a:off x="2953512" y="4379976"/>
            <a:ext cx="7799832" cy="320040"/>
          </a:xfrm>
          <a:prstGeom prst="rect">
            <a:avLst/>
          </a:prstGeom>
          <a:noFill/>
          <a:ln/>
        </p:spPr>
        <p:txBody>
          <a:bodyPr wrap="square" lIns="0" tIns="0" rIns="0" bIns="0" rtlCol="0" anchor="ctr">
            <a:normAutofit/>
          </a:bodyPr>
          <a:lstStyle/>
          <a:p>
            <a:pPr algn="ctr" indent="0" marL="0">
              <a:buNone/>
            </a:pPr>
            <a:r>
              <a:rPr lang="en-US" sz="810" dirty="0">
                <a:solidFill>
                  <a:srgbClr val="1F2A37"/>
                </a:solidFill>
              </a:rPr>
              <a:t>ICO Tech Futures report on agentic AI; Reuters coverage of agentic shopping dispute; A2A samples untrusted-agent warning</a:t>
            </a:r>
            <a:endParaRPr lang="en-US" sz="810" dirty="0"/>
          </a:p>
        </p:txBody>
      </p:sp>
      <p:sp>
        <p:nvSpPr>
          <p:cNvPr id="34" name="Shape 32"/>
          <p:cNvSpPr/>
          <p:nvPr/>
        </p:nvSpPr>
        <p:spPr>
          <a:xfrm>
            <a:off x="566928" y="4736592"/>
            <a:ext cx="10241280" cy="429768"/>
          </a:xfrm>
          <a:prstGeom prst="rect">
            <a:avLst/>
          </a:prstGeom>
          <a:solidFill>
            <a:srgbClr val="F8FAFC"/>
          </a:solidFill>
          <a:ln w="6350">
            <a:solidFill>
              <a:srgbClr val="D7E6F2"/>
            </a:solidFill>
            <a:prstDash val="solid"/>
          </a:ln>
        </p:spPr>
      </p:sp>
      <p:sp>
        <p:nvSpPr>
          <p:cNvPr id="35" name="Text 33"/>
          <p:cNvSpPr/>
          <p:nvPr/>
        </p:nvSpPr>
        <p:spPr>
          <a:xfrm>
            <a:off x="621792" y="4809744"/>
            <a:ext cx="2221992" cy="320040"/>
          </a:xfrm>
          <a:prstGeom prst="rect">
            <a:avLst/>
          </a:prstGeom>
          <a:noFill/>
          <a:ln/>
        </p:spPr>
        <p:txBody>
          <a:bodyPr wrap="square" lIns="0" tIns="0" rIns="0" bIns="0" rtlCol="0" anchor="ctr">
            <a:normAutofit/>
          </a:bodyPr>
          <a:lstStyle/>
          <a:p>
            <a:pPr algn="l" indent="0" marL="0">
              <a:buNone/>
            </a:pPr>
            <a:r>
              <a:rPr lang="en-US" sz="810" b="1" dirty="0">
                <a:solidFill>
                  <a:srgbClr val="123452"/>
                </a:solidFill>
              </a:rPr>
              <a:t>Security</a:t>
            </a:r>
            <a:endParaRPr lang="en-US" sz="810" dirty="0"/>
          </a:p>
        </p:txBody>
      </p:sp>
      <p:sp>
        <p:nvSpPr>
          <p:cNvPr id="36" name="Text 34"/>
          <p:cNvSpPr/>
          <p:nvPr/>
        </p:nvSpPr>
        <p:spPr>
          <a:xfrm>
            <a:off x="2953512" y="4809744"/>
            <a:ext cx="7799832" cy="320040"/>
          </a:xfrm>
          <a:prstGeom prst="rect">
            <a:avLst/>
          </a:prstGeom>
          <a:noFill/>
          <a:ln/>
        </p:spPr>
        <p:txBody>
          <a:bodyPr wrap="square" lIns="0" tIns="0" rIns="0" bIns="0" rtlCol="0" anchor="ctr">
            <a:normAutofit/>
          </a:bodyPr>
          <a:lstStyle/>
          <a:p>
            <a:pPr algn="ctr" indent="0" marL="0">
              <a:buNone/>
            </a:pPr>
            <a:r>
              <a:rPr lang="en-US" sz="810" dirty="0">
                <a:solidFill>
                  <a:srgbClr val="1F2A37"/>
                </a:solidFill>
              </a:rPr>
              <a:t>OWASP LLM Top 10; OWASP MCP Top 10; MCP/A2A security guidance; least-privilege tool design</a:t>
            </a:r>
            <a:endParaRPr lang="en-US" sz="810" dirty="0"/>
          </a:p>
        </p:txBody>
      </p:sp>
      <p:sp>
        <p:nvSpPr>
          <p:cNvPr id="37" name="Text 35"/>
          <p:cNvSpPr/>
          <p:nvPr/>
        </p:nvSpPr>
        <p:spPr>
          <a:xfrm>
            <a:off x="658368" y="5650992"/>
            <a:ext cx="10241280" cy="310896"/>
          </a:xfrm>
          <a:prstGeom prst="rect">
            <a:avLst/>
          </a:prstGeom>
          <a:noFill/>
          <a:ln/>
        </p:spPr>
        <p:txBody>
          <a:bodyPr wrap="square" lIns="0" tIns="0" rIns="0" bIns="0" rtlCol="0" anchor="ctr">
            <a:normAutofit/>
          </a:bodyPr>
          <a:lstStyle/>
          <a:p>
            <a:pPr indent="0" marL="0">
              <a:buNone/>
            </a:pPr>
            <a:r>
              <a:rPr lang="en-US" sz="1120" dirty="0">
                <a:solidFill>
                  <a:srgbClr val="617184"/>
                </a:solidFill>
              </a:rPr>
              <a:t>Reference URLs are embedded in speaker notes. The deck intentionally prioritizes official specs and security guidance; commentary sources are used to sharpen the decision posture.</a:t>
            </a:r>
            <a:endParaRPr lang="en-US" sz="11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between APIs, MCP, and Agent-to-Agent architectures</dc:title>
  <dc:subject>Choosing between APIs, MCP, and Agent-to-Agent architectures</dc:subject>
  <dc:creator>OpenAI</dc:creator>
  <cp:lastModifiedBy>OpenAI</cp:lastModifiedBy>
  <cp:revision>1</cp:revision>
  <dcterms:created xsi:type="dcterms:W3CDTF">2026-04-25T16:09:20Z</dcterms:created>
  <dcterms:modified xsi:type="dcterms:W3CDTF">2026-04-25T16:09:20Z</dcterms:modified>
</cp:coreProperties>
</file>